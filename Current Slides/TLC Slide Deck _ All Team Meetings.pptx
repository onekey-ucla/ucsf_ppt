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588df9ba0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8588df9ba0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588df9ba0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588df9ba0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588df9ba0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588df9ba0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588df9ba0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588df9ba0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88df9ba0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588df9ba0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588df9ba0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588df9ba0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588df9ba0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588df9ba0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588df9ba0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588df9ba0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88df9ba0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588df9ba0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)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Color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1)">
  <p:cSld name="SECTION_TITLE_AND_DESCRIPTION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Black)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Full Background)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)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2)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[No TLC Logo]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eils.ucla.edu/" TargetMode="External"/><Relationship Id="rId4" Type="http://schemas.openxmlformats.org/officeDocument/2006/relationships/hyperlink" Target="https://humtech.ucla.edu/" TargetMode="External"/><Relationship Id="rId9" Type="http://schemas.openxmlformats.org/officeDocument/2006/relationships/hyperlink" Target="https://communityengagement.ucla.edu/" TargetMode="External"/><Relationship Id="rId5" Type="http://schemas.openxmlformats.org/officeDocument/2006/relationships/hyperlink" Target="https://computing.sscnet.ucla.edu/" TargetMode="External"/><Relationship Id="rId6" Type="http://schemas.openxmlformats.org/officeDocument/2006/relationships/hyperlink" Target="https://www.library.ucla.edu/" TargetMode="External"/><Relationship Id="rId7" Type="http://schemas.openxmlformats.org/officeDocument/2006/relationships/hyperlink" Target="https://sciences.ugresearch.ucla.edu/" TargetMode="External"/><Relationship Id="rId8" Type="http://schemas.openxmlformats.org/officeDocument/2006/relationships/hyperlink" Target="https://hass.ugresearch.ucla.edu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eaching.ucla.edu/" TargetMode="External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e.bruinlearn.ucla.edu/" TargetMode="External"/><Relationship Id="rId4" Type="http://schemas.openxmlformats.org/officeDocument/2006/relationships/hyperlink" Target="https://it.ucla.edu/" TargetMode="External"/><Relationship Id="rId9" Type="http://schemas.openxmlformats.org/officeDocument/2006/relationships/hyperlink" Target="https://it.ucla.edu/classroom-search" TargetMode="External"/><Relationship Id="rId5" Type="http://schemas.openxmlformats.org/officeDocument/2006/relationships/hyperlink" Target="mailto:help@it.ucla.edu" TargetMode="External"/><Relationship Id="rId6" Type="http://schemas.openxmlformats.org/officeDocument/2006/relationships/hyperlink" Target="mailto:bruinlearn-support@it.ucla.edu" TargetMode="External"/><Relationship Id="rId7" Type="http://schemas.openxmlformats.org/officeDocument/2006/relationships/hyperlink" Target="https://coe.bruinlearn.ucla.edu/training-office-hours" TargetMode="External"/><Relationship Id="rId8" Type="http://schemas.openxmlformats.org/officeDocument/2006/relationships/hyperlink" Target="https://it.ucla.edu/units/digital-space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</a:t>
            </a:r>
            <a:r>
              <a:rPr lang="en"/>
              <a:t>Month]</a:t>
            </a:r>
            <a:r>
              <a:rPr lang="en"/>
              <a:t> All - Team Meeting</a:t>
            </a:r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Month, Day, Year | 3 – 4:30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Agenda</a:t>
            </a:r>
            <a:endParaRPr b="1"/>
          </a:p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lang="en" sz="1200">
                <a:solidFill>
                  <a:schemeClr val="dk1"/>
                </a:solidFill>
              </a:rPr>
              <a:t>HR Updates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Welcome …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Interim positions for Sally’s Area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Search Updates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HR Hub Slack Channel: TLC HR team directly.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TLC HR Happenings Calendar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Wellness Wander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Fit Break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Gratitude Wall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lang="en" sz="1200">
                <a:solidFill>
                  <a:schemeClr val="dk1"/>
                </a:solidFill>
              </a:rPr>
              <a:t>Unit Strategic Plan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lang="en" sz="1200">
                <a:solidFill>
                  <a:schemeClr val="dk1"/>
                </a:solidFill>
              </a:rPr>
              <a:t>Website Updates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lang="en" sz="1200">
                <a:solidFill>
                  <a:schemeClr val="dk1"/>
                </a:solidFill>
              </a:rPr>
              <a:t>General Updates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Budget Process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Space Updates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Blue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○"/>
            </a:pPr>
            <a:r>
              <a:rPr lang="en" sz="1200">
                <a:solidFill>
                  <a:schemeClr val="dk1"/>
                </a:solidFill>
              </a:rPr>
              <a:t>SET/HET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 Updates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TLC Mission | Our Motivation &amp; Current Aims</a:t>
            </a:r>
            <a:endParaRPr b="1"/>
          </a:p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997450" y="1152475"/>
            <a:ext cx="483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57585B"/>
                </a:solidFill>
              </a:rPr>
              <a:t>The mission of the TLC is to bring together a campus wide community of educators, support their well-being, equip them with the instructional skills and pedagogical knowledge to elevate their teaching, and further inspire an enduring commitment to student success. The TLC approaches this work by:</a:t>
            </a:r>
            <a:endParaRPr sz="1150">
              <a:solidFill>
                <a:srgbClr val="57585B"/>
              </a:solidFill>
            </a:endParaRPr>
          </a:p>
          <a:p>
            <a:pPr indent="-187325" lvl="0" marL="114300" rtl="0" algn="l">
              <a:spcBef>
                <a:spcPts val="600"/>
              </a:spcBef>
              <a:spcAft>
                <a:spcPts val="0"/>
              </a:spcAft>
              <a:buClr>
                <a:srgbClr val="58595B"/>
              </a:buClr>
              <a:buSzPts val="1150"/>
              <a:buChar char="●"/>
            </a:pPr>
            <a:r>
              <a:rPr b="1" lang="en" sz="1150">
                <a:solidFill>
                  <a:srgbClr val="57585B"/>
                </a:solidFill>
              </a:rPr>
              <a:t>Engaging</a:t>
            </a:r>
            <a:r>
              <a:rPr lang="en" sz="1150">
                <a:solidFill>
                  <a:srgbClr val="57585B"/>
                </a:solidFill>
              </a:rPr>
              <a:t> practitioners in inclusive, effective, and reflective teaching practices</a:t>
            </a:r>
            <a:endParaRPr sz="1150">
              <a:solidFill>
                <a:srgbClr val="57585B"/>
              </a:solidFill>
            </a:endParaRPr>
          </a:p>
          <a:p>
            <a:pPr indent="-187325" lvl="0" marL="114300" rtl="0" algn="l">
              <a:spcBef>
                <a:spcPts val="600"/>
              </a:spcBef>
              <a:spcAft>
                <a:spcPts val="0"/>
              </a:spcAft>
              <a:buClr>
                <a:srgbClr val="58595B"/>
              </a:buClr>
              <a:buSzPts val="1150"/>
              <a:buChar char="●"/>
            </a:pPr>
            <a:r>
              <a:rPr b="1" lang="en" sz="1150">
                <a:solidFill>
                  <a:srgbClr val="57585B"/>
                </a:solidFill>
              </a:rPr>
              <a:t>Advancing</a:t>
            </a:r>
            <a:r>
              <a:rPr lang="en" sz="1150">
                <a:solidFill>
                  <a:srgbClr val="57585B"/>
                </a:solidFill>
              </a:rPr>
              <a:t> innovative and engaging instructional approaches across disciplines in coordination with campus partners </a:t>
            </a:r>
            <a:endParaRPr sz="1150">
              <a:solidFill>
                <a:srgbClr val="57585B"/>
              </a:solidFill>
            </a:endParaRPr>
          </a:p>
          <a:p>
            <a:pPr indent="-187325" lvl="0" marL="114300" rtl="0" algn="l">
              <a:spcBef>
                <a:spcPts val="600"/>
              </a:spcBef>
              <a:spcAft>
                <a:spcPts val="0"/>
              </a:spcAft>
              <a:buClr>
                <a:srgbClr val="58595B"/>
              </a:buClr>
              <a:buSzPts val="1150"/>
              <a:buChar char="●"/>
            </a:pPr>
            <a:r>
              <a:rPr b="1" lang="en" sz="1150">
                <a:solidFill>
                  <a:srgbClr val="57585B"/>
                </a:solidFill>
              </a:rPr>
              <a:t>Championing</a:t>
            </a:r>
            <a:r>
              <a:rPr lang="en" sz="1150">
                <a:solidFill>
                  <a:srgbClr val="57585B"/>
                </a:solidFill>
              </a:rPr>
              <a:t> technology-enhanced, student-centered, and accessible curricular design </a:t>
            </a:r>
            <a:endParaRPr sz="1150">
              <a:solidFill>
                <a:srgbClr val="57585B"/>
              </a:solidFill>
            </a:endParaRPr>
          </a:p>
          <a:p>
            <a:pPr indent="-187325" lvl="0" marL="114300" rtl="0" algn="l">
              <a:spcBef>
                <a:spcPts val="600"/>
              </a:spcBef>
              <a:spcAft>
                <a:spcPts val="0"/>
              </a:spcAft>
              <a:buClr>
                <a:srgbClr val="58595B"/>
              </a:buClr>
              <a:buSzPts val="1150"/>
              <a:buChar char="●"/>
            </a:pPr>
            <a:r>
              <a:rPr b="1" lang="en" sz="1150">
                <a:solidFill>
                  <a:srgbClr val="57585B"/>
                </a:solidFill>
              </a:rPr>
              <a:t>Leveraging</a:t>
            </a:r>
            <a:r>
              <a:rPr lang="en" sz="1150">
                <a:solidFill>
                  <a:srgbClr val="57585B"/>
                </a:solidFill>
              </a:rPr>
              <a:t> the science of learning and institutional data informed by the identities and lived experiences of UCLA students and instructors</a:t>
            </a:r>
            <a:endParaRPr sz="1150">
              <a:solidFill>
                <a:srgbClr val="57585B"/>
              </a:solidFill>
            </a:endParaRPr>
          </a:p>
          <a:p>
            <a:pPr indent="-187325" lvl="0" marL="114300" rtl="0" algn="l">
              <a:spcBef>
                <a:spcPts val="600"/>
              </a:spcBef>
              <a:spcAft>
                <a:spcPts val="600"/>
              </a:spcAft>
              <a:buClr>
                <a:srgbClr val="58595B"/>
              </a:buClr>
              <a:buSzPts val="1150"/>
              <a:buChar char="●"/>
            </a:pPr>
            <a:r>
              <a:rPr b="1" lang="en" sz="1150">
                <a:solidFill>
                  <a:srgbClr val="57585B"/>
                </a:solidFill>
              </a:rPr>
              <a:t>Promoting</a:t>
            </a:r>
            <a:r>
              <a:rPr lang="en" sz="1150">
                <a:solidFill>
                  <a:srgbClr val="57585B"/>
                </a:solidFill>
              </a:rPr>
              <a:t> collaborative, pioneering educational initiatives and transformative, multidisciplinary pedagogical research</a:t>
            </a:r>
            <a:endParaRPr/>
          </a:p>
        </p:txBody>
      </p:sp>
      <p:pic>
        <p:nvPicPr>
          <p:cNvPr descr="https://lh5.googleusercontent.com/_IjB6kWeKgQKcnLD43SIsE48H8bmdrI1iEQmAZ_7KceARiU90980GIGRYeHWFc3FzQYOzSXIhrV0usxxugIowJ5qQZ_EeP7aAOJzOx1EeU9nfXSv53w1XASxuL5EKg7Eymn-FARvWza0EfqbkOkxOHqvjw=s2048" id="71" name="Google Shape;71;p16"/>
          <p:cNvPicPr preferRelativeResize="0"/>
          <p:nvPr/>
        </p:nvPicPr>
        <p:blipFill rotWithShape="1">
          <a:blip r:embed="rId3">
            <a:alphaModFix/>
          </a:blip>
          <a:srcRect b="0" l="11839" r="11831" t="0"/>
          <a:stretch/>
        </p:blipFill>
        <p:spPr>
          <a:xfrm>
            <a:off x="764325" y="1448788"/>
            <a:ext cx="2741625" cy="24279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UCLA Teaching &amp; Learning Center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494450"/>
            <a:ext cx="43185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Teaching Resources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Professional Learning Programs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TA Training Program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Consultations on Teaching &amp; Course Design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Instructional Innovation Grants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Instructional Design Support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Media Production Services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Assessment Support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Pedagogical Research Support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Special Projects (SET revision &amp; expansion, HET)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SET and Exam Scoring Services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311700" y="1182750"/>
            <a:ext cx="32181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75AC"/>
              </a:buClr>
              <a:buSzPts val="1400"/>
              <a:buFont typeface="Helvetica Neue"/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ESSENTIAL FUNCTIONS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4880" l="0" r="0" t="0"/>
          <a:stretch/>
        </p:blipFill>
        <p:spPr>
          <a:xfrm>
            <a:off x="4348477" y="1360404"/>
            <a:ext cx="4064000" cy="2694009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2C75AC">
                <a:alpha val="698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Updates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Teaching Support Units at UCLA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598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57585B"/>
                </a:solidFill>
              </a:rPr>
              <a:t>School/Division-based Teaching Support</a:t>
            </a:r>
            <a:endParaRPr sz="1100">
              <a:solidFill>
                <a:srgbClr val="57585B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57585B"/>
                </a:solidFill>
              </a:rPr>
              <a:t>Center for Education Innovation and Learning in the Sciences (</a:t>
            </a:r>
            <a:r>
              <a:rPr lang="en" sz="1100" u="sng">
                <a:solidFill>
                  <a:srgbClr val="00375B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CEILS</a:t>
            </a:r>
            <a:r>
              <a:rPr lang="en" sz="1100">
                <a:solidFill>
                  <a:srgbClr val="57585B"/>
                </a:solidFill>
              </a:rPr>
              <a:t>)</a:t>
            </a:r>
            <a:endParaRPr sz="1100">
              <a:solidFill>
                <a:srgbClr val="57585B"/>
              </a:solidFill>
            </a:endParaRPr>
          </a:p>
          <a:p>
            <a:pPr indent="-2857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900"/>
              <a:buFont typeface="Helvetica Neue"/>
              <a:buChar char="-"/>
            </a:pPr>
            <a:r>
              <a:rPr lang="en" sz="900">
                <a:solidFill>
                  <a:srgbClr val="57585B"/>
                </a:solidFill>
              </a:rPr>
              <a:t>STEM teaching &amp; learning center</a:t>
            </a:r>
            <a:endParaRPr sz="900">
              <a:solidFill>
                <a:srgbClr val="57585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7585B"/>
                </a:solidFill>
              </a:rPr>
              <a:t>	Humanities Technology (</a:t>
            </a:r>
            <a:r>
              <a:rPr lang="en" sz="1100" u="sng">
                <a:solidFill>
                  <a:srgbClr val="00375B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HumTech</a:t>
            </a:r>
            <a:r>
              <a:rPr lang="en" sz="1100">
                <a:solidFill>
                  <a:srgbClr val="57585B"/>
                </a:solidFill>
              </a:rPr>
              <a:t>)</a:t>
            </a:r>
            <a:endParaRPr sz="1100">
              <a:solidFill>
                <a:srgbClr val="57585B"/>
              </a:solidFill>
            </a:endParaRPr>
          </a:p>
          <a:p>
            <a:pPr indent="-2857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900"/>
              <a:buFont typeface="Helvetica Neue"/>
              <a:buChar char="-"/>
            </a:pPr>
            <a:r>
              <a:rPr lang="en" sz="900">
                <a:solidFill>
                  <a:srgbClr val="57585B"/>
                </a:solidFill>
              </a:rPr>
              <a:t>Support for digital humanities projects improving instruction and research</a:t>
            </a:r>
            <a:endParaRPr sz="900">
              <a:solidFill>
                <a:srgbClr val="57585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7585B"/>
                </a:solidFill>
              </a:rPr>
              <a:t>	Social Sciences Center for Education, Research, &amp; Technology (</a:t>
            </a:r>
            <a:r>
              <a:rPr lang="en" sz="1100" u="sng">
                <a:solidFill>
                  <a:srgbClr val="00375B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SSCERT</a:t>
            </a:r>
            <a:r>
              <a:rPr lang="en" sz="1100">
                <a:solidFill>
                  <a:srgbClr val="57585B"/>
                </a:solidFill>
              </a:rPr>
              <a:t>)</a:t>
            </a:r>
            <a:endParaRPr sz="1100">
              <a:solidFill>
                <a:srgbClr val="57585B"/>
              </a:solidFill>
            </a:endParaRPr>
          </a:p>
          <a:p>
            <a:pPr indent="-2857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900"/>
              <a:buFont typeface="Helvetica Neue"/>
              <a:buChar char="-"/>
            </a:pPr>
            <a:r>
              <a:rPr lang="en" sz="900">
                <a:solidFill>
                  <a:srgbClr val="57585B"/>
                </a:solidFill>
              </a:rPr>
              <a:t>Computing, application development, and innovation services</a:t>
            </a:r>
            <a:endParaRPr sz="900">
              <a:solidFill>
                <a:srgbClr val="57585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57585B"/>
                </a:solidFill>
              </a:rPr>
              <a:t>UCLA </a:t>
            </a:r>
            <a:r>
              <a:rPr lang="en" sz="1100" u="sng">
                <a:solidFill>
                  <a:srgbClr val="00375B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Library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900"/>
              <a:buFont typeface="Arial"/>
              <a:buChar char="-"/>
            </a:pPr>
            <a:r>
              <a:rPr lang="en" sz="900">
                <a:solidFill>
                  <a:srgbClr val="57585B"/>
                </a:solidFill>
                <a:latin typeface="Arial"/>
                <a:ea typeface="Arial"/>
                <a:cs typeface="Arial"/>
                <a:sym typeface="Arial"/>
              </a:rPr>
              <a:t>Study spaces, computer classrooms, instructional media**</a:t>
            </a:r>
            <a:endParaRPr sz="900">
              <a:solidFill>
                <a:srgbClr val="5758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57585B"/>
                </a:solidFill>
              </a:rPr>
              <a:t>Undergraduate Research Centers (</a:t>
            </a:r>
            <a:r>
              <a:rPr lang="en" sz="1100" u="sng">
                <a:solidFill>
                  <a:srgbClr val="00375B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Science</a:t>
            </a:r>
            <a:r>
              <a:rPr lang="en" sz="1100">
                <a:solidFill>
                  <a:srgbClr val="57585B"/>
                </a:solidFill>
              </a:rPr>
              <a:t> and </a:t>
            </a:r>
            <a:r>
              <a:rPr lang="en" sz="1100" u="sng">
                <a:solidFill>
                  <a:srgbClr val="00375B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HASS</a:t>
            </a:r>
            <a:r>
              <a:rPr lang="en" sz="1100">
                <a:solidFill>
                  <a:srgbClr val="57585B"/>
                </a:solidFill>
              </a:rPr>
              <a:t>)</a:t>
            </a:r>
            <a:endParaRPr sz="1100">
              <a:solidFill>
                <a:srgbClr val="57585B"/>
              </a:solidFill>
            </a:endParaRPr>
          </a:p>
          <a:p>
            <a:pPr indent="-2857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900"/>
              <a:buFont typeface="Helvetica Neue"/>
              <a:buChar char="-"/>
            </a:pPr>
            <a:r>
              <a:rPr lang="en" sz="900">
                <a:solidFill>
                  <a:srgbClr val="57585B"/>
                </a:solidFill>
              </a:rPr>
              <a:t>Connect students to research opportunities</a:t>
            </a:r>
            <a:endParaRPr sz="900">
              <a:solidFill>
                <a:srgbClr val="57585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57585B"/>
                </a:solidFill>
              </a:rPr>
              <a:t>Center for Community Engagement (</a:t>
            </a:r>
            <a:r>
              <a:rPr lang="en" sz="1100" u="sng">
                <a:solidFill>
                  <a:srgbClr val="00375B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CCE</a:t>
            </a:r>
            <a:r>
              <a:rPr lang="en" sz="1100">
                <a:solidFill>
                  <a:srgbClr val="57585B"/>
                </a:solidFill>
              </a:rPr>
              <a:t>)</a:t>
            </a:r>
            <a:endParaRPr sz="1100">
              <a:solidFill>
                <a:srgbClr val="57585B"/>
              </a:solidFill>
            </a:endParaRPr>
          </a:p>
          <a:p>
            <a:pPr indent="-2857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900"/>
              <a:buFont typeface="Helvetica Neue"/>
              <a:buChar char="-"/>
            </a:pPr>
            <a:r>
              <a:rPr lang="en" sz="900">
                <a:solidFill>
                  <a:srgbClr val="57585B"/>
                </a:solidFill>
              </a:rPr>
              <a:t>Connect students to internship opportunities; collaborate with community partners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52281" y="2660425"/>
            <a:ext cx="2160019" cy="174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21603" y="1170650"/>
            <a:ext cx="2021350" cy="136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Connect with the TLC and Learn More</a:t>
            </a:r>
            <a:endParaRPr sz="2200"/>
          </a:p>
        </p:txBody>
      </p:sp>
      <p:sp>
        <p:nvSpPr>
          <p:cNvPr id="98" name="Google Shape;98;p20"/>
          <p:cNvSpPr txBox="1"/>
          <p:nvPr/>
        </p:nvSpPr>
        <p:spPr>
          <a:xfrm>
            <a:off x="7259099" y="4539550"/>
            <a:ext cx="22938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325" lIns="80325" spcFirstLastPara="1" rIns="80325" wrap="square" tIns="803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3" u="sng">
                <a:solidFill>
                  <a:srgbClr val="2C75A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https://teaching.ucla.edu/</a:t>
            </a:r>
            <a:r>
              <a:rPr b="1" lang="en" sz="703">
                <a:solidFill>
                  <a:srgbClr val="2C75AC"/>
                </a:solidFill>
              </a:rPr>
              <a:t> </a:t>
            </a:r>
            <a:endParaRPr b="1" sz="703">
              <a:solidFill>
                <a:srgbClr val="2C75AC"/>
              </a:solidFill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1584150" y="3300138"/>
            <a:ext cx="597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Come visit us in Powell Library</a:t>
            </a:r>
            <a:endParaRPr b="1" sz="20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1192763" y="3954575"/>
            <a:ext cx="65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Access through rear or east side entrances*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Say ‘hi’ to VPTL O’Leary in Suite 160!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1" name="Google Shape;101;p20"/>
          <p:cNvGrpSpPr/>
          <p:nvPr/>
        </p:nvGrpSpPr>
        <p:grpSpPr>
          <a:xfrm>
            <a:off x="2228350" y="1112275"/>
            <a:ext cx="4471526" cy="1986864"/>
            <a:chOff x="3933300" y="985388"/>
            <a:chExt cx="4471526" cy="1986864"/>
          </a:xfrm>
        </p:grpSpPr>
        <p:pic>
          <p:nvPicPr>
            <p:cNvPr id="102" name="Google Shape;10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33300" y="985387"/>
              <a:ext cx="4471526" cy="19868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sp>
          <p:nvSpPr>
            <p:cNvPr id="103" name="Google Shape;103;p20"/>
            <p:cNvSpPr/>
            <p:nvPr/>
          </p:nvSpPr>
          <p:spPr>
            <a:xfrm rot="7061350">
              <a:off x="6673436" y="2247125"/>
              <a:ext cx="184645" cy="534473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2C75AC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04" name="Google Shape;104;p20"/>
          <p:cNvSpPr txBox="1"/>
          <p:nvPr/>
        </p:nvSpPr>
        <p:spPr>
          <a:xfrm>
            <a:off x="1379663" y="3642388"/>
            <a:ext cx="6168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Visit our new website (launching 9/23)</a:t>
            </a:r>
            <a:endParaRPr b="1" sz="12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5">
            <a:alphaModFix/>
          </a:blip>
          <a:srcRect b="5850" l="0" r="0" t="6707"/>
          <a:stretch/>
        </p:blipFill>
        <p:spPr>
          <a:xfrm>
            <a:off x="7913362" y="3731549"/>
            <a:ext cx="985289" cy="861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74325" y="374075"/>
            <a:ext cx="76473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with Technology Resources &amp; Services </a:t>
            </a:r>
            <a:endParaRPr/>
          </a:p>
        </p:txBody>
      </p:sp>
      <p:sp>
        <p:nvSpPr>
          <p:cNvPr id="111" name="Google Shape;111;p21"/>
          <p:cNvSpPr txBox="1"/>
          <p:nvPr/>
        </p:nvSpPr>
        <p:spPr>
          <a:xfrm>
            <a:off x="486348" y="1242584"/>
            <a:ext cx="751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Bruin Learn Center of Excellence (</a:t>
            </a:r>
            <a:r>
              <a:rPr lang="en" sz="2000" u="sng">
                <a:solidFill>
                  <a:srgbClr val="00375B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CoE</a:t>
            </a:r>
            <a:r>
              <a:rPr lang="en" sz="20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0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742200" y="2732100"/>
            <a:ext cx="717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classroom AV, Streaming, and BruinCast support:</a:t>
            </a:r>
            <a:endParaRPr sz="12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1200"/>
              <a:buFont typeface="Helvetica Neue"/>
              <a:buChar char="❏"/>
            </a:pP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x7HELP</a:t>
            </a:r>
            <a:endParaRPr sz="12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1200"/>
              <a:buFont typeface="Helvetica Neue"/>
              <a:buChar char="❏"/>
            </a:pP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a ticket through the IT portal (</a:t>
            </a:r>
            <a:r>
              <a:rPr lang="en" sz="1200" u="sng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https://it.ucla.edu/</a:t>
            </a: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2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1200"/>
              <a:buFont typeface="Helvetica Neue"/>
              <a:buChar char="❏"/>
            </a:pP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</a:t>
            </a:r>
            <a:r>
              <a:rPr lang="en" sz="1200" u="sng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help@it.ucla.edu</a:t>
            </a:r>
            <a:endParaRPr sz="12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742200" y="1648700"/>
            <a:ext cx="751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Canvas and other ed tech support: </a:t>
            </a:r>
            <a:endParaRPr sz="12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</a:t>
            </a:r>
            <a:r>
              <a:rPr lang="en" sz="1200" u="sng">
                <a:solidFill>
                  <a:srgbClr val="00375B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bruinlearn-support@it.ucla.edu</a:t>
            </a: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attend </a:t>
            </a:r>
            <a:r>
              <a:rPr lang="en" sz="1200" u="sng">
                <a:solidFill>
                  <a:srgbClr val="00375B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office hours</a:t>
            </a: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421824" y="2264500"/>
            <a:ext cx="405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Services | </a:t>
            </a:r>
            <a:r>
              <a:rPr lang="en" sz="2000" u="sng">
                <a:solidFill>
                  <a:srgbClr val="00375B"/>
                </a:solidFill>
                <a:latin typeface="Helvetica Neue"/>
                <a:ea typeface="Helvetica Neue"/>
                <a:cs typeface="Helvetica Neue"/>
                <a:sym typeface="Helvetica Neue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Digital Spaces</a:t>
            </a:r>
            <a:endParaRPr sz="20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742200" y="3727925"/>
            <a:ext cx="71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classroom database search:</a:t>
            </a:r>
            <a:endParaRPr sz="12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7585B"/>
              </a:buClr>
              <a:buSzPts val="1200"/>
              <a:buFont typeface="Helvetica Neue"/>
              <a:buChar char="❏"/>
            </a:pP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 to website (</a:t>
            </a:r>
            <a:r>
              <a:rPr lang="en" sz="1200" u="sng">
                <a:solidFill>
                  <a:srgbClr val="00375B"/>
                </a:solidFill>
                <a:latin typeface="Helvetica Neue"/>
                <a:ea typeface="Helvetica Neue"/>
                <a:cs typeface="Helvetica Neue"/>
                <a:sym typeface="Helvetica Neue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https://it.ucla.edu/classroom-search</a:t>
            </a:r>
            <a:r>
              <a:rPr lang="en" sz="1200">
                <a:solidFill>
                  <a:srgbClr val="5758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 sz="1200">
              <a:solidFill>
                <a:srgbClr val="5758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39000" y="1352800"/>
            <a:ext cx="2869200" cy="243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290725" y="2514150"/>
            <a:ext cx="7472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Reach Out With Any Questions Or Concerns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LC General Slide Deck 2026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