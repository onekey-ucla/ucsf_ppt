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embeddedFontLst>
    <p:embeddedFont>
      <p:font typeface="Helvetica Neue"/>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E8A0DE2-4BD3-4731-8C38-A835F9A883E6}">
  <a:tblStyle styleId="{FE8A0DE2-4BD3-4731-8C38-A835F9A883E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125C61F-4568-41CF-9EC9-C2F647172EE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HelveticaNeue-bold.fntdata"/><Relationship Id="rId12" Type="http://schemas.openxmlformats.org/officeDocument/2006/relationships/slide" Target="slides/slide6.xml"/><Relationship Id="rId56" Type="http://schemas.openxmlformats.org/officeDocument/2006/relationships/font" Target="fonts/HelveticaNeue-regular.fntdata"/><Relationship Id="rId15" Type="http://schemas.openxmlformats.org/officeDocument/2006/relationships/slide" Target="slides/slide9.xml"/><Relationship Id="rId59" Type="http://schemas.openxmlformats.org/officeDocument/2006/relationships/font" Target="fonts/HelveticaNeue-boldItalic.fntdata"/><Relationship Id="rId14" Type="http://schemas.openxmlformats.org/officeDocument/2006/relationships/slide" Target="slides/slide8.xml"/><Relationship Id="rId58" Type="http://schemas.openxmlformats.org/officeDocument/2006/relationships/font" Target="fonts/HelveticaNeue-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55263e8192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355263e8192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77769d6d0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77769d6d0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86567007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86567007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7769d6d0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7769d6d0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7769d6d0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7769d6d0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86567007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86567007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77769d6d0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77769d6d0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86567007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86567007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6567007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6567007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86567007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86567007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86567007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86567007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865670074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865670074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865670074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865670074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050a792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050a792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d865670074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d865670074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050a7920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e050a7920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d865670074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d865670074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86567007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d86567007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865670074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d865670074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050a7920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e050a7920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865670074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865670074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865670074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865670074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865670074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d865670074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865670074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d865670074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d865670074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d865670074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865670074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865670074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d865670074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d865670074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d865670074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d865670074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865670074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865670074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d865670074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d865670074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865670074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d865670074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050a7920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e050a7920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d865670074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d865670074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d865670074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d865670074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865670074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865670074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e050a7920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e050a7920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d865670074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d865670074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d865670074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d865670074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865670074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d865670074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e050a7920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e050a7920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d865670074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d865670074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e050a7920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e050a7920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d865670074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d865670074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d865670074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d865670074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e050a7920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e050a7920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77769d6d0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77769d6d0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858a30c8c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858a30c8c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55263e8192_5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55263e8192_5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858a30c8c5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858a30c8c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type="title">
  <p:cSld name="TITLE">
    <p:bg>
      <p:bgPr>
        <a:blipFill>
          <a:blip r:embed="rId2">
            <a:alphaModFix/>
          </a:blip>
          <a:stretch>
            <a:fillRect/>
          </a:stretch>
        </a:blipFill>
      </p:bgPr>
    </p:bg>
    <p:spTree>
      <p:nvGrpSpPr>
        <p:cNvPr id="7" name="Shape 7"/>
        <p:cNvGrpSpPr/>
        <p:nvPr/>
      </p:nvGrpSpPr>
      <p:grpSpPr>
        <a:xfrm>
          <a:off x="0" y="0"/>
          <a:ext cx="0" cy="0"/>
          <a:chOff x="0" y="0"/>
          <a:chExt cx="0" cy="0"/>
        </a:xfrm>
      </p:grpSpPr>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2"/>
          <p:cNvSpPr txBox="1"/>
          <p:nvPr>
            <p:ph type="title"/>
          </p:nvPr>
        </p:nvSpPr>
        <p:spPr>
          <a:xfrm>
            <a:off x="290725" y="1942950"/>
            <a:ext cx="7472400" cy="678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4000"/>
              <a:buFont typeface="Helvetica Neue"/>
              <a:buNone/>
              <a:defRPr b="1" i="0" sz="40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 name="Google Shape;10;p2"/>
          <p:cNvSpPr txBox="1"/>
          <p:nvPr>
            <p:ph idx="1" type="subTitle"/>
          </p:nvPr>
        </p:nvSpPr>
        <p:spPr>
          <a:xfrm>
            <a:off x="290725" y="2578325"/>
            <a:ext cx="7472400" cy="678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ection (Title and Body) (R)">
  <p:cSld name="SECTION_TITLE_AND_DESCRIPTION">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3"/>
          <p:cNvSpPr txBox="1"/>
          <p:nvPr>
            <p:ph type="title"/>
          </p:nvPr>
        </p:nvSpPr>
        <p:spPr>
          <a:xfrm>
            <a:off x="274325" y="374075"/>
            <a:ext cx="48693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9pPr>
          </a:lstStyle>
          <a:p/>
        </p:txBody>
      </p:sp>
      <p:sp>
        <p:nvSpPr>
          <p:cNvPr id="14" name="Google Shape;14;p3"/>
          <p:cNvSpPr txBox="1"/>
          <p:nvPr>
            <p:ph idx="1" type="body"/>
          </p:nvPr>
        </p:nvSpPr>
        <p:spPr>
          <a:xfrm>
            <a:off x="274325" y="922825"/>
            <a:ext cx="4869300" cy="3740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1pPr>
            <a:lvl2pPr indent="-342900" lvl="1" marL="914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2pPr>
            <a:lvl3pPr indent="-342900" lvl="2" marL="1371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3pPr>
            <a:lvl4pPr indent="-342900" lvl="3" marL="1828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4pPr>
            <a:lvl5pPr indent="-342900" lvl="4" marL="22860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5pPr>
            <a:lvl6pPr indent="-342900" lvl="5" marL="2743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6pPr>
            <a:lvl7pPr indent="-342900" lvl="6" marL="3200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7pPr>
            <a:lvl8pPr indent="-342900" lvl="7" marL="3657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8pPr>
            <a:lvl9pPr indent="-342900" lvl="8" marL="4114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Open Space Color)">
  <p:cSld name="SECTION_HEADER_1">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01" type="tx">
  <p:cSld name="TITLE_AND_BODY">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Helvetica Neue"/>
              <a:buChar char="●"/>
              <a:defRPr b="1" i="0" sz="18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9pPr>
          </a:lstStyle>
          <a:p/>
        </p:txBody>
      </p:sp>
      <p:sp>
        <p:nvSpPr>
          <p:cNvPr id="20" name="Google Shape;20;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1pPr>
            <a:lvl2pPr indent="-342900" lvl="1" marL="914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2pPr>
            <a:lvl3pPr indent="-342900" lvl="2" marL="1371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3pPr>
            <a:lvl4pPr indent="-342900" lvl="3" marL="1828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4pPr>
            <a:lvl5pPr indent="-342900" lvl="4" marL="22860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5pPr>
            <a:lvl6pPr indent="-342900" lvl="5" marL="2743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6pPr>
            <a:lvl7pPr indent="-342900" lvl="6" marL="3200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7pPr>
            <a:lvl8pPr indent="-342900" lvl="7" marL="3657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8pPr>
            <a:lvl9pPr indent="-342900" lvl="8" marL="4114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02">
  <p:cSld name="TITLE_AND_BODY_1">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Helvetica Neue"/>
              <a:buChar char="●"/>
              <a:defRPr b="1" i="0" sz="18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000000"/>
              </a:buClr>
              <a:buSzPts val="1400"/>
              <a:buFont typeface="Helvetica Neue"/>
              <a:buChar char="■"/>
              <a:defRPr b="1" i="0" sz="1400" u="none" cap="none" strike="noStrike">
                <a:solidFill>
                  <a:srgbClr val="000000"/>
                </a:solidFill>
                <a:latin typeface="Helvetica Neue"/>
                <a:ea typeface="Helvetica Neue"/>
                <a:cs typeface="Helvetica Neue"/>
                <a:sym typeface="Helvetica Neue"/>
              </a:defRPr>
            </a:lvl9pPr>
          </a:lstStyle>
          <a:p/>
        </p:txBody>
      </p:sp>
      <p:sp>
        <p:nvSpPr>
          <p:cNvPr id="24" name="Google Shape;24;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1pPr>
            <a:lvl2pPr indent="-342900" lvl="1" marL="914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2pPr>
            <a:lvl3pPr indent="-342900" lvl="2" marL="1371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3pPr>
            <a:lvl4pPr indent="-342900" lvl="3" marL="1828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4pPr>
            <a:lvl5pPr indent="-342900" lvl="4" marL="22860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5pPr>
            <a:lvl6pPr indent="-342900" lvl="5" marL="2743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6pPr>
            <a:lvl7pPr indent="-342900" lvl="6" marL="3200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7pPr>
            <a:lvl8pPr indent="-342900" lvl="7" marL="3657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8pPr>
            <a:lvl9pPr indent="-342900" lvl="8" marL="4114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9pPr>
          </a:lstStyle>
          <a:p/>
        </p:txBody>
      </p:sp>
      <p:sp>
        <p:nvSpPr>
          <p:cNvPr id="25" name="Google Shape;25;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ection (Title and Body) (R1)">
  <p:cSld name="SECTION_TITLE_AND_DESCRIPTION_2">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7"/>
          <p:cNvSpPr txBox="1"/>
          <p:nvPr>
            <p:ph type="title"/>
          </p:nvPr>
        </p:nvSpPr>
        <p:spPr>
          <a:xfrm>
            <a:off x="274325" y="374075"/>
            <a:ext cx="82734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9pPr>
          </a:lstStyle>
          <a:p/>
        </p:txBody>
      </p:sp>
      <p:sp>
        <p:nvSpPr>
          <p:cNvPr id="29" name="Google Shape;29;p7"/>
          <p:cNvSpPr txBox="1"/>
          <p:nvPr>
            <p:ph idx="1" type="body"/>
          </p:nvPr>
        </p:nvSpPr>
        <p:spPr>
          <a:xfrm>
            <a:off x="274325" y="922825"/>
            <a:ext cx="8273400" cy="3740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1pPr>
            <a:lvl2pPr indent="-342900" lvl="1" marL="914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2pPr>
            <a:lvl3pPr indent="-342900" lvl="2" marL="1371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3pPr>
            <a:lvl4pPr indent="-342900" lvl="3" marL="1828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4pPr>
            <a:lvl5pPr indent="-342900" lvl="4" marL="22860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5pPr>
            <a:lvl6pPr indent="-342900" lvl="5" marL="2743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6pPr>
            <a:lvl7pPr indent="-342900" lvl="6" marL="3200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7pPr>
            <a:lvl8pPr indent="-342900" lvl="7" marL="3657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8pPr>
            <a:lvl9pPr indent="-342900" lvl="8" marL="4114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Open Space Black)">
  <p:cSld name="SECTION_HEADER_1_1">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Full Background)" type="secHead">
  <p:cSld name="SECTION_HEADER">
    <p:bg>
      <p:bgPr>
        <a:blipFill>
          <a:blip r:embed="rId2">
            <a:alphaModFix/>
          </a:blip>
          <a:stretch>
            <a:fillRect/>
          </a:stretch>
        </a:blipFill>
      </p:bgPr>
    </p:bg>
    <p:spTree>
      <p:nvGrpSpPr>
        <p:cNvPr id="33" name="Shape 33"/>
        <p:cNvGrpSpPr/>
        <p:nvPr/>
      </p:nvGrpSpPr>
      <p:grpSpPr>
        <a:xfrm>
          <a:off x="0" y="0"/>
          <a:ext cx="0" cy="0"/>
          <a:chOff x="0" y="0"/>
          <a:chExt cx="0" cy="0"/>
        </a:xfrm>
      </p:grpSpPr>
      <p:sp>
        <p:nvSpPr>
          <p:cNvPr id="34" name="Google Shape;34;p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chemeClr val="lt1"/>
              </a:buClr>
              <a:buSzPts val="3600"/>
              <a:buFont typeface="Helvetica Neue"/>
              <a:buChar char="●"/>
              <a:defRPr b="1" i="0" sz="3600" u="none" cap="none" strike="noStrike">
                <a:solidFill>
                  <a:schemeClr val="lt1"/>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600"/>
              <a:buFont typeface="Helvetica Neue"/>
              <a:buChar char="■"/>
              <a:defRPr b="1" i="0" sz="3600" u="none" cap="none" strike="noStrike">
                <a:solidFill>
                  <a:srgbClr val="000000"/>
                </a:solidFill>
                <a:latin typeface="Helvetica Neue"/>
                <a:ea typeface="Helvetica Neue"/>
                <a:cs typeface="Helvetica Neue"/>
                <a:sym typeface="Helvetica Neue"/>
              </a:defRPr>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ection (Title and Body) (L)">
  <p:cSld name="SECTION_TITLE_AND_DESCRIPTION_1">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8" name="Google Shape;38;p10"/>
          <p:cNvSpPr txBox="1"/>
          <p:nvPr>
            <p:ph type="title"/>
          </p:nvPr>
        </p:nvSpPr>
        <p:spPr>
          <a:xfrm>
            <a:off x="4145175" y="374075"/>
            <a:ext cx="48015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9pPr>
          </a:lstStyle>
          <a:p/>
        </p:txBody>
      </p:sp>
      <p:sp>
        <p:nvSpPr>
          <p:cNvPr id="39" name="Google Shape;39;p10"/>
          <p:cNvSpPr txBox="1"/>
          <p:nvPr>
            <p:ph idx="1" type="body"/>
          </p:nvPr>
        </p:nvSpPr>
        <p:spPr>
          <a:xfrm>
            <a:off x="4145175" y="922825"/>
            <a:ext cx="4801500" cy="3740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1pPr>
            <a:lvl2pPr indent="-342900" lvl="1" marL="914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2pPr>
            <a:lvl3pPr indent="-342900" lvl="2" marL="1371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3pPr>
            <a:lvl4pPr indent="-342900" lvl="3" marL="1828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4pPr>
            <a:lvl5pPr indent="-342900" lvl="4" marL="22860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5pPr>
            <a:lvl6pPr indent="-342900" lvl="5" marL="2743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6pPr>
            <a:lvl7pPr indent="-342900" lvl="6" marL="3200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7pPr>
            <a:lvl8pPr indent="-342900" lvl="7" marL="3657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8pPr>
            <a:lvl9pPr indent="-342900" lvl="8" marL="4114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ection (Title and Body) (L2)">
  <p:cSld name="SECTION_TITLE_AND_DESCRIPTION_1_1">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11"/>
          <p:cNvSpPr txBox="1"/>
          <p:nvPr>
            <p:ph type="title"/>
          </p:nvPr>
        </p:nvSpPr>
        <p:spPr>
          <a:xfrm>
            <a:off x="475350" y="374075"/>
            <a:ext cx="84714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000000"/>
              </a:buClr>
              <a:buSzPts val="1800"/>
              <a:buFont typeface="Helvetica Neue"/>
              <a:buNone/>
              <a:defRPr b="1" i="0" sz="1800" u="none" cap="none" strike="noStrike">
                <a:solidFill>
                  <a:srgbClr val="000000"/>
                </a:solidFill>
                <a:latin typeface="Helvetica Neue"/>
                <a:ea typeface="Helvetica Neue"/>
                <a:cs typeface="Helvetica Neue"/>
                <a:sym typeface="Helvetica Neue"/>
              </a:defRPr>
            </a:lvl9pPr>
          </a:lstStyle>
          <a:p/>
        </p:txBody>
      </p:sp>
      <p:sp>
        <p:nvSpPr>
          <p:cNvPr id="43" name="Google Shape;43;p11"/>
          <p:cNvSpPr txBox="1"/>
          <p:nvPr>
            <p:ph idx="1" type="body"/>
          </p:nvPr>
        </p:nvSpPr>
        <p:spPr>
          <a:xfrm>
            <a:off x="475350" y="922825"/>
            <a:ext cx="8471400" cy="3740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1pPr>
            <a:lvl2pPr indent="-342900" lvl="1" marL="914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2pPr>
            <a:lvl3pPr indent="-342900" lvl="2" marL="1371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3pPr>
            <a:lvl4pPr indent="-342900" lvl="3" marL="1828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4pPr>
            <a:lvl5pPr indent="-342900" lvl="4" marL="22860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5pPr>
            <a:lvl6pPr indent="-342900" lvl="5" marL="27432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6pPr>
            <a:lvl7pPr indent="-342900" lvl="6" marL="32004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7pPr>
            <a:lvl8pPr indent="-342900" lvl="7" marL="36576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8pPr>
            <a:lvl9pPr indent="-342900" lvl="8" marL="4114800" marR="0" rtl="0" algn="l">
              <a:lnSpc>
                <a:spcPct val="100000"/>
              </a:lnSpc>
              <a:spcBef>
                <a:spcPts val="0"/>
              </a:spcBef>
              <a:spcAft>
                <a:spcPts val="0"/>
              </a:spcAft>
              <a:buClr>
                <a:srgbClr val="000000"/>
              </a:buClr>
              <a:buSzPts val="1800"/>
              <a:buFont typeface="Helvetica Neue"/>
              <a:buChar char="■"/>
              <a:defRPr b="0" i="0" sz="1800" u="none" cap="none" strike="noStrike">
                <a:solidFill>
                  <a:srgbClr val="000000"/>
                </a:solidFill>
                <a:latin typeface="Helvetica Neue"/>
                <a:ea typeface="Helvetica Neue"/>
                <a:cs typeface="Helvetica Neue"/>
                <a:sym typeface="Helvetica Neu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No TLC Logo]">
  <p:cSld name="TITLE_1">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12"/>
          <p:cNvSpPr txBox="1"/>
          <p:nvPr>
            <p:ph type="title"/>
          </p:nvPr>
        </p:nvSpPr>
        <p:spPr>
          <a:xfrm>
            <a:off x="290725" y="1942950"/>
            <a:ext cx="7472400" cy="678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4000"/>
              <a:buFont typeface="Helvetica Neue"/>
              <a:buNone/>
              <a:defRPr b="1" i="0" sz="4000" u="none" cap="none" strike="noStrike">
                <a:solidFill>
                  <a:srgbClr val="00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7" name="Google Shape;47;p12"/>
          <p:cNvSpPr txBox="1"/>
          <p:nvPr>
            <p:ph idx="1" type="subTitle"/>
          </p:nvPr>
        </p:nvSpPr>
        <p:spPr>
          <a:xfrm>
            <a:off x="290725" y="2578325"/>
            <a:ext cx="7472400" cy="678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434343"/>
              </a:buClr>
              <a:buSzPts val="1800"/>
              <a:buFont typeface="Helvetica Neue"/>
              <a:buNone/>
              <a:defRPr b="0" i="0" sz="1800" u="none" cap="none" strike="noStrike">
                <a:solidFill>
                  <a:srgbClr val="434343"/>
                </a:solidFill>
                <a:latin typeface="Helvetica Neue"/>
                <a:ea typeface="Helvetica Neue"/>
                <a:cs typeface="Helvetica Neue"/>
                <a:sym typeface="Helvetica Neu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9.png"/><Relationship Id="rId9" Type="http://schemas.openxmlformats.org/officeDocument/2006/relationships/image" Target="../media/image15.png"/><Relationship Id="rId5" Type="http://schemas.openxmlformats.org/officeDocument/2006/relationships/image" Target="../media/image8.png"/><Relationship Id="rId6" Type="http://schemas.openxmlformats.org/officeDocument/2006/relationships/image" Target="../media/image35.jpg"/><Relationship Id="rId7" Type="http://schemas.openxmlformats.org/officeDocument/2006/relationships/image" Target="../media/image21.png"/><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hyperlink" Target="https://tinyurl.com/UCD-1-14-2026" TargetMode="External"/><Relationship Id="rId4" Type="http://schemas.openxmlformats.org/officeDocument/2006/relationships/image" Target="../media/image19.png"/><Relationship Id="rId5"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hyperlink" Target="https://www.insidehighered.com/opinion/columns/higher-ed-gamma/2025/03/13/reimagining-post-pandemic-learning-experienc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27.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hyperlink" Target="https://utppublishing.com/doi/pdf/10.3138/jvme-2021-005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33.png"/><Relationship Id="rId5" Type="http://schemas.openxmlformats.org/officeDocument/2006/relationships/image" Target="../media/image29.png"/><Relationship Id="rId6" Type="http://schemas.openxmlformats.org/officeDocument/2006/relationships/image" Target="../media/image37.png"/><Relationship Id="rId7"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40.png"/><Relationship Id="rId5" Type="http://schemas.openxmlformats.org/officeDocument/2006/relationships/image" Target="../media/image43.png"/><Relationship Id="rId6" Type="http://schemas.openxmlformats.org/officeDocument/2006/relationships/image" Target="../media/image42.png"/></Relationships>
</file>

<file path=ppt/slides/_rels/slide12.xml.rels><?xml version="1.0" encoding="UTF-8" standalone="yes"?><Relationships xmlns="http://schemas.openxmlformats.org/package/2006/relationships"><Relationship Id="rId10" Type="http://schemas.openxmlformats.org/officeDocument/2006/relationships/image" Target="../media/image41.png"/><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hyperlink" Target="https://research.ucdavis.edu/education-experts-break-down-the-lingering-impacts-and-unexpected-outcomes-of-covid-19-pandemic/" TargetMode="External"/><Relationship Id="rId9" Type="http://schemas.openxmlformats.org/officeDocument/2006/relationships/hyperlink" Target="https://education.ucdavis.edu/faculty-profile/margarita-jimenez-silva" TargetMode="External"/><Relationship Id="rId5" Type="http://schemas.openxmlformats.org/officeDocument/2006/relationships/hyperlink" Target="https://education.ucdavis.edu/faculty-profile/michal-kurlaender" TargetMode="External"/><Relationship Id="rId6" Type="http://schemas.openxmlformats.org/officeDocument/2006/relationships/image" Target="../media/image39.png"/><Relationship Id="rId7" Type="http://schemas.openxmlformats.org/officeDocument/2006/relationships/hyperlink" Target="https://education.ucdavis.edu/faculty-profile/kevin-gee" TargetMode="External"/><Relationship Id="rId8" Type="http://schemas.openxmlformats.org/officeDocument/2006/relationships/image" Target="../media/image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5.png"/><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47.png"/><Relationship Id="rId4" Type="http://schemas.openxmlformats.org/officeDocument/2006/relationships/hyperlink" Target="https://www.rwjf.org/en/insights/blog/2022/11/we-used-your-insights-to-update-our-graphic-on-equity.html" TargetMode="External"/><Relationship Id="rId5" Type="http://schemas.openxmlformats.org/officeDocument/2006/relationships/hyperlink" Target="https://teaching.uic.edu/cate-teaching-guides/inclusive-equity-minded-teaching-practices/universal-design-for-learning-udl/" TargetMode="External"/><Relationship Id="rId6" Type="http://schemas.openxmlformats.org/officeDocument/2006/relationships/image" Target="../media/image50.png"/><Relationship Id="rId7" Type="http://schemas.openxmlformats.org/officeDocument/2006/relationships/image" Target="../media/image4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48.png"/><Relationship Id="rId4" Type="http://schemas.openxmlformats.org/officeDocument/2006/relationships/hyperlink" Target="https://cstate.se/writing/wca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s://www.usmd.edu/digital-accessibility/success-stories-and-case-studie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5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5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5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56.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hyperlink" Target="https://udlguidelines.cast.org/static/udlg3-graphicorganizer-digital-numbers-a11y.pd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hyperlink" Target="https://udlguidelines.cast.org/static/udlg3-graphicorganizer-digital-numbers-a11y.pdf" TargetMode="External"/><Relationship Id="rId4" Type="http://schemas.openxmlformats.org/officeDocument/2006/relationships/image" Target="../media/image6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57.png"/><Relationship Id="rId4" Type="http://schemas.openxmlformats.org/officeDocument/2006/relationships/hyperlink" Target="https://udlguidelines.cast.org/static/udlg3-graphicorganizer-digital-numbers-a11y.pd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59.png"/><Relationship Id="rId4" Type="http://schemas.openxmlformats.org/officeDocument/2006/relationships/hyperlink" Target="http://www.youtube.com/watch?v=lvJrx5Aecxk" TargetMode="External"/><Relationship Id="rId5" Type="http://schemas.openxmlformats.org/officeDocument/2006/relationships/image" Target="../media/image5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5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58.png"/><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58.png"/><Relationship Id="rId4" Type="http://schemas.openxmlformats.org/officeDocument/2006/relationships/hyperlink" Target="https://sdc.ucdavis.edu/document-conversion" TargetMode="External"/><Relationship Id="rId5" Type="http://schemas.openxmlformats.org/officeDocument/2006/relationships/image" Target="../media/image65.png"/><Relationship Id="rId6"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66.png"/><Relationship Id="rId4" Type="http://schemas.openxmlformats.org/officeDocument/2006/relationships/hyperlink" Target="http://www.youtube.com/watch?v=Xk24DMOInnQ" TargetMode="External"/><Relationship Id="rId5" Type="http://schemas.openxmlformats.org/officeDocument/2006/relationships/image" Target="../media/image6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58.png"/><Relationship Id="rId4" Type="http://schemas.openxmlformats.org/officeDocument/2006/relationships/image" Target="../media/image6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58.png"/><Relationship Id="rId4" Type="http://schemas.openxmlformats.org/officeDocument/2006/relationships/image" Target="../media/image6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58.png"/><Relationship Id="rId4" Type="http://schemas.openxmlformats.org/officeDocument/2006/relationships/hyperlink" Target="https://www.novakeducation.com/hubfs/UDL_FlowChart_Novak%20Education.pdf" TargetMode="External"/><Relationship Id="rId5" Type="http://schemas.openxmlformats.org/officeDocument/2006/relationships/hyperlink" Target="https://www.novakeducation.com/hubfs/UDL_FlowChart_Novak%20Education.pdf" TargetMode="External"/><Relationship Id="rId6" Type="http://schemas.openxmlformats.org/officeDocument/2006/relationships/image" Target="../media/image77.png"/><Relationship Id="rId7" Type="http://schemas.openxmlformats.org/officeDocument/2006/relationships/image" Target="../media/image6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70.png"/><Relationship Id="rId4" Type="http://schemas.openxmlformats.org/officeDocument/2006/relationships/image" Target="../media/image6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7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7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hyperlink" Target="https://teaching.ucla.edu/making-your-course-accessible/descriptive-links/" TargetMode="External"/><Relationship Id="rId4" Type="http://schemas.openxmlformats.org/officeDocument/2006/relationships/hyperlink" Target="https://dcp.ucla.edu/" TargetMode="External"/><Relationship Id="rId5" Type="http://schemas.openxmlformats.org/officeDocument/2006/relationships/hyperlink" Target="https://dcp.ucla.edu/" TargetMode="External"/><Relationship Id="rId6" Type="http://schemas.openxmlformats.org/officeDocument/2006/relationships/hyperlink" Target="https://dcp.ucla.edu/"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71.png"/><Relationship Id="rId4" Type="http://schemas.openxmlformats.org/officeDocument/2006/relationships/image" Target="../media/image75.png"/><Relationship Id="rId5" Type="http://schemas.openxmlformats.org/officeDocument/2006/relationships/hyperlink" Target="https://uxdesign.cc/how-to-write-an-image-description-2f30d3bf5546" TargetMode="External"/><Relationship Id="rId6" Type="http://schemas.openxmlformats.org/officeDocument/2006/relationships/hyperlink" Target="https://uxdesign.cc/how-to-write-an-image-description-2f30d3bf5546"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73.png"/><Relationship Id="rId4" Type="http://schemas.openxmlformats.org/officeDocument/2006/relationships/image" Target="../media/image83.png"/><Relationship Id="rId5" Type="http://schemas.openxmlformats.org/officeDocument/2006/relationships/image" Target="../media/image7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7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7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hyperlink" Target="https://www.ul.ie/ctl/staff/universal-design-learning/practical-ideas-to-get-starte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71.png"/><Relationship Id="rId4" Type="http://schemas.openxmlformats.org/officeDocument/2006/relationships/image" Target="../media/image7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80.png"/><Relationship Id="rId4" Type="http://schemas.openxmlformats.org/officeDocument/2006/relationships/image" Target="../media/image82.png"/><Relationship Id="rId5" Type="http://schemas.openxmlformats.org/officeDocument/2006/relationships/image" Target="../media/image8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23.png"/><Relationship Id="rId4" Type="http://schemas.openxmlformats.org/officeDocument/2006/relationships/image" Target="../media/image84.png"/><Relationship Id="rId5" Type="http://schemas.openxmlformats.org/officeDocument/2006/relationships/hyperlink" Target="https://www.insidehighered.com/views/2023/03/16/how-recover-pandemic-learning-loss-opinionhttps://www.pomona.edu/administration/president" TargetMode="External"/><Relationship Id="rId6" Type="http://schemas.openxmlformats.org/officeDocument/2006/relationships/hyperlink" Target="https://www.insidehighered.com/views/2023/03/16/how-recover-pandemic-learning-loss-opinionhttps://www.pomona.edu/administration/president" TargetMode="External"/><Relationship Id="rId7" Type="http://schemas.openxmlformats.org/officeDocument/2006/relationships/hyperlink" Target="https://www.insidehighered.com/views/2023/03/16/how-recover-pandemic-learning-loss-opinionhttps://www.pomona.edu/administration/president"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3"/>
          <p:cNvSpPr txBox="1"/>
          <p:nvPr>
            <p:ph type="title"/>
          </p:nvPr>
        </p:nvSpPr>
        <p:spPr>
          <a:xfrm>
            <a:off x="322725" y="959925"/>
            <a:ext cx="7472400" cy="182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700"/>
              <a:t>New learners, new challenges, </a:t>
            </a:r>
            <a:endParaRPr sz="3700"/>
          </a:p>
          <a:p>
            <a:pPr indent="0" lvl="0" marL="0" rtl="0" algn="l">
              <a:spcBef>
                <a:spcPts val="0"/>
              </a:spcBef>
              <a:spcAft>
                <a:spcPts val="0"/>
              </a:spcAft>
              <a:buNone/>
            </a:pPr>
            <a:r>
              <a:rPr lang="en" sz="3700"/>
              <a:t>and new opportunities: </a:t>
            </a:r>
            <a:endParaRPr sz="3700"/>
          </a:p>
          <a:p>
            <a:pPr indent="0" lvl="0" marL="0" rtl="0" algn="l">
              <a:spcBef>
                <a:spcPts val="0"/>
              </a:spcBef>
              <a:spcAft>
                <a:spcPts val="0"/>
              </a:spcAft>
              <a:buNone/>
            </a:pPr>
            <a:r>
              <a:rPr lang="en" sz="2100"/>
              <a:t>Accessibility and Universal Design in post-pandemic higher education classrooms</a:t>
            </a:r>
            <a:endParaRPr sz="3700"/>
          </a:p>
        </p:txBody>
      </p:sp>
      <p:sp>
        <p:nvSpPr>
          <p:cNvPr id="53" name="Google Shape;53;p13"/>
          <p:cNvSpPr txBox="1"/>
          <p:nvPr>
            <p:ph idx="1" type="subTitle"/>
          </p:nvPr>
        </p:nvSpPr>
        <p:spPr>
          <a:xfrm>
            <a:off x="322725" y="2845525"/>
            <a:ext cx="7472400" cy="126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Kem Saichaie, PhD</a:t>
            </a:r>
            <a:endParaRPr sz="1200"/>
          </a:p>
          <a:p>
            <a:pPr indent="0" lvl="0" marL="0" rtl="0" algn="l">
              <a:spcBef>
                <a:spcPts val="0"/>
              </a:spcBef>
              <a:spcAft>
                <a:spcPts val="0"/>
              </a:spcAft>
              <a:buNone/>
            </a:pPr>
            <a:r>
              <a:rPr lang="en" sz="1200"/>
              <a:t>Inaugural Executive Director</a:t>
            </a:r>
            <a:endParaRPr sz="1200"/>
          </a:p>
          <a:p>
            <a:pPr indent="0" lvl="0" marL="0" rtl="0" algn="l">
              <a:spcBef>
                <a:spcPts val="0"/>
              </a:spcBef>
              <a:spcAft>
                <a:spcPts val="0"/>
              </a:spcAft>
              <a:buNone/>
            </a:pPr>
            <a:r>
              <a:rPr lang="en" sz="1200"/>
              <a:t>UCLA Teaching and Learning Center</a:t>
            </a:r>
            <a:endParaRPr sz="1200"/>
          </a:p>
          <a:p>
            <a:pPr indent="0" lvl="0" marL="0" rtl="0" algn="l">
              <a:spcBef>
                <a:spcPts val="0"/>
              </a:spcBef>
              <a:spcAft>
                <a:spcPts val="0"/>
              </a:spcAft>
              <a:buNone/>
            </a:pPr>
            <a:r>
              <a:rPr lang="en" sz="1200"/>
              <a:t>ksaichaie@teaching.ucla.edu</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May 14, 2026</a:t>
            </a:r>
            <a:endParaRPr sz="1200"/>
          </a:p>
          <a:p>
            <a:pPr indent="0" lvl="0" marL="0" rtl="0" algn="l">
              <a:spcBef>
                <a:spcPts val="0"/>
              </a:spcBef>
              <a:spcAft>
                <a:spcPts val="0"/>
              </a:spcAft>
              <a:buNone/>
            </a:pPr>
            <a:r>
              <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4"/>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8161396" y="161195"/>
            <a:ext cx="412500" cy="309300"/>
          </a:xfrm>
          <a:prstGeom prst="rect">
            <a:avLst/>
          </a:prstGeom>
          <a:solidFill>
            <a:srgbClr val="FFFFFF"/>
          </a:solidFill>
          <a:ln>
            <a:noFill/>
          </a:ln>
        </p:spPr>
        <p:txBody>
          <a:bodyPr anchorCtr="0" anchor="ctr" bIns="89075" lIns="89075" spcFirstLastPara="1" rIns="89075" wrap="square" tIns="89075">
            <a:noAutofit/>
          </a:bodyPr>
          <a:lstStyle/>
          <a:p>
            <a:pPr indent="0" lvl="0" marL="0" rtl="0" algn="ctr">
              <a:spcBef>
                <a:spcPts val="0"/>
              </a:spcBef>
              <a:spcAft>
                <a:spcPts val="0"/>
              </a:spcAft>
              <a:buNone/>
            </a:pPr>
            <a:r>
              <a:t/>
            </a:r>
            <a:endParaRPr sz="1364">
              <a:latin typeface="Helvetica Neue"/>
              <a:ea typeface="Helvetica Neue"/>
              <a:cs typeface="Helvetica Neue"/>
              <a:sym typeface="Helvetica Neue"/>
            </a:endParaRPr>
          </a:p>
        </p:txBody>
      </p:sp>
      <p:pic>
        <p:nvPicPr>
          <p:cNvPr id="61" name="Google Shape;61;p14"/>
          <p:cNvPicPr preferRelativeResize="0"/>
          <p:nvPr/>
        </p:nvPicPr>
        <p:blipFill>
          <a:blip r:embed="rId3">
            <a:alphaModFix/>
          </a:blip>
          <a:stretch>
            <a:fillRect/>
          </a:stretch>
        </p:blipFill>
        <p:spPr>
          <a:xfrm>
            <a:off x="198800" y="152400"/>
            <a:ext cx="8746388" cy="4838700"/>
          </a:xfrm>
          <a:prstGeom prst="rect">
            <a:avLst/>
          </a:prstGeom>
          <a:noFill/>
          <a:ln>
            <a:noFill/>
          </a:ln>
        </p:spPr>
      </p:pic>
      <p:sp>
        <p:nvSpPr>
          <p:cNvPr id="62" name="Google Shape;62;p14"/>
          <p:cNvSpPr/>
          <p:nvPr/>
        </p:nvSpPr>
        <p:spPr>
          <a:xfrm>
            <a:off x="8342975" y="219200"/>
            <a:ext cx="423300" cy="323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a:off x="8161396" y="161195"/>
            <a:ext cx="412500" cy="309300"/>
          </a:xfrm>
          <a:prstGeom prst="rect">
            <a:avLst/>
          </a:prstGeom>
          <a:solidFill>
            <a:srgbClr val="FFFFFF"/>
          </a:solidFill>
          <a:ln>
            <a:noFill/>
          </a:ln>
        </p:spPr>
        <p:txBody>
          <a:bodyPr anchorCtr="0" anchor="ctr" bIns="89075" lIns="89075" spcFirstLastPara="1" rIns="89075" wrap="square" tIns="89075">
            <a:noAutofit/>
          </a:bodyPr>
          <a:lstStyle/>
          <a:p>
            <a:pPr indent="0" lvl="0" marL="0" rtl="0" algn="ctr">
              <a:spcBef>
                <a:spcPts val="0"/>
              </a:spcBef>
              <a:spcAft>
                <a:spcPts val="0"/>
              </a:spcAft>
              <a:buNone/>
            </a:pPr>
            <a:r>
              <a:t/>
            </a:r>
            <a:endParaRPr sz="1364">
              <a:latin typeface="Helvetica Neue"/>
              <a:ea typeface="Helvetica Neue"/>
              <a:cs typeface="Helvetica Neue"/>
              <a:sym typeface="Helvetica Neue"/>
            </a:endParaRPr>
          </a:p>
        </p:txBody>
      </p:sp>
      <p:pic>
        <p:nvPicPr>
          <p:cNvPr id="70" name="Google Shape;70;p15"/>
          <p:cNvPicPr preferRelativeResize="0"/>
          <p:nvPr/>
        </p:nvPicPr>
        <p:blipFill rotWithShape="1">
          <a:blip r:embed="rId3">
            <a:alphaModFix/>
          </a:blip>
          <a:srcRect b="0" l="0" r="0" t="0"/>
          <a:stretch/>
        </p:blipFill>
        <p:spPr>
          <a:xfrm>
            <a:off x="270925" y="233200"/>
            <a:ext cx="8602138" cy="4838702"/>
          </a:xfrm>
          <a:prstGeom prst="rect">
            <a:avLst/>
          </a:prstGeom>
          <a:noFill/>
          <a:ln>
            <a:noFill/>
          </a:ln>
        </p:spPr>
      </p:pic>
      <p:sp>
        <p:nvSpPr>
          <p:cNvPr id="71" name="Google Shape;71;p15"/>
          <p:cNvSpPr/>
          <p:nvPr/>
        </p:nvSpPr>
        <p:spPr>
          <a:xfrm>
            <a:off x="8047025" y="445025"/>
            <a:ext cx="423300" cy="323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graphicFrame>
        <p:nvGraphicFramePr>
          <p:cNvPr id="76" name="Google Shape;76;p16"/>
          <p:cNvGraphicFramePr/>
          <p:nvPr/>
        </p:nvGraphicFramePr>
        <p:xfrm>
          <a:off x="490513" y="1679450"/>
          <a:ext cx="3000000" cy="3000000"/>
        </p:xfrm>
        <a:graphic>
          <a:graphicData uri="http://schemas.openxmlformats.org/drawingml/2006/table">
            <a:tbl>
              <a:tblPr>
                <a:noFill/>
                <a:tableStyleId>{FE8A0DE2-4BD3-4731-8C38-A835F9A883E6}</a:tableStyleId>
              </a:tblPr>
              <a:tblGrid>
                <a:gridCol w="1357850"/>
                <a:gridCol w="1357850"/>
                <a:gridCol w="1373725"/>
                <a:gridCol w="1326075"/>
                <a:gridCol w="1389600"/>
                <a:gridCol w="1357850"/>
              </a:tblGrid>
              <a:tr h="3166925">
                <a:tc>
                  <a:txBody>
                    <a:bodyPr/>
                    <a:lstStyle/>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Inaugural Executive Director</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UCLA Teaching and Learning Center</a:t>
                      </a:r>
                      <a:endParaRPr sz="1000">
                        <a:latin typeface="Helvetica Neue"/>
                        <a:ea typeface="Helvetica Neue"/>
                        <a:cs typeface="Helvetica Neue"/>
                        <a:sym typeface="Helvetica Neue"/>
                      </a:endParaRPr>
                    </a:p>
                  </a:txBody>
                  <a:tcPr marT="161675" marB="161675" marR="161675" marL="1616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E7E4DD"/>
                    </a:solidFill>
                  </a:tcPr>
                </a:tc>
                <a:tc>
                  <a:txBody>
                    <a:bodyPr/>
                    <a:lstStyle/>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Inaugural Executive Director</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Center for Educational Effectiveness</a:t>
                      </a:r>
                      <a:endParaRPr sz="10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Educational Specialist</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Center for Excellence in Teaching &amp; Learning</a:t>
                      </a:r>
                      <a:endParaRPr sz="10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Lecturer</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School of Education</a:t>
                      </a:r>
                      <a:endParaRPr sz="1000">
                        <a:latin typeface="Helvetica Neue"/>
                        <a:ea typeface="Helvetica Neue"/>
                        <a:cs typeface="Helvetica Neue"/>
                        <a:sym typeface="Helvetica Neue"/>
                      </a:endParaRPr>
                    </a:p>
                  </a:txBody>
                  <a:tcPr marT="161675" marB="161675" marR="161675" marL="1616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E7E4DD"/>
                    </a:solidFill>
                  </a:tcPr>
                </a:tc>
                <a:tc>
                  <a:txBody>
                    <a:bodyPr/>
                    <a:lstStyle/>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Director of Educational Technology</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Center for Teaching and Faculty Development</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Adjunct Faculty</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Department of Educational Policy, Research, and Administration</a:t>
                      </a:r>
                      <a:endParaRPr sz="1000">
                        <a:latin typeface="Helvetica Neue"/>
                        <a:ea typeface="Helvetica Neue"/>
                        <a:cs typeface="Helvetica Neue"/>
                        <a:sym typeface="Helvetica Neue"/>
                      </a:endParaRPr>
                    </a:p>
                  </a:txBody>
                  <a:tcPr marT="161675" marB="161675" marR="161675" marL="1616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E7E4DD"/>
                    </a:solidFill>
                  </a:tcPr>
                </a:tc>
                <a:tc>
                  <a:txBody>
                    <a:bodyPr/>
                    <a:lstStyle/>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Academic Technology Consultant &amp; Researcher</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Office of Information Technology</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Affiliate Faculty</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Department of Organizational Leadership, Policy, and Development</a:t>
                      </a:r>
                      <a:endParaRPr sz="1000">
                        <a:latin typeface="Helvetica Neue"/>
                        <a:ea typeface="Helvetica Neue"/>
                        <a:cs typeface="Helvetica Neue"/>
                        <a:sym typeface="Helvetica Neue"/>
                      </a:endParaRPr>
                    </a:p>
                  </a:txBody>
                  <a:tcPr marT="161675" marB="161675" marR="161675" marL="1616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E7E4DD"/>
                    </a:solidFill>
                  </a:tcPr>
                </a:tc>
                <a:tc>
                  <a:txBody>
                    <a:bodyPr/>
                    <a:lstStyle/>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Faculty Development Consultant</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Instructional Technology Services</a:t>
                      </a:r>
                      <a:endParaRPr sz="10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Teaching Assistant</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College of Education</a:t>
                      </a:r>
                      <a:endParaRPr sz="10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Multimedia Producer</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Office of Admissions</a:t>
                      </a:r>
                      <a:endParaRPr sz="1000">
                        <a:latin typeface="Helvetica Neue"/>
                        <a:ea typeface="Helvetica Neue"/>
                        <a:cs typeface="Helvetica Neue"/>
                        <a:sym typeface="Helvetica Neue"/>
                      </a:endParaRPr>
                    </a:p>
                  </a:txBody>
                  <a:tcPr marT="161675" marB="161675" marR="161675" marL="1616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E7E4DD"/>
                    </a:solidFill>
                  </a:tcPr>
                </a:tc>
                <a:tc>
                  <a:txBody>
                    <a:bodyPr/>
                    <a:lstStyle/>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Assistant Professor of Communication</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Department of Communication and Theatre Arts</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t/>
                      </a:r>
                      <a:endParaRPr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Director of</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b="1" lang="en" sz="1000">
                          <a:latin typeface="Helvetica Neue"/>
                          <a:ea typeface="Helvetica Neue"/>
                          <a:cs typeface="Helvetica Neue"/>
                          <a:sym typeface="Helvetica Neue"/>
                        </a:rPr>
                        <a:t>Mass Media</a:t>
                      </a:r>
                      <a:endParaRPr b="1" sz="1000">
                        <a:latin typeface="Helvetica Neue"/>
                        <a:ea typeface="Helvetica Neue"/>
                        <a:cs typeface="Helvetica Neue"/>
                        <a:sym typeface="Helvetica Neue"/>
                      </a:endParaRPr>
                    </a:p>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Faculty advisor and founder of online radio, television, and newspaper student media outlets</a:t>
                      </a:r>
                      <a:endParaRPr sz="1000">
                        <a:latin typeface="Helvetica Neue"/>
                        <a:ea typeface="Helvetica Neue"/>
                        <a:cs typeface="Helvetica Neue"/>
                        <a:sym typeface="Helvetica Neue"/>
                      </a:endParaRPr>
                    </a:p>
                  </a:txBody>
                  <a:tcPr marT="161675" marB="161675" marR="161675" marL="161675">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E7E4DD"/>
                    </a:solidFill>
                  </a:tcPr>
                </a:tc>
              </a:tr>
            </a:tbl>
          </a:graphicData>
        </a:graphic>
      </p:graphicFrame>
      <p:pic>
        <p:nvPicPr>
          <p:cNvPr id="77" name="Google Shape;77;p16"/>
          <p:cNvPicPr preferRelativeResize="0"/>
          <p:nvPr/>
        </p:nvPicPr>
        <p:blipFill>
          <a:blip r:embed="rId3">
            <a:alphaModFix/>
          </a:blip>
          <a:stretch>
            <a:fillRect/>
          </a:stretch>
        </p:blipFill>
        <p:spPr>
          <a:xfrm>
            <a:off x="1899475" y="1232200"/>
            <a:ext cx="1246351" cy="215425"/>
          </a:xfrm>
          <a:prstGeom prst="rect">
            <a:avLst/>
          </a:prstGeom>
          <a:noFill/>
          <a:ln>
            <a:noFill/>
          </a:ln>
        </p:spPr>
      </p:pic>
      <p:pic>
        <p:nvPicPr>
          <p:cNvPr id="78" name="Google Shape;78;p16"/>
          <p:cNvPicPr preferRelativeResize="0"/>
          <p:nvPr/>
        </p:nvPicPr>
        <p:blipFill>
          <a:blip r:embed="rId4">
            <a:alphaModFix/>
          </a:blip>
          <a:stretch>
            <a:fillRect/>
          </a:stretch>
        </p:blipFill>
        <p:spPr>
          <a:xfrm>
            <a:off x="3250107" y="1091056"/>
            <a:ext cx="1256755" cy="497675"/>
          </a:xfrm>
          <a:prstGeom prst="rect">
            <a:avLst/>
          </a:prstGeom>
          <a:noFill/>
          <a:ln>
            <a:noFill/>
          </a:ln>
        </p:spPr>
      </p:pic>
      <p:pic>
        <p:nvPicPr>
          <p:cNvPr id="79" name="Google Shape;79;p16" title="Bxd_Blk_TeachLearnCenter_B.png"/>
          <p:cNvPicPr preferRelativeResize="0"/>
          <p:nvPr/>
        </p:nvPicPr>
        <p:blipFill>
          <a:blip r:embed="rId5">
            <a:alphaModFix/>
          </a:blip>
          <a:stretch>
            <a:fillRect/>
          </a:stretch>
        </p:blipFill>
        <p:spPr>
          <a:xfrm>
            <a:off x="490525" y="1131677"/>
            <a:ext cx="1314704" cy="416425"/>
          </a:xfrm>
          <a:prstGeom prst="rect">
            <a:avLst/>
          </a:prstGeom>
          <a:noFill/>
          <a:ln>
            <a:noFill/>
          </a:ln>
        </p:spPr>
      </p:pic>
      <p:sp>
        <p:nvSpPr>
          <p:cNvPr id="80" name="Google Shape;80;p16"/>
          <p:cNvSpPr txBox="1"/>
          <p:nvPr/>
        </p:nvSpPr>
        <p:spPr>
          <a:xfrm>
            <a:off x="1573800" y="289625"/>
            <a:ext cx="5996400" cy="5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00000"/>
                </a:solidFill>
                <a:latin typeface="Helvetica Neue"/>
                <a:ea typeface="Helvetica Neue"/>
                <a:cs typeface="Helvetica Neue"/>
                <a:sym typeface="Helvetica Neue"/>
              </a:rPr>
              <a:t>Kem Saichaie (he/him)</a:t>
            </a:r>
            <a:endParaRPr b="1" sz="1800">
              <a:solidFill>
                <a:srgbClr val="000000"/>
              </a:solidFill>
              <a:latin typeface="Helvetica Neue"/>
              <a:ea typeface="Helvetica Neue"/>
              <a:cs typeface="Helvetica Neue"/>
              <a:sym typeface="Helvetica Neue"/>
            </a:endParaRPr>
          </a:p>
          <a:p>
            <a:pPr indent="0" lvl="0" marL="0" rtl="0" algn="ctr">
              <a:spcBef>
                <a:spcPts val="0"/>
              </a:spcBef>
              <a:spcAft>
                <a:spcPts val="0"/>
              </a:spcAft>
              <a:buNone/>
            </a:pPr>
            <a:r>
              <a:rPr b="1" lang="en" sz="1800">
                <a:solidFill>
                  <a:srgbClr val="000000"/>
                </a:solidFill>
                <a:latin typeface="Helvetica Neue"/>
                <a:ea typeface="Helvetica Neue"/>
                <a:cs typeface="Helvetica Neue"/>
                <a:sym typeface="Helvetica Neue"/>
              </a:rPr>
              <a:t>Chem Sigh-Chai</a:t>
            </a:r>
            <a:endParaRPr b="1" sz="1800">
              <a:solidFill>
                <a:srgbClr val="000000"/>
              </a:solidFill>
              <a:latin typeface="Helvetica Neue"/>
              <a:ea typeface="Helvetica Neue"/>
              <a:cs typeface="Helvetica Neue"/>
              <a:sym typeface="Helvetica Neue"/>
            </a:endParaRPr>
          </a:p>
        </p:txBody>
      </p:sp>
      <p:pic>
        <p:nvPicPr>
          <p:cNvPr id="81" name="Google Shape;81;p16" title="GLo 2025.jpg"/>
          <p:cNvPicPr preferRelativeResize="0"/>
          <p:nvPr/>
        </p:nvPicPr>
        <p:blipFill>
          <a:blip r:embed="rId6">
            <a:alphaModFix/>
          </a:blip>
          <a:stretch>
            <a:fillRect/>
          </a:stretch>
        </p:blipFill>
        <p:spPr>
          <a:xfrm>
            <a:off x="2498925" y="1743638"/>
            <a:ext cx="4146150" cy="3109624"/>
          </a:xfrm>
          <a:prstGeom prst="rect">
            <a:avLst/>
          </a:prstGeom>
          <a:noFill/>
          <a:ln>
            <a:noFill/>
          </a:ln>
          <a:effectLst>
            <a:outerShdw blurRad="57150" rotWithShape="0" algn="bl" dir="5400000" dist="19050">
              <a:srgbClr val="000000">
                <a:alpha val="50000"/>
              </a:srgbClr>
            </a:outerShdw>
          </a:effectLst>
        </p:spPr>
      </p:pic>
      <p:sp>
        <p:nvSpPr>
          <p:cNvPr id="82" name="Google Shape;82;p16"/>
          <p:cNvSpPr/>
          <p:nvPr/>
        </p:nvSpPr>
        <p:spPr>
          <a:xfrm>
            <a:off x="7326977" y="1206699"/>
            <a:ext cx="1246500" cy="266400"/>
          </a:xfrm>
          <a:prstGeom prst="rect">
            <a:avLst/>
          </a:prstGeom>
          <a:solidFill>
            <a:srgbClr val="073763"/>
          </a:solidFill>
          <a:ln cap="flat" cmpd="sng" w="4425">
            <a:solidFill>
              <a:srgbClr val="595959"/>
            </a:solidFill>
            <a:prstDash val="solid"/>
            <a:round/>
            <a:headEnd len="sm" w="sm" type="none"/>
            <a:tailEnd len="sm" w="sm" type="none"/>
          </a:ln>
        </p:spPr>
        <p:txBody>
          <a:bodyPr anchorCtr="0" anchor="ctr" bIns="42175" lIns="42175" spcFirstLastPara="1" rIns="42175" wrap="square" tIns="42175">
            <a:noAutofit/>
          </a:bodyPr>
          <a:lstStyle/>
          <a:p>
            <a:pPr indent="0" lvl="0" marL="0" rtl="0" algn="ctr">
              <a:spcBef>
                <a:spcPts val="0"/>
              </a:spcBef>
              <a:spcAft>
                <a:spcPts val="0"/>
              </a:spcAft>
              <a:buNone/>
            </a:pPr>
            <a:r>
              <a:t/>
            </a:r>
            <a:endParaRPr sz="646">
              <a:latin typeface="Helvetica Neue"/>
              <a:ea typeface="Helvetica Neue"/>
              <a:cs typeface="Helvetica Neue"/>
              <a:sym typeface="Helvetica Neue"/>
            </a:endParaRPr>
          </a:p>
        </p:txBody>
      </p:sp>
      <p:pic>
        <p:nvPicPr>
          <p:cNvPr id="83" name="Google Shape;83;p16"/>
          <p:cNvPicPr preferRelativeResize="0"/>
          <p:nvPr/>
        </p:nvPicPr>
        <p:blipFill>
          <a:blip r:embed="rId7">
            <a:alphaModFix/>
          </a:blip>
          <a:stretch>
            <a:fillRect/>
          </a:stretch>
        </p:blipFill>
        <p:spPr>
          <a:xfrm>
            <a:off x="7434190" y="1243840"/>
            <a:ext cx="1032063" cy="192139"/>
          </a:xfrm>
          <a:prstGeom prst="rect">
            <a:avLst/>
          </a:prstGeom>
          <a:noFill/>
          <a:ln>
            <a:noFill/>
          </a:ln>
        </p:spPr>
      </p:pic>
      <p:pic>
        <p:nvPicPr>
          <p:cNvPr id="84" name="Google Shape;84;p16"/>
          <p:cNvPicPr preferRelativeResize="0"/>
          <p:nvPr/>
        </p:nvPicPr>
        <p:blipFill>
          <a:blip r:embed="rId8">
            <a:alphaModFix/>
          </a:blip>
          <a:stretch>
            <a:fillRect/>
          </a:stretch>
        </p:blipFill>
        <p:spPr>
          <a:xfrm>
            <a:off x="4704974" y="1042300"/>
            <a:ext cx="1062850" cy="595200"/>
          </a:xfrm>
          <a:prstGeom prst="rect">
            <a:avLst/>
          </a:prstGeom>
          <a:noFill/>
          <a:ln>
            <a:noFill/>
          </a:ln>
        </p:spPr>
      </p:pic>
      <p:pic>
        <p:nvPicPr>
          <p:cNvPr id="85" name="Google Shape;85;p16"/>
          <p:cNvPicPr preferRelativeResize="0"/>
          <p:nvPr/>
        </p:nvPicPr>
        <p:blipFill>
          <a:blip r:embed="rId9">
            <a:alphaModFix/>
          </a:blip>
          <a:stretch>
            <a:fillRect/>
          </a:stretch>
        </p:blipFill>
        <p:spPr>
          <a:xfrm>
            <a:off x="6028403" y="1042300"/>
            <a:ext cx="1058135" cy="5952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nvSpPr>
        <p:spPr>
          <a:xfrm>
            <a:off x="2162400" y="333350"/>
            <a:ext cx="481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000000"/>
                </a:solidFill>
                <a:latin typeface="Helvetica Neue"/>
                <a:ea typeface="Helvetica Neue"/>
                <a:cs typeface="Helvetica Neue"/>
                <a:sym typeface="Helvetica Neue"/>
              </a:rPr>
              <a:t>Access Session Handout</a:t>
            </a:r>
            <a:endParaRPr b="1" sz="2400">
              <a:solidFill>
                <a:srgbClr val="000000"/>
              </a:solidFill>
              <a:latin typeface="Helvetica Neue"/>
              <a:ea typeface="Helvetica Neue"/>
              <a:cs typeface="Helvetica Neue"/>
              <a:sym typeface="Helvetica Neue"/>
            </a:endParaRPr>
          </a:p>
        </p:txBody>
      </p:sp>
      <p:sp>
        <p:nvSpPr>
          <p:cNvPr id="91" name="Google Shape;91;p17"/>
          <p:cNvSpPr txBox="1"/>
          <p:nvPr/>
        </p:nvSpPr>
        <p:spPr>
          <a:xfrm>
            <a:off x="886950" y="887450"/>
            <a:ext cx="7370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u="sng">
                <a:solidFill>
                  <a:srgbClr val="000000"/>
                </a:solidFill>
                <a:latin typeface="Helvetica Neue"/>
                <a:ea typeface="Helvetica Neue"/>
                <a:cs typeface="Helvetica Neue"/>
                <a:sym typeface="Helvetica Neue"/>
                <a:hlinkClick r:id="rId3">
                  <a:extLst>
                    <a:ext uri="{A12FA001-AC4F-418D-AE19-62706E023703}">
                      <ahyp:hlinkClr val="tx"/>
                    </a:ext>
                  </a:extLst>
                </a:hlinkClick>
              </a:rPr>
              <a:t>https://tinyurl.com/UCD-1-14-2026</a:t>
            </a:r>
            <a:endParaRPr b="1" sz="3000">
              <a:solidFill>
                <a:srgbClr val="000000"/>
              </a:solidFill>
              <a:latin typeface="Helvetica Neue"/>
              <a:ea typeface="Helvetica Neue"/>
              <a:cs typeface="Helvetica Neue"/>
              <a:sym typeface="Helvetica Neue"/>
            </a:endParaRPr>
          </a:p>
        </p:txBody>
      </p:sp>
      <p:pic>
        <p:nvPicPr>
          <p:cNvPr id="92" name="Google Shape;92;p17"/>
          <p:cNvPicPr preferRelativeResize="0"/>
          <p:nvPr/>
        </p:nvPicPr>
        <p:blipFill>
          <a:blip r:embed="rId4">
            <a:alphaModFix/>
          </a:blip>
          <a:stretch>
            <a:fillRect/>
          </a:stretch>
        </p:blipFill>
        <p:spPr>
          <a:xfrm>
            <a:off x="2162400" y="1750450"/>
            <a:ext cx="4819200" cy="2561625"/>
          </a:xfrm>
          <a:prstGeom prst="rect">
            <a:avLst/>
          </a:prstGeom>
          <a:solidFill>
            <a:srgbClr val="4285F4"/>
          </a:solidFill>
          <a:ln>
            <a:noFill/>
          </a:ln>
          <a:effectLst>
            <a:outerShdw blurRad="57150" rotWithShape="0" algn="bl" dir="5400000" dist="19050">
              <a:srgbClr val="000000">
                <a:alpha val="50000"/>
              </a:srgbClr>
            </a:outerShdw>
          </a:effectLst>
        </p:spPr>
      </p:pic>
      <p:pic>
        <p:nvPicPr>
          <p:cNvPr id="93" name="Google Shape;93;p17" title="UCD-1-14-2026-qr.png"/>
          <p:cNvPicPr preferRelativeResize="0"/>
          <p:nvPr/>
        </p:nvPicPr>
        <p:blipFill>
          <a:blip r:embed="rId5">
            <a:alphaModFix/>
          </a:blip>
          <a:stretch>
            <a:fillRect/>
          </a:stretch>
        </p:blipFill>
        <p:spPr>
          <a:xfrm>
            <a:off x="7801100" y="3621950"/>
            <a:ext cx="1154050" cy="1154050"/>
          </a:xfrm>
          <a:prstGeom prst="rect">
            <a:avLst/>
          </a:prstGeom>
          <a:noFill/>
          <a:ln>
            <a:noFill/>
          </a:ln>
        </p:spPr>
      </p:pic>
      <p:sp>
        <p:nvSpPr>
          <p:cNvPr id="94" name="Google Shape;94;p17"/>
          <p:cNvSpPr/>
          <p:nvPr/>
        </p:nvSpPr>
        <p:spPr>
          <a:xfrm rot="2698000">
            <a:off x="3008105" y="3622614"/>
            <a:ext cx="1093965" cy="716158"/>
          </a:xfrm>
          <a:prstGeom prst="leftArrow">
            <a:avLst>
              <a:gd fmla="val 50000" name="adj1"/>
              <a:gd fmla="val 50000" name="adj2"/>
            </a:avLst>
          </a:prstGeom>
          <a:solidFill>
            <a:srgbClr val="4285F4"/>
          </a:solid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nvSpPr>
        <p:spPr>
          <a:xfrm>
            <a:off x="2210375" y="109375"/>
            <a:ext cx="4819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000000"/>
                </a:solidFill>
                <a:latin typeface="Helvetica Neue"/>
                <a:ea typeface="Helvetica Neue"/>
                <a:cs typeface="Helvetica Neue"/>
                <a:sym typeface="Helvetica Neue"/>
              </a:rPr>
              <a:t>Navigate via Document Tabs</a:t>
            </a:r>
            <a:endParaRPr b="1" sz="2400">
              <a:solidFill>
                <a:srgbClr val="000000"/>
              </a:solidFill>
              <a:latin typeface="Helvetica Neue"/>
              <a:ea typeface="Helvetica Neue"/>
              <a:cs typeface="Helvetica Neue"/>
              <a:sym typeface="Helvetica Neue"/>
            </a:endParaRPr>
          </a:p>
        </p:txBody>
      </p:sp>
      <p:pic>
        <p:nvPicPr>
          <p:cNvPr id="100" name="Google Shape;100;p18"/>
          <p:cNvPicPr preferRelativeResize="0"/>
          <p:nvPr/>
        </p:nvPicPr>
        <p:blipFill>
          <a:blip r:embed="rId3">
            <a:alphaModFix/>
          </a:blip>
          <a:stretch>
            <a:fillRect/>
          </a:stretch>
        </p:blipFill>
        <p:spPr>
          <a:xfrm>
            <a:off x="184725" y="742500"/>
            <a:ext cx="8141000" cy="3818151"/>
          </a:xfrm>
          <a:prstGeom prst="rect">
            <a:avLst/>
          </a:prstGeom>
          <a:solidFill>
            <a:srgbClr val="4285F4"/>
          </a:solidFill>
          <a:ln>
            <a:noFill/>
          </a:ln>
          <a:effectLst>
            <a:outerShdw blurRad="57150" rotWithShape="0" algn="bl" dir="5400000" dist="19050">
              <a:srgbClr val="000000">
                <a:alpha val="50000"/>
              </a:srgbClr>
            </a:outerShdw>
          </a:effectLst>
        </p:spPr>
      </p:pic>
      <p:pic>
        <p:nvPicPr>
          <p:cNvPr id="101" name="Google Shape;101;p18"/>
          <p:cNvPicPr preferRelativeResize="0"/>
          <p:nvPr/>
        </p:nvPicPr>
        <p:blipFill>
          <a:blip r:embed="rId4">
            <a:alphaModFix/>
          </a:blip>
          <a:stretch>
            <a:fillRect/>
          </a:stretch>
        </p:blipFill>
        <p:spPr>
          <a:xfrm>
            <a:off x="590029" y="815875"/>
            <a:ext cx="6438124" cy="4005500"/>
          </a:xfrm>
          <a:prstGeom prst="rect">
            <a:avLst/>
          </a:prstGeom>
          <a:noFill/>
          <a:ln>
            <a:noFill/>
          </a:ln>
          <a:effectLst>
            <a:outerShdw blurRad="57150" rotWithShape="0" algn="bl" dir="5400000" dist="19050">
              <a:srgbClr val="000000">
                <a:alpha val="50000"/>
              </a:srgbClr>
            </a:outerShdw>
          </a:effectLst>
        </p:spPr>
      </p:pic>
      <p:sp>
        <p:nvSpPr>
          <p:cNvPr id="102" name="Google Shape;102;p18"/>
          <p:cNvSpPr/>
          <p:nvPr/>
        </p:nvSpPr>
        <p:spPr>
          <a:xfrm rot="-1896635">
            <a:off x="828257" y="457970"/>
            <a:ext cx="1093785" cy="716120"/>
          </a:xfrm>
          <a:prstGeom prst="leftArrow">
            <a:avLst>
              <a:gd fmla="val 50000" name="adj1"/>
              <a:gd fmla="val 50000" name="adj2"/>
            </a:avLst>
          </a:prstGeom>
          <a:solidFill>
            <a:srgbClr val="4285F4"/>
          </a:solid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19"/>
          <p:cNvPicPr preferRelativeResize="0"/>
          <p:nvPr/>
        </p:nvPicPr>
        <p:blipFill>
          <a:blip r:embed="rId3">
            <a:alphaModFix/>
          </a:blip>
          <a:stretch>
            <a:fillRect/>
          </a:stretch>
        </p:blipFill>
        <p:spPr>
          <a:xfrm>
            <a:off x="7460650" y="142875"/>
            <a:ext cx="952500" cy="4867274"/>
          </a:xfrm>
          <a:prstGeom prst="rect">
            <a:avLst/>
          </a:prstGeom>
          <a:noFill/>
          <a:ln>
            <a:noFill/>
          </a:ln>
        </p:spPr>
      </p:pic>
      <p:sp>
        <p:nvSpPr>
          <p:cNvPr id="108" name="Google Shape;108;p19"/>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Warm-Up</a:t>
            </a:r>
            <a:endParaRPr b="1" sz="2800">
              <a:solidFill>
                <a:srgbClr val="000000"/>
              </a:solidFill>
              <a:latin typeface="Helvetica Neue"/>
              <a:ea typeface="Helvetica Neue"/>
              <a:cs typeface="Helvetica Neue"/>
              <a:sym typeface="Helvetica Neue"/>
            </a:endParaRPr>
          </a:p>
        </p:txBody>
      </p:sp>
      <p:sp>
        <p:nvSpPr>
          <p:cNvPr id="109" name="Google Shape;109;p19"/>
          <p:cNvSpPr txBox="1"/>
          <p:nvPr/>
        </p:nvSpPr>
        <p:spPr>
          <a:xfrm>
            <a:off x="315725" y="1152350"/>
            <a:ext cx="8291700" cy="7185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1800">
                <a:solidFill>
                  <a:srgbClr val="000000"/>
                </a:solidFill>
                <a:latin typeface="Helvetica Neue"/>
                <a:ea typeface="Helvetica Neue"/>
                <a:cs typeface="Helvetica Neue"/>
                <a:sym typeface="Helvetica Neue"/>
              </a:rPr>
              <a:t>One word to describe your learners in 2025? </a:t>
            </a:r>
            <a:endParaRPr b="1" sz="1800">
              <a:solidFill>
                <a:srgbClr val="000000"/>
              </a:solidFill>
              <a:latin typeface="Helvetica Neue"/>
              <a:ea typeface="Helvetica Neue"/>
              <a:cs typeface="Helvetica Neue"/>
              <a:sym typeface="Helvetica Neue"/>
            </a:endParaRPr>
          </a:p>
        </p:txBody>
      </p:sp>
      <p:sp>
        <p:nvSpPr>
          <p:cNvPr id="110" name="Google Shape;110;p19"/>
          <p:cNvSpPr txBox="1"/>
          <p:nvPr/>
        </p:nvSpPr>
        <p:spPr>
          <a:xfrm>
            <a:off x="303725" y="2212500"/>
            <a:ext cx="8315700" cy="718500"/>
          </a:xfrm>
          <a:prstGeom prst="rect">
            <a:avLst/>
          </a:prstGeom>
          <a:solidFill>
            <a:schemeClr val="accent3"/>
          </a:solidFill>
          <a:ln cap="flat" cmpd="sng" w="1905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1800">
                <a:solidFill>
                  <a:srgbClr val="000000"/>
                </a:solidFill>
                <a:latin typeface="Helvetica Neue"/>
                <a:ea typeface="Helvetica Neue"/>
                <a:cs typeface="Helvetica Neue"/>
                <a:sym typeface="Helvetica Neue"/>
              </a:rPr>
              <a:t>One word to describe your </a:t>
            </a:r>
            <a:r>
              <a:rPr b="1" i="1" lang="en" sz="1800" u="sng">
                <a:solidFill>
                  <a:srgbClr val="000000"/>
                </a:solidFill>
                <a:latin typeface="Helvetica Neue"/>
                <a:ea typeface="Helvetica Neue"/>
                <a:cs typeface="Helvetica Neue"/>
                <a:sym typeface="Helvetica Neue"/>
              </a:rPr>
              <a:t>hope</a:t>
            </a:r>
            <a:r>
              <a:rPr b="1" lang="en" sz="1800">
                <a:solidFill>
                  <a:srgbClr val="000000"/>
                </a:solidFill>
                <a:latin typeface="Helvetica Neue"/>
                <a:ea typeface="Helvetica Neue"/>
                <a:cs typeface="Helvetica Neue"/>
                <a:sym typeface="Helvetica Neue"/>
              </a:rPr>
              <a:t> learners in 2026? </a:t>
            </a:r>
            <a:endParaRPr b="1" sz="1800">
              <a:solidFill>
                <a:srgbClr val="000000"/>
              </a:solidFill>
              <a:latin typeface="Helvetica Neue"/>
              <a:ea typeface="Helvetica Neue"/>
              <a:cs typeface="Helvetica Neue"/>
              <a:sym typeface="Helvetica Neue"/>
            </a:endParaRPr>
          </a:p>
        </p:txBody>
      </p:sp>
      <p:sp>
        <p:nvSpPr>
          <p:cNvPr id="111" name="Google Shape;111;p19"/>
          <p:cNvSpPr txBox="1"/>
          <p:nvPr/>
        </p:nvSpPr>
        <p:spPr>
          <a:xfrm>
            <a:off x="315725" y="3272650"/>
            <a:ext cx="8291700" cy="718500"/>
          </a:xfrm>
          <a:prstGeom prst="rect">
            <a:avLst/>
          </a:prstGeom>
          <a:solidFill>
            <a:srgbClr val="005587"/>
          </a:solidFill>
          <a:ln cap="flat" cmpd="sng" w="1905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1800">
                <a:solidFill>
                  <a:srgbClr val="FFFFFF"/>
                </a:solidFill>
                <a:latin typeface="Helvetica Neue"/>
                <a:ea typeface="Helvetica Neue"/>
                <a:cs typeface="Helvetica Neue"/>
                <a:sym typeface="Helvetica Neue"/>
              </a:rPr>
              <a:t>One word to describe your </a:t>
            </a:r>
            <a:r>
              <a:rPr b="1" i="1" lang="en" sz="1800" u="sng">
                <a:solidFill>
                  <a:srgbClr val="FFFFFF"/>
                </a:solidFill>
                <a:latin typeface="Helvetica Neue"/>
                <a:ea typeface="Helvetica Neue"/>
                <a:cs typeface="Helvetica Neue"/>
                <a:sym typeface="Helvetica Neue"/>
              </a:rPr>
              <a:t>goal</a:t>
            </a:r>
            <a:r>
              <a:rPr b="1" lang="en" sz="1800">
                <a:solidFill>
                  <a:srgbClr val="FFFFFF"/>
                </a:solidFill>
                <a:latin typeface="Helvetica Neue"/>
                <a:ea typeface="Helvetica Neue"/>
                <a:cs typeface="Helvetica Neue"/>
                <a:sym typeface="Helvetica Neue"/>
              </a:rPr>
              <a:t> learners in 2026?</a:t>
            </a:r>
            <a:r>
              <a:rPr b="1" lang="en" sz="1800">
                <a:solidFill>
                  <a:srgbClr val="000000"/>
                </a:solidFill>
                <a:latin typeface="Helvetica Neue"/>
                <a:ea typeface="Helvetica Neue"/>
                <a:cs typeface="Helvetica Neue"/>
                <a:sym typeface="Helvetica Neue"/>
              </a:rPr>
              <a:t> </a:t>
            </a:r>
            <a:endParaRPr b="1" sz="1800">
              <a:solidFill>
                <a:srgbClr val="000000"/>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nvSpPr>
        <p:spPr>
          <a:xfrm>
            <a:off x="263700" y="27667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Pre-Reading Recap</a:t>
            </a:r>
            <a:endParaRPr b="1" sz="2800">
              <a:solidFill>
                <a:srgbClr val="000000"/>
              </a:solidFill>
              <a:latin typeface="Helvetica Neue"/>
              <a:ea typeface="Helvetica Neue"/>
              <a:cs typeface="Helvetica Neue"/>
              <a:sym typeface="Helvetica Neue"/>
            </a:endParaRPr>
          </a:p>
        </p:txBody>
      </p:sp>
      <p:pic>
        <p:nvPicPr>
          <p:cNvPr id="117" name="Google Shape;117;p20"/>
          <p:cNvPicPr preferRelativeResize="0"/>
          <p:nvPr/>
        </p:nvPicPr>
        <p:blipFill>
          <a:blip r:embed="rId3">
            <a:alphaModFix/>
          </a:blip>
          <a:stretch>
            <a:fillRect/>
          </a:stretch>
        </p:blipFill>
        <p:spPr>
          <a:xfrm>
            <a:off x="311700" y="1083100"/>
            <a:ext cx="2865747" cy="2678100"/>
          </a:xfrm>
          <a:prstGeom prst="rect">
            <a:avLst/>
          </a:prstGeom>
          <a:noFill/>
          <a:ln>
            <a:noFill/>
          </a:ln>
          <a:effectLst>
            <a:outerShdw blurRad="57150" rotWithShape="0" algn="bl" dir="5400000" dist="19050">
              <a:srgbClr val="000000">
                <a:alpha val="50000"/>
              </a:srgbClr>
            </a:outerShdw>
          </a:effectLst>
        </p:spPr>
      </p:pic>
      <p:sp>
        <p:nvSpPr>
          <p:cNvPr id="118" name="Google Shape;118;p20"/>
          <p:cNvSpPr txBox="1"/>
          <p:nvPr/>
        </p:nvSpPr>
        <p:spPr>
          <a:xfrm>
            <a:off x="3836700" y="941750"/>
            <a:ext cx="49956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rgbClr val="000000"/>
                </a:solidFill>
                <a:latin typeface="Helvetica Neue"/>
                <a:ea typeface="Helvetica Neue"/>
                <a:cs typeface="Helvetica Neue"/>
                <a:sym typeface="Helvetica Neue"/>
              </a:rPr>
              <a:t>Prompts: </a:t>
            </a:r>
            <a:endParaRPr sz="1800" u="sng">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lang="en" sz="1800">
                <a:solidFill>
                  <a:srgbClr val="000000"/>
                </a:solidFill>
                <a:latin typeface="Helvetica Neue"/>
                <a:ea typeface="Helvetica Neue"/>
                <a:cs typeface="Helvetica Neue"/>
                <a:sym typeface="Helvetica Neue"/>
              </a:rPr>
              <a:t>How do you make every minute count in your classroom? </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lang="en" sz="1800">
                <a:solidFill>
                  <a:srgbClr val="000000"/>
                </a:solidFill>
                <a:latin typeface="Helvetica Neue"/>
                <a:ea typeface="Helvetica Neue"/>
                <a:cs typeface="Helvetica Neue"/>
                <a:sym typeface="Helvetica Neue"/>
              </a:rPr>
              <a:t>Based on the pre-reading, what was the most surprising shift in student needs you identified?</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lang="en" sz="1800" u="sng">
                <a:solidFill>
                  <a:srgbClr val="000000"/>
                </a:solidFill>
                <a:latin typeface="Helvetica Neue"/>
                <a:ea typeface="Helvetica Neue"/>
                <a:cs typeface="Helvetica Neue"/>
                <a:sym typeface="Helvetica Neue"/>
              </a:rPr>
              <a:t>Small Group Discussion:</a:t>
            </a:r>
            <a:r>
              <a:rPr lang="en" sz="1800">
                <a:solidFill>
                  <a:srgbClr val="000000"/>
                </a:solidFill>
                <a:latin typeface="Helvetica Neue"/>
                <a:ea typeface="Helvetica Neue"/>
                <a:cs typeface="Helvetica Neue"/>
                <a:sym typeface="Helvetica Neue"/>
              </a:rPr>
              <a:t> </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lang="en" sz="1800">
                <a:solidFill>
                  <a:srgbClr val="000000"/>
                </a:solidFill>
                <a:latin typeface="Helvetica Neue"/>
                <a:ea typeface="Helvetica Neue"/>
                <a:cs typeface="Helvetica Neue"/>
                <a:sym typeface="Helvetica Neue"/>
              </a:rPr>
              <a:t>Briefly share how these shifts have manifested in your own classrooms/teaching.</a:t>
            </a:r>
            <a:endParaRPr sz="1800">
              <a:solidFill>
                <a:srgbClr val="000000"/>
              </a:solidFill>
              <a:latin typeface="Helvetica Neue"/>
              <a:ea typeface="Helvetica Neue"/>
              <a:cs typeface="Helvetica Neue"/>
              <a:sym typeface="Helvetica Neue"/>
            </a:endParaRPr>
          </a:p>
        </p:txBody>
      </p:sp>
      <p:pic>
        <p:nvPicPr>
          <p:cNvPr id="119" name="Google Shape;119;p20"/>
          <p:cNvPicPr preferRelativeResize="0"/>
          <p:nvPr/>
        </p:nvPicPr>
        <p:blipFill>
          <a:blip r:embed="rId4">
            <a:alphaModFix/>
          </a:blip>
          <a:stretch>
            <a:fillRect/>
          </a:stretch>
        </p:blipFill>
        <p:spPr>
          <a:xfrm>
            <a:off x="1202761" y="3783175"/>
            <a:ext cx="1083650" cy="1083650"/>
          </a:xfrm>
          <a:prstGeom prst="rect">
            <a:avLst/>
          </a:prstGeom>
          <a:noFill/>
          <a:ln>
            <a:noFill/>
          </a:ln>
        </p:spPr>
      </p:pic>
      <p:sp>
        <p:nvSpPr>
          <p:cNvPr id="120" name="Google Shape;120;p20"/>
          <p:cNvSpPr txBox="1"/>
          <p:nvPr/>
        </p:nvSpPr>
        <p:spPr>
          <a:xfrm>
            <a:off x="618975" y="744400"/>
            <a:ext cx="2251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00"/>
                </a:solidFill>
                <a:latin typeface="Helvetica Neue"/>
                <a:ea typeface="Helvetica Neue"/>
                <a:cs typeface="Helvetica Neue"/>
                <a:sym typeface="Helvetica Neue"/>
              </a:rPr>
              <a:t>Article: </a:t>
            </a:r>
            <a:r>
              <a:rPr lang="en" sz="1000" u="sng">
                <a:solidFill>
                  <a:srgbClr val="191919"/>
                </a:solidFill>
                <a:latin typeface="Helvetica Neue"/>
                <a:ea typeface="Helvetica Neue"/>
                <a:cs typeface="Helvetica Neue"/>
                <a:sym typeface="Helvetica Neue"/>
                <a:hlinkClick r:id="rId5">
                  <a:extLst>
                    <a:ext uri="{A12FA001-AC4F-418D-AE19-62706E023703}">
                      <ahyp:hlinkClr val="tx"/>
                    </a:ext>
                  </a:extLst>
                </a:hlinkClick>
              </a:rPr>
              <a:t>Making Every Minute Count</a:t>
            </a:r>
            <a:endParaRPr sz="1000">
              <a:solidFill>
                <a:srgbClr val="000000"/>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1"/>
          <p:cNvPicPr preferRelativeResize="0"/>
          <p:nvPr/>
        </p:nvPicPr>
        <p:blipFill>
          <a:blip r:embed="rId3">
            <a:alphaModFix/>
          </a:blip>
          <a:stretch>
            <a:fillRect/>
          </a:stretch>
        </p:blipFill>
        <p:spPr>
          <a:xfrm>
            <a:off x="0" y="445598"/>
            <a:ext cx="9144002" cy="3834054"/>
          </a:xfrm>
          <a:prstGeom prst="rect">
            <a:avLst/>
          </a:prstGeom>
          <a:noFill/>
          <a:ln>
            <a:noFill/>
          </a:ln>
        </p:spPr>
      </p:pic>
      <p:pic>
        <p:nvPicPr>
          <p:cNvPr id="126" name="Google Shape;126;p21"/>
          <p:cNvPicPr preferRelativeResize="0"/>
          <p:nvPr/>
        </p:nvPicPr>
        <p:blipFill>
          <a:blip r:embed="rId4">
            <a:alphaModFix/>
          </a:blip>
          <a:stretch>
            <a:fillRect/>
          </a:stretch>
        </p:blipFill>
        <p:spPr>
          <a:xfrm>
            <a:off x="168575" y="734525"/>
            <a:ext cx="2470112" cy="3545126"/>
          </a:xfrm>
          <a:prstGeom prst="rect">
            <a:avLst/>
          </a:prstGeom>
          <a:noFill/>
          <a:ln>
            <a:noFill/>
          </a:ln>
          <a:effectLst>
            <a:outerShdw blurRad="57150" rotWithShape="0" algn="bl" dir="5400000" dist="19050">
              <a:srgbClr val="000000">
                <a:alpha val="50000"/>
              </a:srgbClr>
            </a:outerShdw>
          </a:effectLst>
        </p:spPr>
      </p:pic>
      <p:sp>
        <p:nvSpPr>
          <p:cNvPr id="127" name="Google Shape;127;p21"/>
          <p:cNvSpPr txBox="1"/>
          <p:nvPr/>
        </p:nvSpPr>
        <p:spPr>
          <a:xfrm>
            <a:off x="168575" y="161850"/>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Post-pandemic Learning Landscape</a:t>
            </a:r>
            <a:endParaRPr b="1" sz="2800">
              <a:solidFill>
                <a:srgbClr val="000000"/>
              </a:solidFill>
              <a:latin typeface="Helvetica Neue"/>
              <a:ea typeface="Helvetica Neue"/>
              <a:cs typeface="Helvetica Neue"/>
              <a:sym typeface="Helvetica Neue"/>
            </a:endParaRPr>
          </a:p>
        </p:txBody>
      </p:sp>
      <p:pic>
        <p:nvPicPr>
          <p:cNvPr id="128" name="Google Shape;128;p21"/>
          <p:cNvPicPr preferRelativeResize="0"/>
          <p:nvPr/>
        </p:nvPicPr>
        <p:blipFill>
          <a:blip r:embed="rId5">
            <a:alphaModFix/>
          </a:blip>
          <a:stretch>
            <a:fillRect/>
          </a:stretch>
        </p:blipFill>
        <p:spPr>
          <a:xfrm>
            <a:off x="3057625" y="734538"/>
            <a:ext cx="2829123" cy="3545125"/>
          </a:xfrm>
          <a:prstGeom prst="rect">
            <a:avLst/>
          </a:prstGeom>
          <a:noFill/>
          <a:ln>
            <a:noFill/>
          </a:ln>
          <a:effectLst>
            <a:outerShdw blurRad="57150" rotWithShape="0" algn="bl" dir="5400000" dist="19050">
              <a:srgbClr val="000000">
                <a:alpha val="50000"/>
              </a:srgbClr>
            </a:outerShdw>
          </a:effectLst>
        </p:spPr>
      </p:pic>
      <p:pic>
        <p:nvPicPr>
          <p:cNvPr id="129" name="Google Shape;129;p21"/>
          <p:cNvPicPr preferRelativeResize="0"/>
          <p:nvPr/>
        </p:nvPicPr>
        <p:blipFill>
          <a:blip r:embed="rId6">
            <a:alphaModFix/>
          </a:blip>
          <a:stretch>
            <a:fillRect/>
          </a:stretch>
        </p:blipFill>
        <p:spPr>
          <a:xfrm>
            <a:off x="6362200" y="753100"/>
            <a:ext cx="2470099" cy="3507977"/>
          </a:xfrm>
          <a:prstGeom prst="rect">
            <a:avLst/>
          </a:prstGeom>
          <a:noFill/>
          <a:ln>
            <a:noFill/>
          </a:ln>
          <a:effectLst>
            <a:outerShdw blurRad="57150" rotWithShape="0" algn="bl" dir="5400000" dist="19050">
              <a:srgbClr val="000000">
                <a:alpha val="50000"/>
              </a:srgbClr>
            </a:outerShdw>
          </a:effectLst>
        </p:spPr>
      </p:pic>
      <p:sp>
        <p:nvSpPr>
          <p:cNvPr id="130" name="Google Shape;130;p21"/>
          <p:cNvSpPr txBox="1"/>
          <p:nvPr/>
        </p:nvSpPr>
        <p:spPr>
          <a:xfrm>
            <a:off x="140338" y="4261075"/>
            <a:ext cx="8663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rgbClr val="000000"/>
                </a:solidFill>
                <a:latin typeface="Helvetica Neue"/>
                <a:ea typeface="Helvetica Neue"/>
                <a:cs typeface="Helvetica Neue"/>
                <a:sym typeface="Helvetica Neue"/>
              </a:rPr>
              <a:t>Sources: </a:t>
            </a:r>
            <a:br>
              <a:rPr lang="en" sz="600">
                <a:solidFill>
                  <a:srgbClr val="000000"/>
                </a:solidFill>
                <a:latin typeface="Helvetica Neue"/>
                <a:ea typeface="Helvetica Neue"/>
                <a:cs typeface="Helvetica Neue"/>
                <a:sym typeface="Helvetica Neue"/>
              </a:rPr>
            </a:br>
            <a:r>
              <a:rPr lang="en" sz="600">
                <a:solidFill>
                  <a:srgbClr val="000000"/>
                </a:solidFill>
                <a:latin typeface="Helvetica Neue"/>
                <a:ea typeface="Helvetica Neue"/>
                <a:cs typeface="Helvetica Neue"/>
                <a:sym typeface="Helvetica Neue"/>
              </a:rPr>
              <a:t>Hagedorn, R. L., Wattick, R. A., &amp; Olfert, M. D. (2021). “My entire world stopped”: College students’ psychosocial and academic frustrations during the COVID-19 pandemic. Applied research in quality of life, 17(2), 1069; </a:t>
            </a:r>
            <a:r>
              <a:rPr lang="en" sz="600">
                <a:solidFill>
                  <a:srgbClr val="222222"/>
                </a:solidFill>
                <a:highlight>
                  <a:srgbClr val="FFFFFF"/>
                </a:highlight>
                <a:latin typeface="Helvetica Neue"/>
                <a:ea typeface="Helvetica Neue"/>
                <a:cs typeface="Helvetica Neue"/>
                <a:sym typeface="Helvetica Neue"/>
              </a:rPr>
              <a:t>Islam, R. K., Cobb, E. K., McCowan, H. K., Watson, K., Bhattacharya, K., Chandra, A., ... &amp; Nahar, V. K. (2025). Exploring mental health in veterinary students: common stressors and effective coping strategies: a narrative review. </a:t>
            </a:r>
            <a:r>
              <a:rPr i="1" lang="en" sz="600">
                <a:solidFill>
                  <a:srgbClr val="222222"/>
                </a:solidFill>
                <a:highlight>
                  <a:srgbClr val="FFFFFF"/>
                </a:highlight>
                <a:latin typeface="Helvetica Neue"/>
                <a:ea typeface="Helvetica Neue"/>
                <a:cs typeface="Helvetica Neue"/>
                <a:sym typeface="Helvetica Neue"/>
              </a:rPr>
              <a:t>Frontiers in veterinary science</a:t>
            </a:r>
            <a:r>
              <a:rPr lang="en" sz="600">
                <a:solidFill>
                  <a:srgbClr val="222222"/>
                </a:solidFill>
                <a:highlight>
                  <a:srgbClr val="FFFFFF"/>
                </a:highlight>
                <a:latin typeface="Helvetica Neue"/>
                <a:ea typeface="Helvetica Neue"/>
                <a:cs typeface="Helvetica Neue"/>
                <a:sym typeface="Helvetica Neue"/>
              </a:rPr>
              <a:t>, </a:t>
            </a:r>
            <a:r>
              <a:rPr i="1" lang="en" sz="600">
                <a:solidFill>
                  <a:srgbClr val="222222"/>
                </a:solidFill>
                <a:highlight>
                  <a:srgbClr val="FFFFFF"/>
                </a:highlight>
                <a:latin typeface="Helvetica Neue"/>
                <a:ea typeface="Helvetica Neue"/>
                <a:cs typeface="Helvetica Neue"/>
                <a:sym typeface="Helvetica Neue"/>
              </a:rPr>
              <a:t>12</a:t>
            </a:r>
            <a:r>
              <a:rPr lang="en" sz="600">
                <a:solidFill>
                  <a:srgbClr val="222222"/>
                </a:solidFill>
                <a:highlight>
                  <a:srgbClr val="FFFFFF"/>
                </a:highlight>
                <a:latin typeface="Helvetica Neue"/>
                <a:ea typeface="Helvetica Neue"/>
                <a:cs typeface="Helvetica Neue"/>
                <a:sym typeface="Helvetica Neue"/>
              </a:rPr>
              <a:t>, 1470022; Rodrigues, I. L., Nunes, T. P., Cortez, C. S., &amp; Lourenço, A. M. (2022). E-Learning impact on veterinary medical students’ mental health during the covid-19 pandemic. </a:t>
            </a:r>
            <a:r>
              <a:rPr i="1" lang="en" sz="600">
                <a:solidFill>
                  <a:srgbClr val="222222"/>
                </a:solidFill>
                <a:highlight>
                  <a:srgbClr val="FFFFFF"/>
                </a:highlight>
                <a:latin typeface="Helvetica Neue"/>
                <a:ea typeface="Helvetica Neue"/>
                <a:cs typeface="Helvetica Neue"/>
                <a:sym typeface="Helvetica Neue"/>
              </a:rPr>
              <a:t>Journal of Veterinary Medical Education</a:t>
            </a:r>
            <a:r>
              <a:rPr lang="en" sz="600">
                <a:solidFill>
                  <a:srgbClr val="222222"/>
                </a:solidFill>
                <a:highlight>
                  <a:srgbClr val="FFFFFF"/>
                </a:highlight>
                <a:latin typeface="Helvetica Neue"/>
                <a:ea typeface="Helvetica Neue"/>
                <a:cs typeface="Helvetica Neue"/>
                <a:sym typeface="Helvetica Neue"/>
              </a:rPr>
              <a:t>, </a:t>
            </a:r>
            <a:r>
              <a:rPr i="1" lang="en" sz="600">
                <a:solidFill>
                  <a:srgbClr val="222222"/>
                </a:solidFill>
                <a:highlight>
                  <a:srgbClr val="FFFFFF"/>
                </a:highlight>
                <a:latin typeface="Helvetica Neue"/>
                <a:ea typeface="Helvetica Neue"/>
                <a:cs typeface="Helvetica Neue"/>
                <a:sym typeface="Helvetica Neue"/>
              </a:rPr>
              <a:t>50</a:t>
            </a:r>
            <a:r>
              <a:rPr lang="en" sz="600">
                <a:solidFill>
                  <a:srgbClr val="222222"/>
                </a:solidFill>
                <a:highlight>
                  <a:srgbClr val="FFFFFF"/>
                </a:highlight>
                <a:latin typeface="Helvetica Neue"/>
                <a:ea typeface="Helvetica Neue"/>
                <a:cs typeface="Helvetica Neue"/>
                <a:sym typeface="Helvetica Neue"/>
              </a:rPr>
              <a:t>(3), 343-353. </a:t>
            </a:r>
            <a:r>
              <a:rPr lang="en" sz="600" u="sng">
                <a:solidFill>
                  <a:srgbClr val="2200CC"/>
                </a:solidFill>
                <a:highlight>
                  <a:srgbClr val="FFFFFF"/>
                </a:highlight>
                <a:latin typeface="Helvetica Neue"/>
                <a:ea typeface="Helvetica Neue"/>
                <a:cs typeface="Helvetica Neue"/>
                <a:sym typeface="Helvetica Neue"/>
                <a:hlinkClick r:id="rId7">
                  <a:extLst>
                    <a:ext uri="{A12FA001-AC4F-418D-AE19-62706E023703}">
                      <ahyp:hlinkClr val="tx"/>
                    </a:ext>
                  </a:extLst>
                </a:hlinkClick>
              </a:rPr>
              <a:t>https://utppublishing.com/doi/pdf/10.3138/jvme-2021-0052</a:t>
            </a:r>
            <a:r>
              <a:rPr lang="en" sz="600">
                <a:solidFill>
                  <a:srgbClr val="222222"/>
                </a:solidFill>
                <a:highlight>
                  <a:srgbClr val="FFFFFF"/>
                </a:highlight>
                <a:latin typeface="Helvetica Neue"/>
                <a:ea typeface="Helvetica Neue"/>
                <a:cs typeface="Helvetica Neue"/>
                <a:sym typeface="Helvetica Neue"/>
              </a:rPr>
              <a:t> </a:t>
            </a:r>
            <a:endParaRPr sz="600">
              <a:solidFill>
                <a:srgbClr val="595959"/>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2"/>
          <p:cNvPicPr preferRelativeResize="0"/>
          <p:nvPr/>
        </p:nvPicPr>
        <p:blipFill>
          <a:blip r:embed="rId3">
            <a:alphaModFix/>
          </a:blip>
          <a:stretch>
            <a:fillRect/>
          </a:stretch>
        </p:blipFill>
        <p:spPr>
          <a:xfrm>
            <a:off x="0" y="470748"/>
            <a:ext cx="9144002" cy="3834054"/>
          </a:xfrm>
          <a:prstGeom prst="rect">
            <a:avLst/>
          </a:prstGeom>
          <a:noFill/>
          <a:ln>
            <a:noFill/>
          </a:ln>
        </p:spPr>
      </p:pic>
      <p:sp>
        <p:nvSpPr>
          <p:cNvPr id="136" name="Google Shape;136;p22"/>
          <p:cNvSpPr txBox="1"/>
          <p:nvPr/>
        </p:nvSpPr>
        <p:spPr>
          <a:xfrm>
            <a:off x="251250" y="261050"/>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Post-pandemic Learning Landscape</a:t>
            </a:r>
            <a:endParaRPr b="1" sz="2800">
              <a:solidFill>
                <a:srgbClr val="000000"/>
              </a:solidFill>
              <a:latin typeface="Helvetica Neue"/>
              <a:ea typeface="Helvetica Neue"/>
              <a:cs typeface="Helvetica Neue"/>
              <a:sym typeface="Helvetica Neue"/>
            </a:endParaRPr>
          </a:p>
        </p:txBody>
      </p:sp>
      <p:sp>
        <p:nvSpPr>
          <p:cNvPr id="137" name="Google Shape;137;p22"/>
          <p:cNvSpPr txBox="1"/>
          <p:nvPr/>
        </p:nvSpPr>
        <p:spPr>
          <a:xfrm>
            <a:off x="311700" y="96850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800">
              <a:solidFill>
                <a:srgbClr val="595959"/>
              </a:solidFill>
              <a:latin typeface="Helvetica Neue"/>
              <a:ea typeface="Helvetica Neue"/>
              <a:cs typeface="Helvetica Neue"/>
              <a:sym typeface="Helvetica Neue"/>
            </a:endParaRPr>
          </a:p>
        </p:txBody>
      </p:sp>
      <p:pic>
        <p:nvPicPr>
          <p:cNvPr id="138" name="Google Shape;138;p22"/>
          <p:cNvPicPr preferRelativeResize="0"/>
          <p:nvPr/>
        </p:nvPicPr>
        <p:blipFill>
          <a:blip r:embed="rId4">
            <a:alphaModFix/>
          </a:blip>
          <a:stretch>
            <a:fillRect/>
          </a:stretch>
        </p:blipFill>
        <p:spPr>
          <a:xfrm>
            <a:off x="4702125" y="833750"/>
            <a:ext cx="3756550" cy="2339300"/>
          </a:xfrm>
          <a:prstGeom prst="rect">
            <a:avLst/>
          </a:prstGeom>
          <a:noFill/>
          <a:ln>
            <a:noFill/>
          </a:ln>
        </p:spPr>
      </p:pic>
      <p:pic>
        <p:nvPicPr>
          <p:cNvPr id="139" name="Google Shape;139;p22"/>
          <p:cNvPicPr preferRelativeResize="0"/>
          <p:nvPr/>
        </p:nvPicPr>
        <p:blipFill>
          <a:blip r:embed="rId5">
            <a:alphaModFix/>
          </a:blip>
          <a:stretch>
            <a:fillRect/>
          </a:stretch>
        </p:blipFill>
        <p:spPr>
          <a:xfrm>
            <a:off x="3091088" y="3324075"/>
            <a:ext cx="5799575" cy="1257150"/>
          </a:xfrm>
          <a:prstGeom prst="rect">
            <a:avLst/>
          </a:prstGeom>
          <a:noFill/>
          <a:ln>
            <a:noFill/>
          </a:ln>
        </p:spPr>
      </p:pic>
      <p:pic>
        <p:nvPicPr>
          <p:cNvPr id="140" name="Google Shape;140;p22"/>
          <p:cNvPicPr preferRelativeResize="0"/>
          <p:nvPr/>
        </p:nvPicPr>
        <p:blipFill>
          <a:blip r:embed="rId6">
            <a:alphaModFix/>
          </a:blip>
          <a:stretch>
            <a:fillRect/>
          </a:stretch>
        </p:blipFill>
        <p:spPr>
          <a:xfrm>
            <a:off x="311700" y="968499"/>
            <a:ext cx="3943576" cy="1497875"/>
          </a:xfrm>
          <a:prstGeom prst="rect">
            <a:avLst/>
          </a:prstGeom>
          <a:noFill/>
          <a:ln>
            <a:noFill/>
          </a:ln>
        </p:spPr>
      </p:pic>
      <p:pic>
        <p:nvPicPr>
          <p:cNvPr id="141" name="Google Shape;141;p22"/>
          <p:cNvPicPr preferRelativeResize="0"/>
          <p:nvPr/>
        </p:nvPicPr>
        <p:blipFill>
          <a:blip r:embed="rId7">
            <a:alphaModFix/>
          </a:blip>
          <a:stretch>
            <a:fillRect/>
          </a:stretch>
        </p:blipFill>
        <p:spPr>
          <a:xfrm>
            <a:off x="251261" y="2641675"/>
            <a:ext cx="2798161" cy="2131925"/>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3"/>
          <p:cNvPicPr preferRelativeResize="0"/>
          <p:nvPr/>
        </p:nvPicPr>
        <p:blipFill>
          <a:blip r:embed="rId3">
            <a:alphaModFix/>
          </a:blip>
          <a:stretch>
            <a:fillRect/>
          </a:stretch>
        </p:blipFill>
        <p:spPr>
          <a:xfrm>
            <a:off x="-32000" y="430748"/>
            <a:ext cx="9144002" cy="3834054"/>
          </a:xfrm>
          <a:prstGeom prst="rect">
            <a:avLst/>
          </a:prstGeom>
          <a:noFill/>
          <a:ln>
            <a:noFill/>
          </a:ln>
        </p:spPr>
      </p:pic>
      <p:sp>
        <p:nvSpPr>
          <p:cNvPr id="147" name="Google Shape;147;p23"/>
          <p:cNvSpPr txBox="1"/>
          <p:nvPr/>
        </p:nvSpPr>
        <p:spPr>
          <a:xfrm>
            <a:off x="279700" y="92850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800">
              <a:solidFill>
                <a:srgbClr val="595959"/>
              </a:solidFill>
              <a:latin typeface="Helvetica Neue"/>
              <a:ea typeface="Helvetica Neue"/>
              <a:cs typeface="Helvetica Neue"/>
              <a:sym typeface="Helvetica Neue"/>
            </a:endParaRPr>
          </a:p>
        </p:txBody>
      </p:sp>
      <p:pic>
        <p:nvPicPr>
          <p:cNvPr id="148" name="Google Shape;148;p23"/>
          <p:cNvPicPr preferRelativeResize="0"/>
          <p:nvPr/>
        </p:nvPicPr>
        <p:blipFill>
          <a:blip r:embed="rId4">
            <a:alphaModFix/>
          </a:blip>
          <a:stretch>
            <a:fillRect/>
          </a:stretch>
        </p:blipFill>
        <p:spPr>
          <a:xfrm>
            <a:off x="6058423" y="599838"/>
            <a:ext cx="2741875" cy="3701874"/>
          </a:xfrm>
          <a:prstGeom prst="rect">
            <a:avLst/>
          </a:prstGeom>
          <a:noFill/>
          <a:ln>
            <a:noFill/>
          </a:ln>
          <a:effectLst>
            <a:outerShdw blurRad="57150" rotWithShape="0" algn="bl" dir="5400000" dist="19050">
              <a:srgbClr val="000000">
                <a:alpha val="50000"/>
              </a:srgbClr>
            </a:outerShdw>
          </a:effectLst>
        </p:spPr>
      </p:pic>
      <p:pic>
        <p:nvPicPr>
          <p:cNvPr id="149" name="Google Shape;149;p23"/>
          <p:cNvPicPr preferRelativeResize="0"/>
          <p:nvPr/>
        </p:nvPicPr>
        <p:blipFill>
          <a:blip r:embed="rId5">
            <a:alphaModFix/>
          </a:blip>
          <a:stretch>
            <a:fillRect/>
          </a:stretch>
        </p:blipFill>
        <p:spPr>
          <a:xfrm>
            <a:off x="120400" y="882475"/>
            <a:ext cx="7978625" cy="2823050"/>
          </a:xfrm>
          <a:prstGeom prst="rect">
            <a:avLst/>
          </a:prstGeom>
          <a:noFill/>
          <a:ln>
            <a:noFill/>
          </a:ln>
          <a:effectLst>
            <a:outerShdw blurRad="57150" rotWithShape="0" algn="bl" dir="5400000" dist="19050">
              <a:srgbClr val="000000">
                <a:alpha val="50000"/>
              </a:srgbClr>
            </a:outerShdw>
          </a:effectLst>
        </p:spPr>
      </p:pic>
      <p:pic>
        <p:nvPicPr>
          <p:cNvPr id="150" name="Google Shape;150;p23"/>
          <p:cNvPicPr preferRelativeResize="0"/>
          <p:nvPr/>
        </p:nvPicPr>
        <p:blipFill>
          <a:blip r:embed="rId6">
            <a:alphaModFix/>
          </a:blip>
          <a:stretch>
            <a:fillRect/>
          </a:stretch>
        </p:blipFill>
        <p:spPr>
          <a:xfrm>
            <a:off x="662648" y="996200"/>
            <a:ext cx="3932607" cy="2823050"/>
          </a:xfrm>
          <a:prstGeom prst="rect">
            <a:avLst/>
          </a:prstGeom>
          <a:noFill/>
          <a:ln>
            <a:noFill/>
          </a:ln>
          <a:effectLst>
            <a:outerShdw blurRad="57150" rotWithShape="0" algn="bl" dir="5400000" dist="19050">
              <a:srgbClr val="000000">
                <a:alpha val="50000"/>
              </a:srgbClr>
            </a:outerShdw>
          </a:effectLst>
        </p:spPr>
      </p:pic>
      <p:sp>
        <p:nvSpPr>
          <p:cNvPr id="151" name="Google Shape;151;p23"/>
          <p:cNvSpPr txBox="1"/>
          <p:nvPr/>
        </p:nvSpPr>
        <p:spPr>
          <a:xfrm>
            <a:off x="79300" y="4479650"/>
            <a:ext cx="892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000000"/>
                </a:solidFill>
                <a:latin typeface="Helvetica Neue"/>
                <a:ea typeface="Helvetica Neue"/>
                <a:cs typeface="Helvetica Neue"/>
                <a:sym typeface="Helvetica Neue"/>
              </a:rPr>
              <a:t>Source: </a:t>
            </a:r>
            <a:r>
              <a:rPr lang="en" sz="1000">
                <a:solidFill>
                  <a:srgbClr val="000000"/>
                </a:solidFill>
                <a:highlight>
                  <a:srgbClr val="FFFFFF"/>
                </a:highlight>
                <a:latin typeface="Helvetica Neue"/>
                <a:ea typeface="Helvetica Neue"/>
                <a:cs typeface="Helvetica Neue"/>
                <a:sym typeface="Helvetica Neue"/>
              </a:rPr>
              <a:t>Rayner, G. M., &amp; Papakonstantinou, T. (2025). How COVID-19 Shaped University Students’ Perspectives of Poor Teaching. </a:t>
            </a:r>
            <a:r>
              <a:rPr i="1" lang="en" sz="1000">
                <a:solidFill>
                  <a:srgbClr val="000000"/>
                </a:solidFill>
                <a:highlight>
                  <a:srgbClr val="FFFFFF"/>
                </a:highlight>
                <a:latin typeface="Helvetica Neue"/>
                <a:ea typeface="Helvetica Neue"/>
                <a:cs typeface="Helvetica Neue"/>
                <a:sym typeface="Helvetica Neue"/>
              </a:rPr>
              <a:t>College Teaching</a:t>
            </a:r>
            <a:r>
              <a:rPr lang="en" sz="1000">
                <a:solidFill>
                  <a:srgbClr val="000000"/>
                </a:solidFill>
                <a:highlight>
                  <a:srgbClr val="FFFFFF"/>
                </a:highlight>
                <a:latin typeface="Helvetica Neue"/>
                <a:ea typeface="Helvetica Neue"/>
                <a:cs typeface="Helvetica Neue"/>
                <a:sym typeface="Helvetica Neue"/>
              </a:rPr>
              <a:t>, 1-8.</a:t>
            </a:r>
            <a:endParaRPr sz="1000">
              <a:solidFill>
                <a:srgbClr val="000000"/>
              </a:solidFill>
              <a:latin typeface="Helvetica Neue"/>
              <a:ea typeface="Helvetica Neue"/>
              <a:cs typeface="Helvetica Neue"/>
              <a:sym typeface="Helvetica Neue"/>
            </a:endParaRPr>
          </a:p>
        </p:txBody>
      </p:sp>
      <p:sp>
        <p:nvSpPr>
          <p:cNvPr id="152" name="Google Shape;152;p23"/>
          <p:cNvSpPr txBox="1"/>
          <p:nvPr/>
        </p:nvSpPr>
        <p:spPr>
          <a:xfrm>
            <a:off x="279700" y="221050"/>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Post-pandemic Learning Landscape</a:t>
            </a:r>
            <a:endParaRPr b="1" sz="2800">
              <a:solidFill>
                <a:srgbClr val="000000"/>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4"/>
          <p:cNvPicPr preferRelativeResize="0"/>
          <p:nvPr/>
        </p:nvPicPr>
        <p:blipFill>
          <a:blip r:embed="rId3">
            <a:alphaModFix/>
          </a:blip>
          <a:stretch>
            <a:fillRect/>
          </a:stretch>
        </p:blipFill>
        <p:spPr>
          <a:xfrm>
            <a:off x="0" y="422748"/>
            <a:ext cx="9144002" cy="3834054"/>
          </a:xfrm>
          <a:prstGeom prst="rect">
            <a:avLst/>
          </a:prstGeom>
          <a:noFill/>
          <a:ln>
            <a:noFill/>
          </a:ln>
        </p:spPr>
      </p:pic>
      <p:sp>
        <p:nvSpPr>
          <p:cNvPr id="158" name="Google Shape;158;p24"/>
          <p:cNvSpPr txBox="1"/>
          <p:nvPr/>
        </p:nvSpPr>
        <p:spPr>
          <a:xfrm>
            <a:off x="311700" y="213050"/>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Post-pandemic Learning Landscape</a:t>
            </a:r>
            <a:endParaRPr b="1" sz="2800">
              <a:solidFill>
                <a:srgbClr val="000000"/>
              </a:solidFill>
              <a:latin typeface="Helvetica Neue"/>
              <a:ea typeface="Helvetica Neue"/>
              <a:cs typeface="Helvetica Neue"/>
              <a:sym typeface="Helvetica Neue"/>
            </a:endParaRPr>
          </a:p>
        </p:txBody>
      </p:sp>
      <p:sp>
        <p:nvSpPr>
          <p:cNvPr id="159" name="Google Shape;159;p24"/>
          <p:cNvSpPr txBox="1"/>
          <p:nvPr/>
        </p:nvSpPr>
        <p:spPr>
          <a:xfrm>
            <a:off x="1226700" y="920500"/>
            <a:ext cx="7569600" cy="445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rgbClr val="000000"/>
                </a:solidFill>
                <a:latin typeface="Helvetica Neue"/>
                <a:ea typeface="Helvetica Neue"/>
                <a:cs typeface="Helvetica Neue"/>
                <a:sym typeface="Helvetica Neue"/>
              </a:rPr>
              <a:t>Michal Kurlander:</a:t>
            </a:r>
            <a:r>
              <a:rPr b="1" lang="en">
                <a:solidFill>
                  <a:srgbClr val="595959"/>
                </a:solidFill>
                <a:latin typeface="Helvetica Neue"/>
                <a:ea typeface="Helvetica Neue"/>
                <a:cs typeface="Helvetica Neue"/>
                <a:sym typeface="Helvetica Neue"/>
              </a:rPr>
              <a:t> </a:t>
            </a:r>
            <a:r>
              <a:rPr lang="en">
                <a:solidFill>
                  <a:srgbClr val="333333"/>
                </a:solidFill>
                <a:highlight>
                  <a:srgbClr val="FFFFFF"/>
                </a:highlight>
                <a:latin typeface="Helvetica Neue"/>
                <a:ea typeface="Helvetica Neue"/>
                <a:cs typeface="Helvetica Neue"/>
                <a:sym typeface="Helvetica Neue"/>
              </a:rPr>
              <a:t>As of last spring [2024], students were still roughly half a year behind where their predecessors were in 2019…An important part of this story is that the impacts of COVID-19 have been extremely uneven—</a:t>
            </a:r>
            <a:r>
              <a:rPr b="1" lang="en">
                <a:solidFill>
                  <a:srgbClr val="333333"/>
                </a:solidFill>
                <a:highlight>
                  <a:srgbClr val="FFFFFF"/>
                </a:highlight>
                <a:latin typeface="Helvetica Neue"/>
                <a:ea typeface="Helvetica Neue"/>
                <a:cs typeface="Helvetica Neue"/>
                <a:sym typeface="Helvetica Neue"/>
              </a:rPr>
              <a:t>learning loss has been exacerbated by class, racial, and ethnic inequalities.</a:t>
            </a:r>
            <a:r>
              <a:rPr lang="en">
                <a:solidFill>
                  <a:srgbClr val="333333"/>
                </a:solidFill>
                <a:highlight>
                  <a:srgbClr val="FFFFFF"/>
                </a:highlight>
                <a:latin typeface="Helvetica Neue"/>
                <a:ea typeface="Helvetica Neue"/>
                <a:cs typeface="Helvetica Neue"/>
                <a:sym typeface="Helvetica Neue"/>
              </a:rPr>
              <a:t> </a:t>
            </a:r>
            <a:endParaRPr>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b="1">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b="1" lang="en">
                <a:solidFill>
                  <a:srgbClr val="333333"/>
                </a:solidFill>
                <a:highlight>
                  <a:srgbClr val="FFFFFF"/>
                </a:highlight>
                <a:latin typeface="Helvetica Neue"/>
                <a:ea typeface="Helvetica Neue"/>
                <a:cs typeface="Helvetica Neue"/>
                <a:sym typeface="Helvetica Neue"/>
              </a:rPr>
              <a:t>Kevin Gee: </a:t>
            </a:r>
            <a:r>
              <a:rPr lang="en">
                <a:solidFill>
                  <a:srgbClr val="333333"/>
                </a:solidFill>
                <a:highlight>
                  <a:srgbClr val="FFFFFF"/>
                </a:highlight>
                <a:latin typeface="Helvetica Neue"/>
                <a:ea typeface="Helvetica Neue"/>
                <a:cs typeface="Helvetica Neue"/>
                <a:sym typeface="Helvetica Neue"/>
              </a:rPr>
              <a:t>“...chronically absent students who were missing large amounts of school, and 81% of those kids said they want to come </a:t>
            </a:r>
            <a:r>
              <a:rPr b="1" lang="en">
                <a:solidFill>
                  <a:srgbClr val="333333"/>
                </a:solidFill>
                <a:highlight>
                  <a:srgbClr val="FFFFFF"/>
                </a:highlight>
                <a:latin typeface="Helvetica Neue"/>
                <a:ea typeface="Helvetica Neue"/>
                <a:cs typeface="Helvetica Neue"/>
                <a:sym typeface="Helvetica Neue"/>
              </a:rPr>
              <a:t>because of the people and their relationships</a:t>
            </a:r>
            <a:r>
              <a:rPr lang="en">
                <a:solidFill>
                  <a:srgbClr val="333333"/>
                </a:solidFill>
                <a:highlight>
                  <a:srgbClr val="FFFFFF"/>
                </a:highlight>
                <a:latin typeface="Helvetica Neue"/>
                <a:ea typeface="Helvetica Neue"/>
                <a:cs typeface="Helvetica Neue"/>
                <a:sym typeface="Helvetica Neue"/>
              </a:rPr>
              <a:t>.</a:t>
            </a:r>
            <a:endParaRPr>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b="1" lang="en">
                <a:solidFill>
                  <a:srgbClr val="333333"/>
                </a:solidFill>
                <a:highlight>
                  <a:srgbClr val="FFFFFF"/>
                </a:highlight>
                <a:latin typeface="Helvetica Neue"/>
                <a:ea typeface="Helvetica Neue"/>
                <a:cs typeface="Helvetica Neue"/>
                <a:sym typeface="Helvetica Neue"/>
              </a:rPr>
              <a:t>We need to change the narrative back to what a huge difference a good teacher can make in the </a:t>
            </a:r>
            <a:r>
              <a:rPr b="1" lang="en">
                <a:solidFill>
                  <a:srgbClr val="333333"/>
                </a:solidFill>
                <a:highlight>
                  <a:srgbClr val="FFFFFF"/>
                </a:highlight>
                <a:latin typeface="Helvetica Neue"/>
                <a:ea typeface="Helvetica Neue"/>
                <a:cs typeface="Helvetica Neue"/>
                <a:sym typeface="Helvetica Neue"/>
              </a:rPr>
              <a:t>classroom</a:t>
            </a:r>
            <a:r>
              <a:rPr b="1" lang="en">
                <a:solidFill>
                  <a:srgbClr val="333333"/>
                </a:solidFill>
                <a:highlight>
                  <a:srgbClr val="FFFFFF"/>
                </a:highlight>
                <a:latin typeface="Helvetica Neue"/>
                <a:ea typeface="Helvetica Neue"/>
                <a:cs typeface="Helvetica Neue"/>
                <a:sym typeface="Helvetica Neue"/>
              </a:rPr>
              <a:t>.</a:t>
            </a:r>
            <a:endParaRPr b="1">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a:solidFill>
                <a:srgbClr val="333333"/>
              </a:solidFill>
              <a:highlight>
                <a:srgbClr val="FFFFFF"/>
              </a:highlight>
              <a:latin typeface="Helvetica Neue"/>
              <a:ea typeface="Helvetica Neue"/>
              <a:cs typeface="Helvetica Neue"/>
              <a:sym typeface="Helvetica Neue"/>
            </a:endParaRPr>
          </a:p>
          <a:p>
            <a:pPr indent="0" lvl="0" marL="0" rtl="0" algn="l">
              <a:lnSpc>
                <a:spcPct val="115000"/>
              </a:lnSpc>
              <a:spcBef>
                <a:spcPts val="1200"/>
              </a:spcBef>
              <a:spcAft>
                <a:spcPts val="1200"/>
              </a:spcAft>
              <a:buNone/>
            </a:pPr>
            <a:r>
              <a:t/>
            </a:r>
            <a:endParaRPr>
              <a:solidFill>
                <a:srgbClr val="333333"/>
              </a:solidFill>
              <a:highlight>
                <a:srgbClr val="FFFFFF"/>
              </a:highlight>
              <a:latin typeface="Helvetica Neue"/>
              <a:ea typeface="Helvetica Neue"/>
              <a:cs typeface="Helvetica Neue"/>
              <a:sym typeface="Helvetica Neue"/>
            </a:endParaRPr>
          </a:p>
        </p:txBody>
      </p:sp>
      <p:sp>
        <p:nvSpPr>
          <p:cNvPr id="160" name="Google Shape;160;p24"/>
          <p:cNvSpPr txBox="1"/>
          <p:nvPr/>
        </p:nvSpPr>
        <p:spPr>
          <a:xfrm>
            <a:off x="1226700" y="4452925"/>
            <a:ext cx="6690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rgbClr val="191919"/>
                </a:solidFill>
                <a:latin typeface="Helvetica Neue"/>
                <a:ea typeface="Helvetica Neue"/>
                <a:cs typeface="Helvetica Neue"/>
                <a:sym typeface="Helvetica Neue"/>
                <a:hlinkClick r:id="rId4">
                  <a:extLst>
                    <a:ext uri="{A12FA001-AC4F-418D-AE19-62706E023703}">
                      <ahyp:hlinkClr val="tx"/>
                    </a:ext>
                  </a:extLst>
                </a:hlinkClick>
              </a:rPr>
              <a:t>Source: Education Experts Break Down the Lingering Impacts and Unexpected Outcomes of COVID-19 Pandemic</a:t>
            </a:r>
            <a:endParaRPr sz="1000">
              <a:solidFill>
                <a:srgbClr val="595959"/>
              </a:solidFill>
              <a:latin typeface="Helvetica Neue"/>
              <a:ea typeface="Helvetica Neue"/>
              <a:cs typeface="Helvetica Neue"/>
              <a:sym typeface="Helvetica Neue"/>
            </a:endParaRPr>
          </a:p>
        </p:txBody>
      </p:sp>
      <p:pic>
        <p:nvPicPr>
          <p:cNvPr id="161" name="Google Shape;161;p24">
            <a:hlinkClick r:id="rId5"/>
          </p:cNvPr>
          <p:cNvPicPr preferRelativeResize="0"/>
          <p:nvPr/>
        </p:nvPicPr>
        <p:blipFill>
          <a:blip r:embed="rId6">
            <a:alphaModFix/>
          </a:blip>
          <a:stretch>
            <a:fillRect/>
          </a:stretch>
        </p:blipFill>
        <p:spPr>
          <a:xfrm>
            <a:off x="167900" y="920500"/>
            <a:ext cx="1015425" cy="942575"/>
          </a:xfrm>
          <a:prstGeom prst="rect">
            <a:avLst/>
          </a:prstGeom>
          <a:noFill/>
          <a:ln>
            <a:noFill/>
          </a:ln>
          <a:effectLst>
            <a:outerShdw blurRad="57150" rotWithShape="0" algn="bl" dir="5400000" dist="19050">
              <a:srgbClr val="000000">
                <a:alpha val="50000"/>
              </a:srgbClr>
            </a:outerShdw>
          </a:effectLst>
        </p:spPr>
      </p:pic>
      <p:pic>
        <p:nvPicPr>
          <p:cNvPr id="162" name="Google Shape;162;p24">
            <a:hlinkClick r:id="rId7"/>
          </p:cNvPr>
          <p:cNvPicPr preferRelativeResize="0"/>
          <p:nvPr/>
        </p:nvPicPr>
        <p:blipFill>
          <a:blip r:embed="rId8">
            <a:alphaModFix/>
          </a:blip>
          <a:stretch>
            <a:fillRect/>
          </a:stretch>
        </p:blipFill>
        <p:spPr>
          <a:xfrm>
            <a:off x="167900" y="2173425"/>
            <a:ext cx="1015425" cy="1044571"/>
          </a:xfrm>
          <a:prstGeom prst="rect">
            <a:avLst/>
          </a:prstGeom>
          <a:noFill/>
          <a:ln>
            <a:noFill/>
          </a:ln>
          <a:effectLst>
            <a:outerShdw blurRad="57150" rotWithShape="0" algn="bl" dir="5400000" dist="19050">
              <a:srgbClr val="000000">
                <a:alpha val="50000"/>
              </a:srgbClr>
            </a:outerShdw>
          </a:effectLst>
        </p:spPr>
      </p:pic>
      <p:pic>
        <p:nvPicPr>
          <p:cNvPr id="163" name="Google Shape;163;p24">
            <a:hlinkClick r:id="rId9"/>
          </p:cNvPr>
          <p:cNvPicPr preferRelativeResize="0"/>
          <p:nvPr/>
        </p:nvPicPr>
        <p:blipFill>
          <a:blip r:embed="rId10">
            <a:alphaModFix/>
          </a:blip>
          <a:stretch>
            <a:fillRect/>
          </a:stretch>
        </p:blipFill>
        <p:spPr>
          <a:xfrm>
            <a:off x="207888" y="3408350"/>
            <a:ext cx="935444" cy="10445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nvSpPr>
        <p:spPr>
          <a:xfrm>
            <a:off x="189775" y="707450"/>
            <a:ext cx="8520600" cy="34164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sz="1800">
                <a:solidFill>
                  <a:srgbClr val="000000"/>
                </a:solidFill>
                <a:latin typeface="Helvetica Neue"/>
                <a:ea typeface="Helvetica Neue"/>
                <a:cs typeface="Helvetica Neue"/>
                <a:sym typeface="Helvetica Neue"/>
              </a:rPr>
              <a:t>Persistence rates for entering students in the UC System 2018-2022</a:t>
            </a:r>
            <a:endParaRPr sz="1800">
              <a:solidFill>
                <a:srgbClr val="000000"/>
              </a:solidFill>
              <a:latin typeface="Helvetica Neue"/>
              <a:ea typeface="Helvetica Neue"/>
              <a:cs typeface="Helvetica Neue"/>
              <a:sym typeface="Helvetica Neue"/>
            </a:endParaRPr>
          </a:p>
        </p:txBody>
      </p:sp>
      <p:pic>
        <p:nvPicPr>
          <p:cNvPr id="169" name="Google Shape;169;p25"/>
          <p:cNvPicPr preferRelativeResize="0"/>
          <p:nvPr/>
        </p:nvPicPr>
        <p:blipFill>
          <a:blip r:embed="rId3">
            <a:alphaModFix/>
          </a:blip>
          <a:stretch>
            <a:fillRect/>
          </a:stretch>
        </p:blipFill>
        <p:spPr>
          <a:xfrm>
            <a:off x="189775" y="1335150"/>
            <a:ext cx="4123199" cy="2563275"/>
          </a:xfrm>
          <a:prstGeom prst="rect">
            <a:avLst/>
          </a:prstGeom>
          <a:noFill/>
          <a:ln>
            <a:noFill/>
          </a:ln>
        </p:spPr>
      </p:pic>
      <p:sp>
        <p:nvSpPr>
          <p:cNvPr id="170" name="Google Shape;170;p25"/>
          <p:cNvSpPr txBox="1"/>
          <p:nvPr/>
        </p:nvSpPr>
        <p:spPr>
          <a:xfrm>
            <a:off x="189775" y="228600"/>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Post-pandemic Learning Landscape</a:t>
            </a:r>
            <a:endParaRPr b="1" sz="2800">
              <a:solidFill>
                <a:srgbClr val="000000"/>
              </a:solidFill>
              <a:latin typeface="Helvetica Neue"/>
              <a:ea typeface="Helvetica Neue"/>
              <a:cs typeface="Helvetica Neue"/>
              <a:sym typeface="Helvetica Neue"/>
            </a:endParaRPr>
          </a:p>
        </p:txBody>
      </p:sp>
      <p:pic>
        <p:nvPicPr>
          <p:cNvPr id="171" name="Google Shape;171;p25"/>
          <p:cNvPicPr preferRelativeResize="0"/>
          <p:nvPr/>
        </p:nvPicPr>
        <p:blipFill>
          <a:blip r:embed="rId4">
            <a:alphaModFix/>
          </a:blip>
          <a:stretch>
            <a:fillRect/>
          </a:stretch>
        </p:blipFill>
        <p:spPr>
          <a:xfrm>
            <a:off x="4450075" y="1372983"/>
            <a:ext cx="4006974" cy="2449092"/>
          </a:xfrm>
          <a:prstGeom prst="rect">
            <a:avLst/>
          </a:prstGeom>
          <a:noFill/>
          <a:ln>
            <a:noFill/>
          </a:ln>
        </p:spPr>
      </p:pic>
      <p:sp>
        <p:nvSpPr>
          <p:cNvPr id="172" name="Google Shape;172;p25"/>
          <p:cNvSpPr txBox="1"/>
          <p:nvPr/>
        </p:nvSpPr>
        <p:spPr>
          <a:xfrm>
            <a:off x="268850" y="4068850"/>
            <a:ext cx="81882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800">
                <a:solidFill>
                  <a:srgbClr val="000000"/>
                </a:solidFill>
                <a:latin typeface="Helvetica Neue"/>
                <a:ea typeface="Helvetica Neue"/>
                <a:cs typeface="Helvetica Neue"/>
                <a:sym typeface="Helvetica Neue"/>
              </a:rPr>
              <a:t>Source: University of California, Office of the President, Institutional Research and Academic Planning. (2025, July). Admission outcomes and first- and second-year performance of freshman cohorts after the elimination of standardized test requirements for admissions at the University of California (Report). https://www.ucop.edu/institutional-research-academic-planning/_files/admissions-outcomes-and-performance.pdf</a:t>
            </a:r>
            <a:endParaRPr sz="800">
              <a:solidFill>
                <a:srgbClr val="000000"/>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Accessibility, UDL, and Supporting All Students</a:t>
            </a:r>
            <a:endParaRPr b="1" sz="2800">
              <a:solidFill>
                <a:srgbClr val="000000"/>
              </a:solidFill>
              <a:latin typeface="Helvetica Neue"/>
              <a:ea typeface="Helvetica Neue"/>
              <a:cs typeface="Helvetica Neue"/>
              <a:sym typeface="Helvetica Neue"/>
            </a:endParaRPr>
          </a:p>
        </p:txBody>
      </p:sp>
      <p:pic>
        <p:nvPicPr>
          <p:cNvPr id="178" name="Google Shape;178;p26"/>
          <p:cNvPicPr preferRelativeResize="0"/>
          <p:nvPr/>
        </p:nvPicPr>
        <p:blipFill>
          <a:blip r:embed="rId3">
            <a:alphaModFix/>
          </a:blip>
          <a:stretch>
            <a:fillRect/>
          </a:stretch>
        </p:blipFill>
        <p:spPr>
          <a:xfrm>
            <a:off x="5983525" y="989650"/>
            <a:ext cx="2980975" cy="2839350"/>
          </a:xfrm>
          <a:prstGeom prst="rect">
            <a:avLst/>
          </a:prstGeom>
          <a:noFill/>
          <a:ln>
            <a:noFill/>
          </a:ln>
          <a:effectLst>
            <a:outerShdw blurRad="57150" rotWithShape="0" algn="bl" dir="5400000" dist="19050">
              <a:srgbClr val="000000">
                <a:alpha val="50000"/>
              </a:srgbClr>
            </a:outerShdw>
          </a:effectLst>
        </p:spPr>
      </p:pic>
      <p:sp>
        <p:nvSpPr>
          <p:cNvPr id="179" name="Google Shape;179;p26"/>
          <p:cNvSpPr txBox="1"/>
          <p:nvPr/>
        </p:nvSpPr>
        <p:spPr>
          <a:xfrm>
            <a:off x="311700" y="4539250"/>
            <a:ext cx="8520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00"/>
                </a:solidFill>
                <a:latin typeface="Helvetica Neue"/>
                <a:ea typeface="Helvetica Neue"/>
                <a:cs typeface="Helvetica Neue"/>
                <a:sym typeface="Helvetica Neue"/>
              </a:rPr>
              <a:t>Sources: </a:t>
            </a:r>
            <a:r>
              <a:rPr lang="en" sz="1000" u="sng">
                <a:solidFill>
                  <a:srgbClr val="000000"/>
                </a:solidFill>
                <a:latin typeface="Helvetica Neue"/>
                <a:ea typeface="Helvetica Neue"/>
                <a:cs typeface="Helvetica Neue"/>
                <a:sym typeface="Helvetica Neue"/>
                <a:hlinkClick r:id="rId4">
                  <a:extLst>
                    <a:ext uri="{A12FA001-AC4F-418D-AE19-62706E023703}">
                      <ahyp:hlinkClr val="tx"/>
                    </a:ext>
                  </a:extLst>
                </a:hlinkClick>
              </a:rPr>
              <a:t>RWJF Equity Graphics</a:t>
            </a:r>
            <a:r>
              <a:rPr lang="en">
                <a:solidFill>
                  <a:srgbClr val="000000"/>
                </a:solidFill>
              </a:rPr>
              <a:t>, </a:t>
            </a:r>
            <a:r>
              <a:rPr lang="en" sz="1000" u="sng">
                <a:solidFill>
                  <a:srgbClr val="000000"/>
                </a:solidFill>
                <a:latin typeface="Helvetica Neue"/>
                <a:ea typeface="Helvetica Neue"/>
                <a:cs typeface="Helvetica Neue"/>
                <a:sym typeface="Helvetica Neue"/>
                <a:hlinkClick r:id="rId5">
                  <a:extLst>
                    <a:ext uri="{A12FA001-AC4F-418D-AE19-62706E023703}">
                      <ahyp:hlinkClr val="tx"/>
                    </a:ext>
                  </a:extLst>
                </a:hlinkClick>
              </a:rPr>
              <a:t>Equity-Minded Teaching Pracitces Graphic Image</a:t>
            </a:r>
            <a:endParaRPr sz="1000">
              <a:solidFill>
                <a:srgbClr val="000000"/>
              </a:solidFill>
              <a:latin typeface="Helvetica Neue"/>
              <a:ea typeface="Helvetica Neue"/>
              <a:cs typeface="Helvetica Neue"/>
              <a:sym typeface="Helvetica Neue"/>
            </a:endParaRPr>
          </a:p>
        </p:txBody>
      </p:sp>
      <p:pic>
        <p:nvPicPr>
          <p:cNvPr id="180" name="Google Shape;180;p26"/>
          <p:cNvPicPr preferRelativeResize="0"/>
          <p:nvPr/>
        </p:nvPicPr>
        <p:blipFill>
          <a:blip r:embed="rId6">
            <a:alphaModFix/>
          </a:blip>
          <a:stretch>
            <a:fillRect/>
          </a:stretch>
        </p:blipFill>
        <p:spPr>
          <a:xfrm>
            <a:off x="152400" y="1170125"/>
            <a:ext cx="2793600" cy="2478400"/>
          </a:xfrm>
          <a:prstGeom prst="rect">
            <a:avLst/>
          </a:prstGeom>
          <a:noFill/>
          <a:ln>
            <a:noFill/>
          </a:ln>
          <a:effectLst>
            <a:outerShdw blurRad="57150" rotWithShape="0" algn="bl" dir="5400000" dist="19050">
              <a:srgbClr val="000000">
                <a:alpha val="50000"/>
              </a:srgbClr>
            </a:outerShdw>
          </a:effectLst>
        </p:spPr>
      </p:pic>
      <p:pic>
        <p:nvPicPr>
          <p:cNvPr id="181" name="Google Shape;181;p26"/>
          <p:cNvPicPr preferRelativeResize="0"/>
          <p:nvPr/>
        </p:nvPicPr>
        <p:blipFill>
          <a:blip r:embed="rId7">
            <a:alphaModFix/>
          </a:blip>
          <a:stretch>
            <a:fillRect/>
          </a:stretch>
        </p:blipFill>
        <p:spPr>
          <a:xfrm>
            <a:off x="3098400" y="1206792"/>
            <a:ext cx="2732725" cy="2429089"/>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nvSpPr>
        <p:spPr>
          <a:xfrm>
            <a:off x="311700" y="2926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Digital Accessibility: Consider Situational Factors</a:t>
            </a:r>
            <a:endParaRPr b="1" sz="2800">
              <a:solidFill>
                <a:srgbClr val="000000"/>
              </a:solidFill>
              <a:latin typeface="Helvetica Neue"/>
              <a:ea typeface="Helvetica Neue"/>
              <a:cs typeface="Helvetica Neue"/>
              <a:sym typeface="Helvetica Neue"/>
            </a:endParaRPr>
          </a:p>
        </p:txBody>
      </p:sp>
      <p:sp>
        <p:nvSpPr>
          <p:cNvPr id="187" name="Google Shape;187;p27"/>
          <p:cNvSpPr txBox="1"/>
          <p:nvPr/>
        </p:nvSpPr>
        <p:spPr>
          <a:xfrm>
            <a:off x="311700" y="10000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800">
                <a:solidFill>
                  <a:srgbClr val="000000"/>
                </a:solidFill>
                <a:latin typeface="Helvetica Neue"/>
                <a:ea typeface="Helvetica Neue"/>
                <a:cs typeface="Helvetica Neue"/>
                <a:sym typeface="Helvetica Neue"/>
              </a:rPr>
              <a:t>Digital Accessibility (DA): Digital accessibility is the practice of creating digital content so that all people can access and use the materials, including individuals with disabilities who utilize assistive technology.</a:t>
            </a:r>
            <a:endParaRPr sz="1800">
              <a:solidFill>
                <a:srgbClr val="000000"/>
              </a:solidFill>
              <a:latin typeface="Helvetica Neue"/>
              <a:ea typeface="Helvetica Neue"/>
              <a:cs typeface="Helvetica Neue"/>
              <a:sym typeface="Helvetica Neue"/>
            </a:endParaRPr>
          </a:p>
        </p:txBody>
      </p:sp>
      <p:pic>
        <p:nvPicPr>
          <p:cNvPr id="188" name="Google Shape;188;p27"/>
          <p:cNvPicPr preferRelativeResize="0"/>
          <p:nvPr/>
        </p:nvPicPr>
        <p:blipFill>
          <a:blip r:embed="rId3">
            <a:alphaModFix/>
          </a:blip>
          <a:stretch>
            <a:fillRect/>
          </a:stretch>
        </p:blipFill>
        <p:spPr>
          <a:xfrm>
            <a:off x="160050" y="2019925"/>
            <a:ext cx="8672250" cy="2601675"/>
          </a:xfrm>
          <a:prstGeom prst="rect">
            <a:avLst/>
          </a:prstGeom>
          <a:noFill/>
          <a:ln>
            <a:noFill/>
          </a:ln>
        </p:spPr>
      </p:pic>
      <p:sp>
        <p:nvSpPr>
          <p:cNvPr id="189" name="Google Shape;189;p27"/>
          <p:cNvSpPr txBox="1"/>
          <p:nvPr/>
        </p:nvSpPr>
        <p:spPr>
          <a:xfrm>
            <a:off x="5832300" y="455122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000000"/>
                </a:solidFill>
              </a:rPr>
              <a:t>Images source: </a:t>
            </a:r>
            <a:r>
              <a:rPr lang="en" sz="1100" u="sng">
                <a:solidFill>
                  <a:srgbClr val="2200CC"/>
                </a:solidFill>
                <a:hlinkClick r:id="rId4">
                  <a:extLst>
                    <a:ext uri="{A12FA001-AC4F-418D-AE19-62706E023703}">
                      <ahyp:hlinkClr val="tx"/>
                    </a:ext>
                  </a:extLst>
                </a:hlinkClick>
              </a:rPr>
              <a:t>https://cstate.se/writing/wcag</a:t>
            </a:r>
            <a:r>
              <a:rPr lang="en" sz="1100">
                <a:solidFill>
                  <a:srgbClr val="000000"/>
                </a:solidFill>
              </a:rPr>
              <a:t> </a:t>
            </a:r>
            <a:endParaRPr/>
          </a:p>
        </p:txBody>
      </p:sp>
      <p:sp>
        <p:nvSpPr>
          <p:cNvPr id="190" name="Google Shape;190;p27"/>
          <p:cNvSpPr/>
          <p:nvPr/>
        </p:nvSpPr>
        <p:spPr>
          <a:xfrm>
            <a:off x="412475" y="2368425"/>
            <a:ext cx="1419900" cy="2182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191" name="Google Shape;191;p27"/>
          <p:cNvSpPr/>
          <p:nvPr/>
        </p:nvSpPr>
        <p:spPr>
          <a:xfrm>
            <a:off x="1832375" y="2368425"/>
            <a:ext cx="1419900" cy="2182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192" name="Google Shape;192;p27"/>
          <p:cNvSpPr/>
          <p:nvPr/>
        </p:nvSpPr>
        <p:spPr>
          <a:xfrm>
            <a:off x="3252275" y="2368425"/>
            <a:ext cx="1419900" cy="2182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193" name="Google Shape;193;p27"/>
          <p:cNvSpPr/>
          <p:nvPr/>
        </p:nvSpPr>
        <p:spPr>
          <a:xfrm>
            <a:off x="4572000" y="2368425"/>
            <a:ext cx="1419900" cy="2182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194" name="Google Shape;194;p27"/>
          <p:cNvSpPr/>
          <p:nvPr/>
        </p:nvSpPr>
        <p:spPr>
          <a:xfrm>
            <a:off x="6092075" y="2419350"/>
            <a:ext cx="1419900" cy="2182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195" name="Google Shape;195;p27"/>
          <p:cNvSpPr/>
          <p:nvPr/>
        </p:nvSpPr>
        <p:spPr>
          <a:xfrm>
            <a:off x="7311625" y="2419350"/>
            <a:ext cx="1419900" cy="2182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Digital Accessibility = Student Success</a:t>
            </a:r>
            <a:endParaRPr b="1" sz="2800">
              <a:solidFill>
                <a:srgbClr val="000000"/>
              </a:solidFill>
              <a:latin typeface="Helvetica Neue"/>
              <a:ea typeface="Helvetica Neue"/>
              <a:cs typeface="Helvetica Neue"/>
              <a:sym typeface="Helvetica Neue"/>
            </a:endParaRPr>
          </a:p>
        </p:txBody>
      </p:sp>
      <p:sp>
        <p:nvSpPr>
          <p:cNvPr id="201" name="Google Shape;201;p28"/>
          <p:cNvSpPr txBox="1"/>
          <p:nvPr/>
        </p:nvSpPr>
        <p:spPr>
          <a:xfrm>
            <a:off x="311700" y="1017725"/>
            <a:ext cx="8520600" cy="4009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000000"/>
              </a:buClr>
              <a:buSzPts val="1800"/>
              <a:buFont typeface="Helvetica Neue"/>
              <a:buChar char="●"/>
            </a:pPr>
            <a:r>
              <a:rPr lang="en" sz="1800">
                <a:solidFill>
                  <a:srgbClr val="000000"/>
                </a:solidFill>
                <a:latin typeface="Helvetica Neue"/>
                <a:ea typeface="Helvetica Neue"/>
                <a:cs typeface="Helvetica Neue"/>
                <a:sym typeface="Helvetica Neue"/>
              </a:rPr>
              <a:t>“Faculty who communicate clearly, show respect, and respond to student needs, they help foster persistence and academic success.”</a:t>
            </a:r>
            <a:endParaRPr sz="1800">
              <a:solidFill>
                <a:srgbClr val="000000"/>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rgbClr val="000000"/>
              </a:buClr>
              <a:buSzPts val="1800"/>
              <a:buFont typeface="Helvetica Neue"/>
              <a:buChar char="●"/>
            </a:pPr>
            <a:r>
              <a:rPr lang="en" sz="1800">
                <a:solidFill>
                  <a:srgbClr val="000000"/>
                </a:solidFill>
                <a:latin typeface="Helvetica Neue"/>
                <a:ea typeface="Helvetica Neue"/>
                <a:cs typeface="Helvetica Neue"/>
                <a:sym typeface="Helvetica Neue"/>
              </a:rPr>
              <a:t>“Instructors implementing an advocacy-oriented mindset and view themselves as partners in the learning process, student outcomes improve. This is especially true when they offer flexibility and create a sense of belonging.” </a:t>
            </a:r>
            <a:endParaRPr sz="1800">
              <a:solidFill>
                <a:srgbClr val="000000"/>
              </a:solidFill>
              <a:latin typeface="Helvetica Neue"/>
              <a:ea typeface="Helvetica Neue"/>
              <a:cs typeface="Helvetica Neue"/>
              <a:sym typeface="Helvetica Neue"/>
            </a:endParaRPr>
          </a:p>
          <a:p>
            <a:pPr indent="-342900" lvl="0" marL="457200" rtl="0" algn="l">
              <a:lnSpc>
                <a:spcPct val="115000"/>
              </a:lnSpc>
              <a:spcBef>
                <a:spcPts val="0"/>
              </a:spcBef>
              <a:spcAft>
                <a:spcPts val="0"/>
              </a:spcAft>
              <a:buClr>
                <a:srgbClr val="000000"/>
              </a:buClr>
              <a:buSzPts val="1800"/>
              <a:buFont typeface="Helvetica Neue"/>
              <a:buChar char="●"/>
            </a:pPr>
            <a:r>
              <a:rPr lang="en" sz="1800">
                <a:solidFill>
                  <a:srgbClr val="000000"/>
                </a:solidFill>
                <a:latin typeface="Helvetica Neue"/>
                <a:ea typeface="Helvetica Neue"/>
                <a:cs typeface="Helvetica Neue"/>
                <a:sym typeface="Helvetica Neue"/>
              </a:rPr>
              <a:t>Disabled students who experience individualized, empathetic interactions with instructors are more likely to feel supported, persist through academic challenges, and complete their degrees.” </a:t>
            </a:r>
            <a:endParaRPr sz="1800">
              <a:solidFill>
                <a:srgbClr val="000000"/>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sz="1800">
              <a:solidFill>
                <a:srgbClr val="000000"/>
              </a:solidFill>
              <a:latin typeface="Helvetica Neue"/>
              <a:ea typeface="Helvetica Neue"/>
              <a:cs typeface="Helvetica Neue"/>
              <a:sym typeface="Helvetica Neue"/>
            </a:endParaRPr>
          </a:p>
          <a:p>
            <a:pPr indent="0" lvl="0" marL="0" rtl="0" algn="l">
              <a:lnSpc>
                <a:spcPct val="115000"/>
              </a:lnSpc>
              <a:spcBef>
                <a:spcPts val="1200"/>
              </a:spcBef>
              <a:spcAft>
                <a:spcPts val="1200"/>
              </a:spcAft>
              <a:buNone/>
            </a:pPr>
            <a:r>
              <a:rPr lang="en" sz="1000">
                <a:solidFill>
                  <a:srgbClr val="000000"/>
                </a:solidFill>
                <a:latin typeface="Helvetica Neue"/>
                <a:ea typeface="Helvetica Neue"/>
                <a:cs typeface="Helvetica Neue"/>
                <a:sym typeface="Helvetica Neue"/>
              </a:rPr>
              <a:t>Sources: Becker &amp; Palladino, 2016; Dowrick et al., 2005; National Disability Center for Student Success, 2025; Woolf &amp; De Bie, 2022 as cited in </a:t>
            </a:r>
            <a:r>
              <a:rPr lang="en" sz="1000" u="sng">
                <a:solidFill>
                  <a:srgbClr val="191919"/>
                </a:solidFill>
                <a:latin typeface="Helvetica Neue"/>
                <a:ea typeface="Helvetica Neue"/>
                <a:cs typeface="Helvetica Neue"/>
                <a:sym typeface="Helvetica Neue"/>
                <a:hlinkClick r:id="rId3">
                  <a:extLst>
                    <a:ext uri="{A12FA001-AC4F-418D-AE19-62706E023703}">
                      <ahyp:hlinkClr val="tx"/>
                    </a:ext>
                  </a:extLst>
                </a:hlinkClick>
              </a:rPr>
              <a:t>UDL Success Stories</a:t>
            </a:r>
            <a:r>
              <a:rPr lang="en" sz="1000">
                <a:solidFill>
                  <a:srgbClr val="000000"/>
                </a:solidFill>
                <a:latin typeface="Helvetica Neue"/>
                <a:ea typeface="Helvetica Neue"/>
                <a:cs typeface="Helvetica Neue"/>
                <a:sym typeface="Helvetica Neue"/>
              </a:rPr>
              <a:t>)</a:t>
            </a:r>
            <a:endParaRPr sz="1000">
              <a:solidFill>
                <a:srgbClr val="000000"/>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29"/>
          <p:cNvPicPr preferRelativeResize="0"/>
          <p:nvPr/>
        </p:nvPicPr>
        <p:blipFill>
          <a:blip r:embed="rId3">
            <a:alphaModFix/>
          </a:blip>
          <a:stretch>
            <a:fillRect/>
          </a:stretch>
        </p:blipFill>
        <p:spPr>
          <a:xfrm>
            <a:off x="504000" y="51050"/>
            <a:ext cx="8136008" cy="483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POUR Examples</a:t>
            </a:r>
            <a:endParaRPr b="1" sz="2800">
              <a:solidFill>
                <a:srgbClr val="000000"/>
              </a:solidFill>
              <a:latin typeface="Helvetica Neue"/>
              <a:ea typeface="Helvetica Neue"/>
              <a:cs typeface="Helvetica Neue"/>
              <a:sym typeface="Helvetica Neue"/>
            </a:endParaRPr>
          </a:p>
        </p:txBody>
      </p:sp>
      <p:pic>
        <p:nvPicPr>
          <p:cNvPr id="212" name="Google Shape;212;p30"/>
          <p:cNvPicPr preferRelativeResize="0"/>
          <p:nvPr/>
        </p:nvPicPr>
        <p:blipFill>
          <a:blip r:embed="rId3">
            <a:alphaModFix/>
          </a:blip>
          <a:stretch>
            <a:fillRect/>
          </a:stretch>
        </p:blipFill>
        <p:spPr>
          <a:xfrm>
            <a:off x="1874850" y="1393000"/>
            <a:ext cx="5394300" cy="2833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1"/>
          <p:cNvSpPr txBox="1"/>
          <p:nvPr/>
        </p:nvSpPr>
        <p:spPr>
          <a:xfrm>
            <a:off x="311700" y="369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605"/>
              <a:buNone/>
            </a:pPr>
            <a:r>
              <a:rPr b="1" lang="en" sz="2440">
                <a:solidFill>
                  <a:srgbClr val="000000"/>
                </a:solidFill>
                <a:latin typeface="Helvetica Neue"/>
                <a:ea typeface="Helvetica Neue"/>
                <a:cs typeface="Helvetica Neue"/>
                <a:sym typeface="Helvetica Neue"/>
              </a:rPr>
              <a:t>Web Content Accessibility Guidelines (WCAG) </a:t>
            </a:r>
            <a:endParaRPr b="1" sz="2440">
              <a:solidFill>
                <a:srgbClr val="000000"/>
              </a:solidFill>
              <a:latin typeface="Helvetica Neue"/>
              <a:ea typeface="Helvetica Neue"/>
              <a:cs typeface="Helvetica Neue"/>
              <a:sym typeface="Helvetica Neue"/>
            </a:endParaRPr>
          </a:p>
          <a:p>
            <a:pPr indent="0" lvl="0" marL="0" rtl="0" algn="l">
              <a:lnSpc>
                <a:spcPct val="80000"/>
              </a:lnSpc>
              <a:spcBef>
                <a:spcPts val="0"/>
              </a:spcBef>
              <a:spcAft>
                <a:spcPts val="0"/>
              </a:spcAft>
              <a:buSzPts val="605"/>
              <a:buNone/>
            </a:pPr>
            <a:r>
              <a:rPr b="1" lang="en" sz="2440">
                <a:solidFill>
                  <a:srgbClr val="000000"/>
                </a:solidFill>
                <a:latin typeface="Helvetica Neue"/>
                <a:ea typeface="Helvetica Neue"/>
                <a:cs typeface="Helvetica Neue"/>
                <a:sym typeface="Helvetica Neue"/>
              </a:rPr>
              <a:t>2.1 Compliance </a:t>
            </a:r>
            <a:endParaRPr b="1" sz="2440">
              <a:solidFill>
                <a:srgbClr val="000000"/>
              </a:solidFill>
              <a:latin typeface="Helvetica Neue"/>
              <a:ea typeface="Helvetica Neue"/>
              <a:cs typeface="Helvetica Neue"/>
              <a:sym typeface="Helvetica Neue"/>
            </a:endParaRPr>
          </a:p>
        </p:txBody>
      </p:sp>
      <p:sp>
        <p:nvSpPr>
          <p:cNvPr id="218" name="Google Shape;218;p31"/>
          <p:cNvSpPr txBox="1"/>
          <p:nvPr/>
        </p:nvSpPr>
        <p:spPr>
          <a:xfrm>
            <a:off x="3081000" y="4599200"/>
            <a:ext cx="2982000" cy="256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000">
                <a:solidFill>
                  <a:srgbClr val="000000"/>
                </a:solidFill>
                <a:latin typeface="Helvetica Neue"/>
                <a:ea typeface="Helvetica Neue"/>
                <a:cs typeface="Helvetica Neue"/>
                <a:sym typeface="Helvetica Neue"/>
              </a:rPr>
              <a:t>Image source: https://cstate.se/writing/wcag</a:t>
            </a:r>
            <a:endParaRPr sz="1000">
              <a:solidFill>
                <a:srgbClr val="000000"/>
              </a:solidFill>
              <a:latin typeface="Helvetica Neue"/>
              <a:ea typeface="Helvetica Neue"/>
              <a:cs typeface="Helvetica Neue"/>
              <a:sym typeface="Helvetica Neue"/>
            </a:endParaRPr>
          </a:p>
        </p:txBody>
      </p:sp>
      <p:pic>
        <p:nvPicPr>
          <p:cNvPr id="219" name="Google Shape;219;p31"/>
          <p:cNvPicPr preferRelativeResize="0"/>
          <p:nvPr/>
        </p:nvPicPr>
        <p:blipFill>
          <a:blip r:embed="rId3">
            <a:alphaModFix/>
          </a:blip>
          <a:stretch>
            <a:fillRect/>
          </a:stretch>
        </p:blipFill>
        <p:spPr>
          <a:xfrm>
            <a:off x="852549" y="1363886"/>
            <a:ext cx="7438900" cy="3158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2"/>
          <p:cNvSpPr/>
          <p:nvPr/>
        </p:nvSpPr>
        <p:spPr>
          <a:xfrm>
            <a:off x="5539325" y="1872225"/>
            <a:ext cx="3593100" cy="420600"/>
          </a:xfrm>
          <a:prstGeom prst="rect">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25" name="Google Shape;225;p32"/>
          <p:cNvSpPr txBox="1"/>
          <p:nvPr/>
        </p:nvSpPr>
        <p:spPr>
          <a:xfrm>
            <a:off x="311700" y="411250"/>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Digital Accessibility Essentials </a:t>
            </a:r>
            <a:endParaRPr b="1" sz="2800">
              <a:solidFill>
                <a:srgbClr val="000000"/>
              </a:solidFill>
              <a:latin typeface="Helvetica Neue"/>
              <a:ea typeface="Helvetica Neue"/>
              <a:cs typeface="Helvetica Neue"/>
              <a:sym typeface="Helvetica Neue"/>
            </a:endParaRPr>
          </a:p>
        </p:txBody>
      </p:sp>
      <p:pic>
        <p:nvPicPr>
          <p:cNvPr id="226" name="Google Shape;226;p32"/>
          <p:cNvPicPr preferRelativeResize="0"/>
          <p:nvPr/>
        </p:nvPicPr>
        <p:blipFill>
          <a:blip r:embed="rId3">
            <a:alphaModFix/>
          </a:blip>
          <a:stretch>
            <a:fillRect/>
          </a:stretch>
        </p:blipFill>
        <p:spPr>
          <a:xfrm>
            <a:off x="185474" y="890300"/>
            <a:ext cx="5277650" cy="4022350"/>
          </a:xfrm>
          <a:prstGeom prst="rect">
            <a:avLst/>
          </a:prstGeom>
          <a:noFill/>
          <a:ln>
            <a:noFill/>
          </a:ln>
          <a:effectLst>
            <a:outerShdw blurRad="57150" rotWithShape="0" algn="bl" dir="5400000" dist="19050">
              <a:srgbClr val="000000">
                <a:alpha val="50000"/>
              </a:srgbClr>
            </a:outerShdw>
          </a:effectLst>
        </p:spPr>
      </p:pic>
      <p:pic>
        <p:nvPicPr>
          <p:cNvPr id="227" name="Google Shape;227;p32"/>
          <p:cNvPicPr preferRelativeResize="0"/>
          <p:nvPr/>
        </p:nvPicPr>
        <p:blipFill>
          <a:blip r:embed="rId4">
            <a:alphaModFix/>
          </a:blip>
          <a:stretch>
            <a:fillRect/>
          </a:stretch>
        </p:blipFill>
        <p:spPr>
          <a:xfrm>
            <a:off x="6684225" y="3322628"/>
            <a:ext cx="1337674" cy="1337650"/>
          </a:xfrm>
          <a:prstGeom prst="rect">
            <a:avLst/>
          </a:prstGeom>
          <a:noFill/>
          <a:ln>
            <a:noFill/>
          </a:ln>
        </p:spPr>
      </p:pic>
      <p:sp>
        <p:nvSpPr>
          <p:cNvPr id="228" name="Google Shape;228;p32"/>
          <p:cNvSpPr txBox="1"/>
          <p:nvPr/>
        </p:nvSpPr>
        <p:spPr>
          <a:xfrm>
            <a:off x="5445650" y="1805463"/>
            <a:ext cx="38148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FFFF"/>
                </a:solidFill>
                <a:latin typeface="Helvetica Neue"/>
                <a:ea typeface="Helvetica Neue"/>
                <a:cs typeface="Helvetica Neue"/>
                <a:sym typeface="Helvetica Neue"/>
              </a:rPr>
              <a:t>Source: https://it.umd.edu/accessibility/six-essential-steps</a:t>
            </a:r>
            <a:endParaRPr sz="1200">
              <a:solidFill>
                <a:srgbClr val="FFFFFF"/>
              </a:solidFill>
              <a:latin typeface="Helvetica Neue"/>
              <a:ea typeface="Helvetica Neue"/>
              <a:cs typeface="Helvetica Neue"/>
              <a:sym typeface="Helvetica Neue"/>
            </a:endParaRPr>
          </a:p>
        </p:txBody>
      </p:sp>
      <p:sp>
        <p:nvSpPr>
          <p:cNvPr id="229" name="Google Shape;229;p32"/>
          <p:cNvSpPr/>
          <p:nvPr/>
        </p:nvSpPr>
        <p:spPr>
          <a:xfrm>
            <a:off x="5686725" y="3867125"/>
            <a:ext cx="997500" cy="360600"/>
          </a:xfrm>
          <a:prstGeom prst="leftRightArrow">
            <a:avLst>
              <a:gd fmla="val 50000" name="adj1"/>
              <a:gd fmla="val 50000" name="adj2"/>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30" name="Google Shape;230;p32"/>
          <p:cNvSpPr/>
          <p:nvPr/>
        </p:nvSpPr>
        <p:spPr>
          <a:xfrm rot="5400000">
            <a:off x="6814038" y="2678013"/>
            <a:ext cx="997500" cy="360600"/>
          </a:xfrm>
          <a:prstGeom prst="leftRightArrow">
            <a:avLst>
              <a:gd fmla="val 50000" name="adj1"/>
              <a:gd fmla="val 50000" name="adj2"/>
            </a:avLst>
          </a:prstGeom>
          <a:solidFill>
            <a:srgbClr val="00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231" name="Google Shape;231;p32"/>
          <p:cNvSpPr txBox="1"/>
          <p:nvPr/>
        </p:nvSpPr>
        <p:spPr>
          <a:xfrm>
            <a:off x="2730300" y="4660275"/>
            <a:ext cx="476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00"/>
                </a:solidFill>
                <a:latin typeface="Helvetica Neue"/>
                <a:ea typeface="Helvetica Neue"/>
                <a:cs typeface="Helvetica Neue"/>
                <a:sym typeface="Helvetica Neue"/>
              </a:rPr>
              <a:t>Source: https://it.umd.edu/accessibility/six-essential-steps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3"/>
          <p:cNvSpPr txBox="1"/>
          <p:nvPr/>
        </p:nvSpPr>
        <p:spPr>
          <a:xfrm>
            <a:off x="311700" y="220350"/>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Universal Design for Learning </a:t>
            </a:r>
            <a:endParaRPr b="1" sz="2800">
              <a:solidFill>
                <a:srgbClr val="000000"/>
              </a:solidFill>
              <a:latin typeface="Helvetica Neue"/>
              <a:ea typeface="Helvetica Neue"/>
              <a:cs typeface="Helvetica Neue"/>
              <a:sym typeface="Helvetica Neue"/>
            </a:endParaRPr>
          </a:p>
        </p:txBody>
      </p:sp>
      <p:sp>
        <p:nvSpPr>
          <p:cNvPr id="237" name="Google Shape;237;p33"/>
          <p:cNvSpPr txBox="1"/>
          <p:nvPr/>
        </p:nvSpPr>
        <p:spPr>
          <a:xfrm>
            <a:off x="264450" y="793050"/>
            <a:ext cx="8615100" cy="385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600">
                <a:solidFill>
                  <a:srgbClr val="262D34"/>
                </a:solidFill>
                <a:highlight>
                  <a:srgbClr val="FFFFFF"/>
                </a:highlight>
                <a:latin typeface="Helvetica Neue"/>
                <a:ea typeface="Helvetica Neue"/>
                <a:cs typeface="Helvetica Neue"/>
                <a:sym typeface="Helvetica Neue"/>
              </a:rPr>
              <a:t>“The goal of UDL is to support learner agency,</a:t>
            </a:r>
            <a:r>
              <a:rPr lang="en" sz="1600">
                <a:solidFill>
                  <a:srgbClr val="262D34"/>
                </a:solidFill>
                <a:highlight>
                  <a:srgbClr val="FFFFFF"/>
                </a:highlight>
                <a:latin typeface="Helvetica Neue"/>
                <a:ea typeface="Helvetica Neue"/>
                <a:cs typeface="Helvetica Neue"/>
                <a:sym typeface="Helvetica Neue"/>
              </a:rPr>
              <a:t> the capacity to actively participate in making choices in service of learning goals. UDL aims to change the design of the environment rather than to situate the problem as a perceived deficit within the learner.”</a:t>
            </a:r>
            <a:endParaRPr sz="1600">
              <a:solidFill>
                <a:srgbClr val="262D34"/>
              </a:solidFill>
              <a:highlight>
                <a:srgbClr val="FFFFFF"/>
              </a:highlight>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lang="en" sz="1600">
                <a:solidFill>
                  <a:srgbClr val="262D34"/>
                </a:solidFill>
                <a:highlight>
                  <a:srgbClr val="FFFFFF"/>
                </a:highlight>
                <a:latin typeface="Helvetica Neue"/>
                <a:ea typeface="Helvetica Neue"/>
                <a:cs typeface="Helvetica Neue"/>
                <a:sym typeface="Helvetica Neue"/>
              </a:rPr>
              <a:t>The UDL Guidelines inform the design of learning environments to support learner agency that is:</a:t>
            </a:r>
            <a:endParaRPr sz="1600">
              <a:solidFill>
                <a:srgbClr val="262D34"/>
              </a:solidFill>
              <a:highlight>
                <a:srgbClr val="FFFFFF"/>
              </a:highlight>
              <a:latin typeface="Helvetica Neue"/>
              <a:ea typeface="Helvetica Neue"/>
              <a:cs typeface="Helvetica Neue"/>
              <a:sym typeface="Helvetica Neue"/>
            </a:endParaRPr>
          </a:p>
          <a:p>
            <a:pPr indent="-317500" lvl="0" marL="457200" rtl="0" algn="l">
              <a:lnSpc>
                <a:spcPct val="115000"/>
              </a:lnSpc>
              <a:spcBef>
                <a:spcPts val="1200"/>
              </a:spcBef>
              <a:spcAft>
                <a:spcPts val="0"/>
              </a:spcAft>
              <a:buClr>
                <a:srgbClr val="262D34"/>
              </a:buClr>
              <a:buSzPts val="1400"/>
              <a:buFont typeface="Helvetica Neue"/>
              <a:buChar char="●"/>
            </a:pPr>
            <a:r>
              <a:rPr b="1" lang="en">
                <a:solidFill>
                  <a:srgbClr val="262D34"/>
                </a:solidFill>
                <a:highlight>
                  <a:srgbClr val="FFFFFF"/>
                </a:highlight>
                <a:latin typeface="Helvetica Neue"/>
                <a:ea typeface="Helvetica Neue"/>
                <a:cs typeface="Helvetica Neue"/>
                <a:sym typeface="Helvetica Neue"/>
              </a:rPr>
              <a:t>Purposeful</a:t>
            </a:r>
            <a:r>
              <a:rPr lang="en">
                <a:solidFill>
                  <a:srgbClr val="262D34"/>
                </a:solidFill>
                <a:highlight>
                  <a:srgbClr val="FFFFFF"/>
                </a:highlight>
                <a:latin typeface="Helvetica Neue"/>
                <a:ea typeface="Helvetica Neue"/>
                <a:cs typeface="Helvetica Neue"/>
                <a:sym typeface="Helvetica Neue"/>
              </a:rPr>
              <a:t> - internalized self-efficacy, acting in ways that are personally and socially meaningful.</a:t>
            </a:r>
            <a:endParaRPr>
              <a:solidFill>
                <a:srgbClr val="262D34"/>
              </a:solidFill>
              <a:highlight>
                <a:srgbClr val="FFFFFF"/>
              </a:highlight>
              <a:latin typeface="Helvetica Neue"/>
              <a:ea typeface="Helvetica Neue"/>
              <a:cs typeface="Helvetica Neue"/>
              <a:sym typeface="Helvetica Neue"/>
            </a:endParaRPr>
          </a:p>
          <a:p>
            <a:pPr indent="-317500" lvl="0" marL="457200" rtl="0" algn="l">
              <a:lnSpc>
                <a:spcPct val="115000"/>
              </a:lnSpc>
              <a:spcBef>
                <a:spcPts val="0"/>
              </a:spcBef>
              <a:spcAft>
                <a:spcPts val="0"/>
              </a:spcAft>
              <a:buClr>
                <a:srgbClr val="262D34"/>
              </a:buClr>
              <a:buSzPts val="1400"/>
              <a:buFont typeface="Helvetica Neue"/>
              <a:buChar char="●"/>
            </a:pPr>
            <a:r>
              <a:rPr b="1" lang="en">
                <a:solidFill>
                  <a:srgbClr val="262D34"/>
                </a:solidFill>
                <a:highlight>
                  <a:srgbClr val="FFFFFF"/>
                </a:highlight>
                <a:latin typeface="Helvetica Neue"/>
                <a:ea typeface="Helvetica Neue"/>
                <a:cs typeface="Helvetica Neue"/>
                <a:sym typeface="Helvetica Neue"/>
              </a:rPr>
              <a:t>Reflective</a:t>
            </a:r>
            <a:r>
              <a:rPr lang="en">
                <a:solidFill>
                  <a:srgbClr val="262D34"/>
                </a:solidFill>
                <a:highlight>
                  <a:srgbClr val="FFFFFF"/>
                </a:highlight>
                <a:latin typeface="Helvetica Neue"/>
                <a:ea typeface="Helvetica Neue"/>
                <a:cs typeface="Helvetica Neue"/>
                <a:sym typeface="Helvetica Neue"/>
              </a:rPr>
              <a:t> - self-awareness and metacognition to identify internal motivations and external influences that support learning and make adjustments when necessary.</a:t>
            </a:r>
            <a:endParaRPr>
              <a:solidFill>
                <a:srgbClr val="262D34"/>
              </a:solidFill>
              <a:highlight>
                <a:srgbClr val="FFFFFF"/>
              </a:highlight>
              <a:latin typeface="Helvetica Neue"/>
              <a:ea typeface="Helvetica Neue"/>
              <a:cs typeface="Helvetica Neue"/>
              <a:sym typeface="Helvetica Neue"/>
            </a:endParaRPr>
          </a:p>
          <a:p>
            <a:pPr indent="-317500" lvl="0" marL="457200" rtl="0" algn="l">
              <a:lnSpc>
                <a:spcPct val="115000"/>
              </a:lnSpc>
              <a:spcBef>
                <a:spcPts val="0"/>
              </a:spcBef>
              <a:spcAft>
                <a:spcPts val="0"/>
              </a:spcAft>
              <a:buClr>
                <a:srgbClr val="262D34"/>
              </a:buClr>
              <a:buSzPts val="1400"/>
              <a:buFont typeface="Helvetica Neue"/>
              <a:buChar char="●"/>
            </a:pPr>
            <a:r>
              <a:rPr b="1" lang="en">
                <a:solidFill>
                  <a:srgbClr val="262D34"/>
                </a:solidFill>
                <a:highlight>
                  <a:srgbClr val="FFFFFF"/>
                </a:highlight>
                <a:latin typeface="Helvetica Neue"/>
                <a:ea typeface="Helvetica Neue"/>
                <a:cs typeface="Helvetica Neue"/>
                <a:sym typeface="Helvetica Neue"/>
              </a:rPr>
              <a:t>Resourceful</a:t>
            </a:r>
            <a:r>
              <a:rPr lang="en">
                <a:solidFill>
                  <a:srgbClr val="262D34"/>
                </a:solidFill>
                <a:highlight>
                  <a:srgbClr val="FFFFFF"/>
                </a:highlight>
                <a:latin typeface="Helvetica Neue"/>
                <a:ea typeface="Helvetica Neue"/>
                <a:cs typeface="Helvetica Neue"/>
                <a:sym typeface="Helvetica Neue"/>
              </a:rPr>
              <a:t> - understanding and applying assets, strengths, resources, and linguistic and cultural capital.</a:t>
            </a:r>
            <a:endParaRPr>
              <a:solidFill>
                <a:srgbClr val="262D34"/>
              </a:solidFill>
              <a:highlight>
                <a:srgbClr val="FFFFFF"/>
              </a:highlight>
              <a:latin typeface="Helvetica Neue"/>
              <a:ea typeface="Helvetica Neue"/>
              <a:cs typeface="Helvetica Neue"/>
              <a:sym typeface="Helvetica Neue"/>
            </a:endParaRPr>
          </a:p>
          <a:p>
            <a:pPr indent="-317500" lvl="0" marL="457200" rtl="0" algn="l">
              <a:lnSpc>
                <a:spcPct val="115000"/>
              </a:lnSpc>
              <a:spcBef>
                <a:spcPts val="0"/>
              </a:spcBef>
              <a:spcAft>
                <a:spcPts val="0"/>
              </a:spcAft>
              <a:buClr>
                <a:srgbClr val="262D34"/>
              </a:buClr>
              <a:buSzPts val="1400"/>
              <a:buFont typeface="Helvetica Neue"/>
              <a:buChar char="●"/>
            </a:pPr>
            <a:r>
              <a:rPr b="1" lang="en">
                <a:solidFill>
                  <a:srgbClr val="262D34"/>
                </a:solidFill>
                <a:highlight>
                  <a:srgbClr val="FFFFFF"/>
                </a:highlight>
                <a:latin typeface="Helvetica Neue"/>
                <a:ea typeface="Helvetica Neue"/>
                <a:cs typeface="Helvetica Neue"/>
                <a:sym typeface="Helvetica Neue"/>
              </a:rPr>
              <a:t>Authentic </a:t>
            </a:r>
            <a:r>
              <a:rPr lang="en">
                <a:solidFill>
                  <a:srgbClr val="262D34"/>
                </a:solidFill>
                <a:highlight>
                  <a:srgbClr val="FFFFFF"/>
                </a:highlight>
                <a:latin typeface="Helvetica Neue"/>
                <a:ea typeface="Helvetica Neue"/>
                <a:cs typeface="Helvetica Neue"/>
                <a:sym typeface="Helvetica Neue"/>
              </a:rPr>
              <a:t>- increasing comprehension and deepening understanding in ways that are genuine.</a:t>
            </a:r>
            <a:endParaRPr>
              <a:solidFill>
                <a:srgbClr val="262D34"/>
              </a:solidFill>
              <a:highlight>
                <a:srgbClr val="FFFFFF"/>
              </a:highlight>
              <a:latin typeface="Helvetica Neue"/>
              <a:ea typeface="Helvetica Neue"/>
              <a:cs typeface="Helvetica Neue"/>
              <a:sym typeface="Helvetica Neue"/>
            </a:endParaRPr>
          </a:p>
          <a:p>
            <a:pPr indent="-317500" lvl="0" marL="457200" rtl="0" algn="l">
              <a:lnSpc>
                <a:spcPct val="115000"/>
              </a:lnSpc>
              <a:spcBef>
                <a:spcPts val="0"/>
              </a:spcBef>
              <a:spcAft>
                <a:spcPts val="0"/>
              </a:spcAft>
              <a:buClr>
                <a:srgbClr val="262D34"/>
              </a:buClr>
              <a:buSzPts val="1400"/>
              <a:buFont typeface="Helvetica Neue"/>
              <a:buChar char="●"/>
            </a:pPr>
            <a:r>
              <a:rPr b="1" lang="en">
                <a:solidFill>
                  <a:srgbClr val="262D34"/>
                </a:solidFill>
                <a:highlight>
                  <a:srgbClr val="FFFFFF"/>
                </a:highlight>
                <a:latin typeface="Helvetica Neue"/>
                <a:ea typeface="Helvetica Neue"/>
                <a:cs typeface="Helvetica Neue"/>
                <a:sym typeface="Helvetica Neue"/>
              </a:rPr>
              <a:t>Strategic</a:t>
            </a:r>
            <a:r>
              <a:rPr lang="en">
                <a:solidFill>
                  <a:srgbClr val="262D34"/>
                </a:solidFill>
                <a:highlight>
                  <a:srgbClr val="FFFFFF"/>
                </a:highlight>
                <a:latin typeface="Helvetica Neue"/>
                <a:ea typeface="Helvetica Neue"/>
                <a:cs typeface="Helvetica Neue"/>
                <a:sym typeface="Helvetica Neue"/>
              </a:rPr>
              <a:t> - setting goals and monitoring learning with intentionality and planfulness.</a:t>
            </a:r>
            <a:endParaRPr>
              <a:solidFill>
                <a:srgbClr val="262D34"/>
              </a:solidFill>
              <a:highlight>
                <a:srgbClr val="FFFFFF"/>
              </a:highlight>
              <a:latin typeface="Helvetica Neue"/>
              <a:ea typeface="Helvetica Neue"/>
              <a:cs typeface="Helvetica Neue"/>
              <a:sym typeface="Helvetica Neue"/>
            </a:endParaRPr>
          </a:p>
          <a:p>
            <a:pPr indent="-317500" lvl="0" marL="457200" rtl="0" algn="l">
              <a:lnSpc>
                <a:spcPct val="115000"/>
              </a:lnSpc>
              <a:spcBef>
                <a:spcPts val="0"/>
              </a:spcBef>
              <a:spcAft>
                <a:spcPts val="0"/>
              </a:spcAft>
              <a:buClr>
                <a:srgbClr val="262D34"/>
              </a:buClr>
              <a:buSzPts val="1400"/>
              <a:buFont typeface="Helvetica Neue"/>
              <a:buChar char="●"/>
            </a:pPr>
            <a:r>
              <a:rPr b="1" lang="en">
                <a:solidFill>
                  <a:srgbClr val="262D34"/>
                </a:solidFill>
                <a:highlight>
                  <a:srgbClr val="FFFFFF"/>
                </a:highlight>
                <a:latin typeface="Helvetica Neue"/>
                <a:ea typeface="Helvetica Neue"/>
                <a:cs typeface="Helvetica Neue"/>
                <a:sym typeface="Helvetica Neue"/>
              </a:rPr>
              <a:t>Action-oriented</a:t>
            </a:r>
            <a:r>
              <a:rPr lang="en">
                <a:solidFill>
                  <a:srgbClr val="262D34"/>
                </a:solidFill>
                <a:highlight>
                  <a:srgbClr val="FFFFFF"/>
                </a:highlight>
                <a:latin typeface="Helvetica Neue"/>
                <a:ea typeface="Helvetica Neue"/>
                <a:cs typeface="Helvetica Neue"/>
                <a:sym typeface="Helvetica Neue"/>
              </a:rPr>
              <a:t> - self-directed and collective action in pursuit of learning goals.</a:t>
            </a:r>
            <a:endParaRPr sz="1800">
              <a:solidFill>
                <a:srgbClr val="595959"/>
              </a:solidFill>
              <a:latin typeface="Helvetica Neue"/>
              <a:ea typeface="Helvetica Neue"/>
              <a:cs typeface="Helvetica Neue"/>
              <a:sym typeface="Helvetica Neue"/>
            </a:endParaRPr>
          </a:p>
        </p:txBody>
      </p:sp>
      <p:sp>
        <p:nvSpPr>
          <p:cNvPr id="238" name="Google Shape;238;p33"/>
          <p:cNvSpPr txBox="1"/>
          <p:nvPr/>
        </p:nvSpPr>
        <p:spPr>
          <a:xfrm>
            <a:off x="460350" y="4651950"/>
            <a:ext cx="8223300" cy="271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000">
                <a:solidFill>
                  <a:srgbClr val="000000"/>
                </a:solidFill>
                <a:latin typeface="Helvetica Neue"/>
                <a:ea typeface="Helvetica Neue"/>
                <a:cs typeface="Helvetica Neue"/>
                <a:sym typeface="Helvetica Neue"/>
              </a:rPr>
              <a:t>Source: </a:t>
            </a:r>
            <a:r>
              <a:rPr lang="en" sz="1000" u="sng">
                <a:solidFill>
                  <a:srgbClr val="000000"/>
                </a:solidFill>
                <a:latin typeface="Helvetica Neue"/>
                <a:ea typeface="Helvetica Neue"/>
                <a:cs typeface="Helvetica Neue"/>
                <a:sym typeface="Helvetica Neue"/>
                <a:hlinkClick r:id="rId3">
                  <a:extLst>
                    <a:ext uri="{A12FA001-AC4F-418D-AE19-62706E023703}">
                      <ahyp:hlinkClr val="tx"/>
                    </a:ext>
                  </a:extLst>
                </a:hlinkClick>
              </a:rPr>
              <a:t>CAST Universal Design for Learning Guidelines</a:t>
            </a:r>
            <a:endParaRPr sz="1000">
              <a:solidFill>
                <a:srgbClr val="000000"/>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4"/>
          <p:cNvSpPr txBox="1"/>
          <p:nvPr/>
        </p:nvSpPr>
        <p:spPr>
          <a:xfrm>
            <a:off x="311700" y="2164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Universal Design for Learning </a:t>
            </a:r>
            <a:endParaRPr b="1" sz="2800">
              <a:solidFill>
                <a:srgbClr val="000000"/>
              </a:solidFill>
              <a:latin typeface="Helvetica Neue"/>
              <a:ea typeface="Helvetica Neue"/>
              <a:cs typeface="Helvetica Neue"/>
              <a:sym typeface="Helvetica Neue"/>
            </a:endParaRPr>
          </a:p>
        </p:txBody>
      </p:sp>
      <p:sp>
        <p:nvSpPr>
          <p:cNvPr id="244" name="Google Shape;244;p34"/>
          <p:cNvSpPr txBox="1"/>
          <p:nvPr/>
        </p:nvSpPr>
        <p:spPr>
          <a:xfrm>
            <a:off x="460350" y="4585825"/>
            <a:ext cx="8223300" cy="271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000">
                <a:solidFill>
                  <a:srgbClr val="000000"/>
                </a:solidFill>
                <a:latin typeface="Helvetica Neue"/>
                <a:ea typeface="Helvetica Neue"/>
                <a:cs typeface="Helvetica Neue"/>
                <a:sym typeface="Helvetica Neue"/>
              </a:rPr>
              <a:t>Source: </a:t>
            </a:r>
            <a:r>
              <a:rPr lang="en" sz="1000" u="sng">
                <a:solidFill>
                  <a:srgbClr val="000000"/>
                </a:solidFill>
                <a:latin typeface="Helvetica Neue"/>
                <a:ea typeface="Helvetica Neue"/>
                <a:cs typeface="Helvetica Neue"/>
                <a:sym typeface="Helvetica Neue"/>
                <a:hlinkClick r:id="rId3">
                  <a:extLst>
                    <a:ext uri="{A12FA001-AC4F-418D-AE19-62706E023703}">
                      <ahyp:hlinkClr val="tx"/>
                    </a:ext>
                  </a:extLst>
                </a:hlinkClick>
              </a:rPr>
              <a:t>CAST Universal Design for Learning Guidelines</a:t>
            </a:r>
            <a:endParaRPr sz="1000">
              <a:solidFill>
                <a:srgbClr val="000000"/>
              </a:solidFill>
              <a:latin typeface="Helvetica Neue"/>
              <a:ea typeface="Helvetica Neue"/>
              <a:cs typeface="Helvetica Neue"/>
              <a:sym typeface="Helvetica Neue"/>
            </a:endParaRPr>
          </a:p>
        </p:txBody>
      </p:sp>
      <p:pic>
        <p:nvPicPr>
          <p:cNvPr id="245" name="Google Shape;245;p34"/>
          <p:cNvPicPr preferRelativeResize="0"/>
          <p:nvPr/>
        </p:nvPicPr>
        <p:blipFill>
          <a:blip r:embed="rId4">
            <a:alphaModFix/>
          </a:blip>
          <a:stretch>
            <a:fillRect/>
          </a:stretch>
        </p:blipFill>
        <p:spPr>
          <a:xfrm>
            <a:off x="1999913" y="723450"/>
            <a:ext cx="5144164" cy="38175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5"/>
          <p:cNvSpPr txBox="1"/>
          <p:nvPr/>
        </p:nvSpPr>
        <p:spPr>
          <a:xfrm>
            <a:off x="311700" y="38900"/>
            <a:ext cx="8520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Universal Design for Learning - </a:t>
            </a:r>
            <a:endParaRPr b="1" sz="2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Icon-based Summary  </a:t>
            </a:r>
            <a:endParaRPr b="1" sz="2800">
              <a:solidFill>
                <a:srgbClr val="000000"/>
              </a:solidFill>
              <a:latin typeface="Helvetica Neue"/>
              <a:ea typeface="Helvetica Neue"/>
              <a:cs typeface="Helvetica Neue"/>
              <a:sym typeface="Helvetica Neue"/>
            </a:endParaRPr>
          </a:p>
        </p:txBody>
      </p:sp>
      <p:pic>
        <p:nvPicPr>
          <p:cNvPr id="251" name="Google Shape;251;p35"/>
          <p:cNvPicPr preferRelativeResize="0"/>
          <p:nvPr/>
        </p:nvPicPr>
        <p:blipFill>
          <a:blip r:embed="rId3">
            <a:alphaModFix/>
          </a:blip>
          <a:stretch>
            <a:fillRect/>
          </a:stretch>
        </p:blipFill>
        <p:spPr>
          <a:xfrm>
            <a:off x="1854975" y="1231900"/>
            <a:ext cx="5434050" cy="3089424"/>
          </a:xfrm>
          <a:prstGeom prst="rect">
            <a:avLst/>
          </a:prstGeom>
          <a:noFill/>
          <a:ln>
            <a:noFill/>
          </a:ln>
        </p:spPr>
      </p:pic>
      <p:sp>
        <p:nvSpPr>
          <p:cNvPr id="252" name="Google Shape;252;p35"/>
          <p:cNvSpPr txBox="1"/>
          <p:nvPr/>
        </p:nvSpPr>
        <p:spPr>
          <a:xfrm>
            <a:off x="460350" y="4517575"/>
            <a:ext cx="8223300" cy="271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 sz="1000">
                <a:solidFill>
                  <a:srgbClr val="000000"/>
                </a:solidFill>
                <a:latin typeface="Helvetica Neue"/>
                <a:ea typeface="Helvetica Neue"/>
                <a:cs typeface="Helvetica Neue"/>
                <a:sym typeface="Helvetica Neue"/>
              </a:rPr>
              <a:t>Source: </a:t>
            </a:r>
            <a:r>
              <a:rPr lang="en" sz="1000" u="sng">
                <a:solidFill>
                  <a:srgbClr val="000000"/>
                </a:solidFill>
                <a:latin typeface="Helvetica Neue"/>
                <a:ea typeface="Helvetica Neue"/>
                <a:cs typeface="Helvetica Neue"/>
                <a:sym typeface="Helvetica Neue"/>
                <a:hlinkClick r:id="rId4">
                  <a:extLst>
                    <a:ext uri="{A12FA001-AC4F-418D-AE19-62706E023703}">
                      <ahyp:hlinkClr val="tx"/>
                    </a:ext>
                  </a:extLst>
                </a:hlinkClick>
              </a:rPr>
              <a:t>CAST Universal Design for Learning Guidelines</a:t>
            </a:r>
            <a:endParaRPr sz="1000">
              <a:solidFill>
                <a:srgbClr val="000000"/>
              </a:solidFill>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Learner Case Studies</a:t>
            </a:r>
            <a:endParaRPr b="1" sz="2800">
              <a:solidFill>
                <a:srgbClr val="000000"/>
              </a:solidFill>
              <a:latin typeface="Helvetica Neue"/>
              <a:ea typeface="Helvetica Neue"/>
              <a:cs typeface="Helvetica Neue"/>
              <a:sym typeface="Helvetica Neue"/>
            </a:endParaRPr>
          </a:p>
        </p:txBody>
      </p:sp>
      <p:pic>
        <p:nvPicPr>
          <p:cNvPr id="258" name="Google Shape;258;p36"/>
          <p:cNvPicPr preferRelativeResize="0"/>
          <p:nvPr/>
        </p:nvPicPr>
        <p:blipFill>
          <a:blip r:embed="rId3">
            <a:alphaModFix/>
          </a:blip>
          <a:stretch>
            <a:fillRect/>
          </a:stretch>
        </p:blipFill>
        <p:spPr>
          <a:xfrm>
            <a:off x="311700" y="1127700"/>
            <a:ext cx="4820124" cy="3465950"/>
          </a:xfrm>
          <a:prstGeom prst="rect">
            <a:avLst/>
          </a:prstGeom>
          <a:noFill/>
          <a:ln>
            <a:noFill/>
          </a:ln>
          <a:effectLst>
            <a:outerShdw blurRad="57150" rotWithShape="0" algn="bl" dir="5400000" dist="19050">
              <a:srgbClr val="000000">
                <a:alpha val="50000"/>
              </a:srgbClr>
            </a:outerShdw>
          </a:effectLst>
        </p:spPr>
      </p:pic>
      <p:pic>
        <p:nvPicPr>
          <p:cNvPr descr="This timer silently counts down to 0:00, then alerts you that time is up with a gentle beep sound." id="259" name="Google Shape;259;p36" title="5 Minute Timer">
            <a:hlinkClick r:id="rId4"/>
          </p:cNvPr>
          <p:cNvPicPr preferRelativeResize="0"/>
          <p:nvPr/>
        </p:nvPicPr>
        <p:blipFill>
          <a:blip r:embed="rId5">
            <a:alphaModFix/>
          </a:blip>
          <a:stretch>
            <a:fillRect/>
          </a:stretch>
        </p:blipFill>
        <p:spPr>
          <a:xfrm>
            <a:off x="5287400" y="11277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37"/>
          <p:cNvPicPr preferRelativeResize="0"/>
          <p:nvPr/>
        </p:nvPicPr>
        <p:blipFill>
          <a:blip r:embed="rId3">
            <a:alphaModFix/>
          </a:blip>
          <a:stretch>
            <a:fillRect/>
          </a:stretch>
        </p:blipFill>
        <p:spPr>
          <a:xfrm>
            <a:off x="6024325" y="-437425"/>
            <a:ext cx="5058400" cy="3105326"/>
          </a:xfrm>
          <a:prstGeom prst="rect">
            <a:avLst/>
          </a:prstGeom>
          <a:noFill/>
          <a:ln>
            <a:noFill/>
          </a:ln>
        </p:spPr>
      </p:pic>
      <p:sp>
        <p:nvSpPr>
          <p:cNvPr id="265" name="Google Shape;265;p37"/>
          <p:cNvSpPr txBox="1"/>
          <p:nvPr/>
        </p:nvSpPr>
        <p:spPr>
          <a:xfrm>
            <a:off x="263675" y="372950"/>
            <a:ext cx="5998800" cy="6051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Learner Case Studies (1 of 2)</a:t>
            </a:r>
            <a:endParaRPr b="1" sz="2400">
              <a:solidFill>
                <a:srgbClr val="000000"/>
              </a:solidFill>
              <a:latin typeface="Helvetica Neue"/>
              <a:ea typeface="Helvetica Neue"/>
              <a:cs typeface="Helvetica Neue"/>
              <a:sym typeface="Helvetica Neue"/>
            </a:endParaRPr>
          </a:p>
        </p:txBody>
      </p:sp>
      <p:sp>
        <p:nvSpPr>
          <p:cNvPr id="266" name="Google Shape;266;p37"/>
          <p:cNvSpPr txBox="1"/>
          <p:nvPr/>
        </p:nvSpPr>
        <p:spPr>
          <a:xfrm>
            <a:off x="263675" y="929975"/>
            <a:ext cx="8544000" cy="381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u="sng">
                <a:solidFill>
                  <a:srgbClr val="000000"/>
                </a:solidFill>
                <a:latin typeface="Helvetica Neue"/>
                <a:ea typeface="Helvetica Neue"/>
                <a:cs typeface="Helvetica Neue"/>
                <a:sym typeface="Helvetica Neue"/>
              </a:rPr>
              <a:t>Learner Case Study A (A&amp;E/</a:t>
            </a:r>
            <a:r>
              <a:rPr b="1" lang="en" sz="1600" u="sng">
                <a:solidFill>
                  <a:srgbClr val="000000"/>
                </a:solidFill>
                <a:latin typeface="Helvetica Neue"/>
                <a:ea typeface="Helvetica Neue"/>
                <a:cs typeface="Helvetica Neue"/>
                <a:sym typeface="Helvetica Neue"/>
              </a:rPr>
              <a:t>Representation</a:t>
            </a:r>
            <a:r>
              <a:rPr b="1" lang="en" sz="1600" u="sng">
                <a:solidFill>
                  <a:srgbClr val="000000"/>
                </a:solidFill>
                <a:latin typeface="Helvetica Neue"/>
                <a:ea typeface="Helvetica Neue"/>
                <a:cs typeface="Helvetica Neue"/>
                <a:sym typeface="Helvetica Neue"/>
              </a:rPr>
              <a:t>)</a:t>
            </a:r>
            <a:endParaRPr b="1" sz="1600" u="sng">
              <a:solidFill>
                <a:srgbClr val="000000"/>
              </a:solidFill>
              <a:latin typeface="Helvetica Neue"/>
              <a:ea typeface="Helvetica Neue"/>
              <a:cs typeface="Helvetica Neue"/>
              <a:sym typeface="Helvetica Neue"/>
            </a:endParaRPr>
          </a:p>
          <a:p>
            <a:pPr indent="-317500" lvl="0" marL="457200" rtl="0" algn="l">
              <a:spcBef>
                <a:spcPts val="0"/>
              </a:spcBef>
              <a:spcAft>
                <a:spcPts val="0"/>
              </a:spcAft>
              <a:buClr>
                <a:srgbClr val="000000"/>
              </a:buClr>
              <a:buSzPts val="1400"/>
              <a:buFont typeface="Helvetica Neue"/>
              <a:buChar char="-"/>
            </a:pPr>
            <a:r>
              <a:rPr lang="en">
                <a:solidFill>
                  <a:srgbClr val="000000"/>
                </a:solidFill>
                <a:latin typeface="Helvetica Neue"/>
                <a:ea typeface="Helvetica Neue"/>
                <a:cs typeface="Helvetica Neue"/>
                <a:sym typeface="Helvetica Neue"/>
              </a:rPr>
              <a:t>Microlearning: Break the 45-minute video into segments with clear headings.</a:t>
            </a:r>
            <a:endParaRPr>
              <a:solidFill>
                <a:srgbClr val="000000"/>
              </a:solidFill>
              <a:latin typeface="Helvetica Neue"/>
              <a:ea typeface="Helvetica Neue"/>
              <a:cs typeface="Helvetica Neue"/>
              <a:sym typeface="Helvetica Neue"/>
            </a:endParaRPr>
          </a:p>
          <a:p>
            <a:pPr indent="-317500" lvl="0" marL="457200" rtl="0" algn="l">
              <a:spcBef>
                <a:spcPts val="0"/>
              </a:spcBef>
              <a:spcAft>
                <a:spcPts val="0"/>
              </a:spcAft>
              <a:buClr>
                <a:srgbClr val="000000"/>
              </a:buClr>
              <a:buSzPts val="1400"/>
              <a:buFont typeface="Helvetica Neue"/>
              <a:buChar char="-"/>
            </a:pPr>
            <a:r>
              <a:rPr lang="en">
                <a:solidFill>
                  <a:srgbClr val="000000"/>
                </a:solidFill>
                <a:latin typeface="Helvetica Neue"/>
                <a:ea typeface="Helvetica Neue"/>
                <a:cs typeface="Helvetica Neue"/>
                <a:sym typeface="Helvetica Neue"/>
              </a:rPr>
              <a:t>Interactive Checks: Embed interactive polls or "knowledge checks" every few minutes to refocus attention and self-assess.</a:t>
            </a:r>
            <a:endParaRPr>
              <a:solidFill>
                <a:srgbClr val="000000"/>
              </a:solidFill>
              <a:latin typeface="Helvetica Neue"/>
              <a:ea typeface="Helvetica Neue"/>
              <a:cs typeface="Helvetica Neue"/>
              <a:sym typeface="Helvetica Neue"/>
            </a:endParaRPr>
          </a:p>
          <a:p>
            <a:pPr indent="-317500" lvl="0" marL="457200" rtl="0" algn="l">
              <a:spcBef>
                <a:spcPts val="0"/>
              </a:spcBef>
              <a:spcAft>
                <a:spcPts val="0"/>
              </a:spcAft>
              <a:buClr>
                <a:srgbClr val="000000"/>
              </a:buClr>
              <a:buSzPts val="1400"/>
              <a:buFont typeface="Helvetica Neue"/>
              <a:buChar char="-"/>
            </a:pPr>
            <a:r>
              <a:rPr lang="en">
                <a:solidFill>
                  <a:srgbClr val="000000"/>
                </a:solidFill>
                <a:latin typeface="Helvetica Neue"/>
                <a:ea typeface="Helvetica Neue"/>
                <a:cs typeface="Helvetica Neue"/>
                <a:sym typeface="Helvetica Neue"/>
              </a:rPr>
              <a:t>Guided Notes: Provide a skeletal outline or "fill-in-the-blank" worksheet to keep Sergio’s hands and mind active during the lecture.</a:t>
            </a:r>
            <a:endParaRPr>
              <a:solidFill>
                <a:srgbClr val="000000"/>
              </a:solidFill>
              <a:latin typeface="Helvetica Neue"/>
              <a:ea typeface="Helvetica Neue"/>
              <a:cs typeface="Helvetica Neue"/>
              <a:sym typeface="Helvetica Neue"/>
            </a:endParaRPr>
          </a:p>
          <a:p>
            <a:pPr indent="0" lvl="0" marL="457200" rtl="0" algn="l">
              <a:spcBef>
                <a:spcPts val="0"/>
              </a:spcBef>
              <a:spcAft>
                <a:spcPts val="0"/>
              </a:spcAft>
              <a:buNone/>
            </a:pPr>
            <a:r>
              <a:t/>
            </a:r>
            <a:endParaRPr>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b="1" lang="en" sz="1600" u="sng">
                <a:solidFill>
                  <a:srgbClr val="000000"/>
                </a:solidFill>
                <a:latin typeface="Helvetica Neue"/>
                <a:ea typeface="Helvetica Neue"/>
                <a:cs typeface="Helvetica Neue"/>
                <a:sym typeface="Helvetica Neue"/>
              </a:rPr>
              <a:t>Learner Case Study B (A&amp;E)</a:t>
            </a:r>
            <a:endParaRPr b="1" sz="1600" u="sng">
              <a:solidFill>
                <a:srgbClr val="000000"/>
              </a:solidFill>
              <a:latin typeface="Helvetica Neue"/>
              <a:ea typeface="Helvetica Neue"/>
              <a:cs typeface="Helvetica Neue"/>
              <a:sym typeface="Helvetica Neue"/>
            </a:endParaRPr>
          </a:p>
          <a:p>
            <a:pPr indent="-317500" lvl="0" marL="457200" rtl="0" algn="l">
              <a:spcBef>
                <a:spcPts val="0"/>
              </a:spcBef>
              <a:spcAft>
                <a:spcPts val="0"/>
              </a:spcAft>
              <a:buClr>
                <a:srgbClr val="000000"/>
              </a:buClr>
              <a:buSzPts val="1400"/>
              <a:buFont typeface="Helvetica Neue"/>
              <a:buChar char="-"/>
            </a:pPr>
            <a:r>
              <a:rPr lang="en">
                <a:solidFill>
                  <a:srgbClr val="000000"/>
                </a:solidFill>
                <a:latin typeface="Helvetica Neue"/>
                <a:ea typeface="Helvetica Neue"/>
                <a:cs typeface="Helvetica Neue"/>
                <a:sym typeface="Helvetica Neue"/>
              </a:rPr>
              <a:t>Alternative Demonstration: Allow Elena to perform an "assessment yarning" or oral examination (viva) where she narrates the process to a lab assistant who performs the actions.</a:t>
            </a:r>
            <a:endParaRPr>
              <a:solidFill>
                <a:srgbClr val="000000"/>
              </a:solidFill>
              <a:latin typeface="Helvetica Neue"/>
              <a:ea typeface="Helvetica Neue"/>
              <a:cs typeface="Helvetica Neue"/>
              <a:sym typeface="Helvetica Neue"/>
            </a:endParaRPr>
          </a:p>
          <a:p>
            <a:pPr indent="-317500" lvl="0" marL="457200" rtl="0" algn="l">
              <a:spcBef>
                <a:spcPts val="0"/>
              </a:spcBef>
              <a:spcAft>
                <a:spcPts val="0"/>
              </a:spcAft>
              <a:buClr>
                <a:srgbClr val="000000"/>
              </a:buClr>
              <a:buSzPts val="1400"/>
              <a:buFont typeface="Helvetica Neue"/>
              <a:buChar char="-"/>
            </a:pPr>
            <a:r>
              <a:rPr lang="en">
                <a:solidFill>
                  <a:srgbClr val="000000"/>
                </a:solidFill>
                <a:latin typeface="Helvetica Neue"/>
                <a:ea typeface="Helvetica Neue"/>
                <a:cs typeface="Helvetica Neue"/>
                <a:sym typeface="Helvetica Neue"/>
              </a:rPr>
              <a:t>Virtual Simulation: Provide a virtual lab alternative where she can demonstrate the steps using eye-tracking software or a simplified interface.</a:t>
            </a:r>
            <a:endParaRPr>
              <a:solidFill>
                <a:srgbClr val="000000"/>
              </a:solidFill>
              <a:latin typeface="Helvetica Neue"/>
              <a:ea typeface="Helvetica Neue"/>
              <a:cs typeface="Helvetica Neue"/>
              <a:sym typeface="Helvetica Neue"/>
            </a:endParaRPr>
          </a:p>
          <a:p>
            <a:pPr indent="-317500" lvl="0" marL="457200" rtl="0" algn="l">
              <a:spcBef>
                <a:spcPts val="0"/>
              </a:spcBef>
              <a:spcAft>
                <a:spcPts val="0"/>
              </a:spcAft>
              <a:buClr>
                <a:srgbClr val="000000"/>
              </a:buClr>
              <a:buSzPts val="1400"/>
              <a:buFont typeface="Helvetica Neue"/>
              <a:buChar char="-"/>
            </a:pPr>
            <a:r>
              <a:rPr lang="en">
                <a:solidFill>
                  <a:srgbClr val="000000"/>
                </a:solidFill>
                <a:latin typeface="Helvetica Neue"/>
                <a:ea typeface="Helvetica Neue"/>
                <a:cs typeface="Helvetica Neue"/>
                <a:sym typeface="Helvetica Neue"/>
              </a:rPr>
              <a:t>Extended Time: Grant rest breaks to manage the fatigue associated with navigating the physical environment with an injury.</a:t>
            </a:r>
            <a:endParaRPr>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595959"/>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38"/>
          <p:cNvPicPr preferRelativeResize="0"/>
          <p:nvPr/>
        </p:nvPicPr>
        <p:blipFill>
          <a:blip r:embed="rId3">
            <a:alphaModFix/>
          </a:blip>
          <a:stretch>
            <a:fillRect/>
          </a:stretch>
        </p:blipFill>
        <p:spPr>
          <a:xfrm>
            <a:off x="6024325" y="-437425"/>
            <a:ext cx="5058400" cy="3105326"/>
          </a:xfrm>
          <a:prstGeom prst="rect">
            <a:avLst/>
          </a:prstGeom>
          <a:noFill/>
          <a:ln>
            <a:noFill/>
          </a:ln>
        </p:spPr>
      </p:pic>
      <p:sp>
        <p:nvSpPr>
          <p:cNvPr id="272" name="Google Shape;272;p38"/>
          <p:cNvSpPr txBox="1"/>
          <p:nvPr/>
        </p:nvSpPr>
        <p:spPr>
          <a:xfrm>
            <a:off x="263675" y="372950"/>
            <a:ext cx="5998800" cy="6051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Learner Case Studies (2 of 2)</a:t>
            </a:r>
            <a:endParaRPr b="1" sz="2400">
              <a:solidFill>
                <a:srgbClr val="000000"/>
              </a:solidFill>
              <a:latin typeface="Helvetica Neue"/>
              <a:ea typeface="Helvetica Neue"/>
              <a:cs typeface="Helvetica Neue"/>
              <a:sym typeface="Helvetica Neue"/>
            </a:endParaRPr>
          </a:p>
        </p:txBody>
      </p:sp>
      <p:sp>
        <p:nvSpPr>
          <p:cNvPr id="273" name="Google Shape;273;p38"/>
          <p:cNvSpPr txBox="1"/>
          <p:nvPr/>
        </p:nvSpPr>
        <p:spPr>
          <a:xfrm>
            <a:off x="263675" y="929975"/>
            <a:ext cx="8544000" cy="200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u="sng">
                <a:solidFill>
                  <a:srgbClr val="000000"/>
                </a:solidFill>
                <a:latin typeface="Helvetica Neue"/>
                <a:ea typeface="Helvetica Neue"/>
                <a:cs typeface="Helvetica Neue"/>
                <a:sym typeface="Helvetica Neue"/>
              </a:rPr>
              <a:t>Learner Case Study (Representation)</a:t>
            </a:r>
            <a:endParaRPr b="1" sz="1600" u="sng">
              <a:solidFill>
                <a:srgbClr val="000000"/>
              </a:solidFill>
              <a:latin typeface="Helvetica Neue"/>
              <a:ea typeface="Helvetica Neue"/>
              <a:cs typeface="Helvetica Neue"/>
              <a:sym typeface="Helvetica Neue"/>
            </a:endParaRPr>
          </a:p>
          <a:p>
            <a:pPr indent="-317500" lvl="0" marL="457200" rtl="0" algn="l">
              <a:spcBef>
                <a:spcPts val="0"/>
              </a:spcBef>
              <a:spcAft>
                <a:spcPts val="0"/>
              </a:spcAft>
              <a:buClr>
                <a:srgbClr val="000000"/>
              </a:buClr>
              <a:buSzPts val="1400"/>
              <a:buFont typeface="Helvetica Neue"/>
              <a:buChar char="-"/>
            </a:pPr>
            <a:r>
              <a:rPr lang="en">
                <a:solidFill>
                  <a:srgbClr val="000000"/>
                </a:solidFill>
                <a:latin typeface="Helvetica Neue"/>
                <a:ea typeface="Helvetica Neue"/>
                <a:cs typeface="Helvetica Neue"/>
                <a:sym typeface="Helvetica Neue"/>
              </a:rPr>
              <a:t>Semantic Structure: Ensure all documents use proper headings and alt-text so screen readers can navigate logically.</a:t>
            </a:r>
            <a:endParaRPr>
              <a:solidFill>
                <a:srgbClr val="000000"/>
              </a:solidFill>
              <a:latin typeface="Helvetica Neue"/>
              <a:ea typeface="Helvetica Neue"/>
              <a:cs typeface="Helvetica Neue"/>
              <a:sym typeface="Helvetica Neue"/>
            </a:endParaRPr>
          </a:p>
          <a:p>
            <a:pPr indent="-317500" lvl="0" marL="457200" rtl="0" algn="l">
              <a:spcBef>
                <a:spcPts val="0"/>
              </a:spcBef>
              <a:spcAft>
                <a:spcPts val="0"/>
              </a:spcAft>
              <a:buClr>
                <a:srgbClr val="000000"/>
              </a:buClr>
              <a:buSzPts val="1400"/>
              <a:buFont typeface="Helvetica Neue"/>
              <a:buChar char="-"/>
            </a:pPr>
            <a:r>
              <a:rPr lang="en">
                <a:solidFill>
                  <a:srgbClr val="000000"/>
                </a:solidFill>
                <a:latin typeface="Helvetica Neue"/>
                <a:ea typeface="Helvetica Neue"/>
                <a:cs typeface="Helvetica Neue"/>
                <a:sym typeface="Helvetica Neue"/>
              </a:rPr>
              <a:t>Accessible Formats: Provide "Optical Character Recognition" (OCR) versions of all PDFs or convert them to accessible Word docs. Example of OCR in action (below)</a:t>
            </a:r>
            <a:endParaRPr>
              <a:solidFill>
                <a:srgbClr val="000000"/>
              </a:solidFill>
              <a:latin typeface="Helvetica Neue"/>
              <a:ea typeface="Helvetica Neue"/>
              <a:cs typeface="Helvetica Neue"/>
              <a:sym typeface="Helvetica Neue"/>
            </a:endParaRPr>
          </a:p>
          <a:p>
            <a:pPr indent="-317500" lvl="0" marL="457200" rtl="0" algn="l">
              <a:spcBef>
                <a:spcPts val="0"/>
              </a:spcBef>
              <a:spcAft>
                <a:spcPts val="0"/>
              </a:spcAft>
              <a:buClr>
                <a:srgbClr val="000000"/>
              </a:buClr>
              <a:buSzPts val="1400"/>
              <a:buFont typeface="Helvetica Neue"/>
              <a:buChar char="-"/>
            </a:pPr>
            <a:r>
              <a:rPr lang="en">
                <a:solidFill>
                  <a:srgbClr val="000000"/>
                </a:solidFill>
                <a:latin typeface="Helvetica Neue"/>
                <a:ea typeface="Helvetica Neue"/>
                <a:cs typeface="Helvetica Neue"/>
                <a:sym typeface="Helvetica Neue"/>
              </a:rPr>
              <a:t>Data Narration: Supplement every chart with a text-based summary of the "key takeaway" (e.g., "The chart shows a 20% increase in student engagement after UDL implementation").</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595959"/>
              </a:solidFill>
              <a:latin typeface="Helvetica Neue"/>
              <a:ea typeface="Helvetica Neue"/>
              <a:cs typeface="Helvetica Neue"/>
              <a:sym typeface="Helvetica Neue"/>
            </a:endParaRPr>
          </a:p>
        </p:txBody>
      </p:sp>
      <p:pic>
        <p:nvPicPr>
          <p:cNvPr id="274" name="Google Shape;274;p38"/>
          <p:cNvPicPr preferRelativeResize="0"/>
          <p:nvPr/>
        </p:nvPicPr>
        <p:blipFill>
          <a:blip r:embed="rId4">
            <a:alphaModFix/>
          </a:blip>
          <a:stretch>
            <a:fillRect/>
          </a:stretch>
        </p:blipFill>
        <p:spPr>
          <a:xfrm>
            <a:off x="2059851" y="2667900"/>
            <a:ext cx="4951625" cy="2206025"/>
          </a:xfrm>
          <a:prstGeom prst="rect">
            <a:avLst/>
          </a:prstGeom>
          <a:noFill/>
          <a:ln>
            <a:noFill/>
          </a:ln>
        </p:spPr>
      </p:pic>
      <p:sp>
        <p:nvSpPr>
          <p:cNvPr id="275" name="Google Shape;275;p38"/>
          <p:cNvSpPr txBox="1"/>
          <p:nvPr/>
        </p:nvSpPr>
        <p:spPr>
          <a:xfrm>
            <a:off x="1044575" y="4664825"/>
            <a:ext cx="6982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595959"/>
                </a:solidFill>
                <a:latin typeface="Helvetica Neue"/>
                <a:ea typeface="Helvetica Neue"/>
                <a:cs typeface="Helvetica Neue"/>
                <a:sym typeface="Helvetica Neue"/>
              </a:rPr>
              <a:t>Source: https://www.accessiblehighered.com/files-documents</a:t>
            </a:r>
            <a:endParaRPr sz="1000">
              <a:solidFill>
                <a:srgbClr val="595959"/>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39"/>
          <p:cNvPicPr preferRelativeResize="0"/>
          <p:nvPr/>
        </p:nvPicPr>
        <p:blipFill>
          <a:blip r:embed="rId3">
            <a:alphaModFix/>
          </a:blip>
          <a:stretch>
            <a:fillRect/>
          </a:stretch>
        </p:blipFill>
        <p:spPr>
          <a:xfrm>
            <a:off x="6024325" y="-437425"/>
            <a:ext cx="5058400" cy="3105326"/>
          </a:xfrm>
          <a:prstGeom prst="rect">
            <a:avLst/>
          </a:prstGeom>
          <a:noFill/>
          <a:ln>
            <a:noFill/>
          </a:ln>
        </p:spPr>
      </p:pic>
      <p:sp>
        <p:nvSpPr>
          <p:cNvPr id="281" name="Google Shape;281;p39"/>
          <p:cNvSpPr txBox="1"/>
          <p:nvPr/>
        </p:nvSpPr>
        <p:spPr>
          <a:xfrm>
            <a:off x="263675" y="372950"/>
            <a:ext cx="5998800" cy="6051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Learner Case Studies (2 of 2)</a:t>
            </a:r>
            <a:endParaRPr b="1" sz="2400">
              <a:solidFill>
                <a:srgbClr val="000000"/>
              </a:solidFill>
              <a:latin typeface="Helvetica Neue"/>
              <a:ea typeface="Helvetica Neue"/>
              <a:cs typeface="Helvetica Neue"/>
              <a:sym typeface="Helvetica Neue"/>
            </a:endParaRPr>
          </a:p>
        </p:txBody>
      </p:sp>
      <p:sp>
        <p:nvSpPr>
          <p:cNvPr id="282" name="Google Shape;282;p39"/>
          <p:cNvSpPr txBox="1"/>
          <p:nvPr/>
        </p:nvSpPr>
        <p:spPr>
          <a:xfrm>
            <a:off x="263675" y="929975"/>
            <a:ext cx="8544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u="sng">
                <a:solidFill>
                  <a:srgbClr val="000000"/>
                </a:solidFill>
                <a:latin typeface="Helvetica Neue"/>
                <a:ea typeface="Helvetica Neue"/>
                <a:cs typeface="Helvetica Neue"/>
                <a:sym typeface="Helvetica Neue"/>
              </a:rPr>
              <a:t>Learner Case Study (Representation)</a:t>
            </a:r>
            <a:endParaRPr b="1" sz="1600" u="sng">
              <a:solidFill>
                <a:srgbClr val="000000"/>
              </a:solidFill>
              <a:latin typeface="Helvetica Neue"/>
              <a:ea typeface="Helvetica Neue"/>
              <a:cs typeface="Helvetica Neue"/>
              <a:sym typeface="Helvetica Neue"/>
            </a:endParaRPr>
          </a:p>
          <a:p>
            <a:pPr indent="-317500" lvl="0" marL="457200" rtl="0" algn="l">
              <a:spcBef>
                <a:spcPts val="0"/>
              </a:spcBef>
              <a:spcAft>
                <a:spcPts val="0"/>
              </a:spcAft>
              <a:buClr>
                <a:srgbClr val="000000"/>
              </a:buClr>
              <a:buSzPts val="1400"/>
              <a:buFont typeface="Helvetica Neue"/>
              <a:buChar char="-"/>
            </a:pPr>
            <a:r>
              <a:rPr lang="en">
                <a:solidFill>
                  <a:srgbClr val="000000"/>
                </a:solidFill>
                <a:latin typeface="Helvetica Neue"/>
                <a:ea typeface="Helvetica Neue"/>
                <a:cs typeface="Helvetica Neue"/>
                <a:sym typeface="Helvetica Neue"/>
              </a:rPr>
              <a:t>UC Davis Document Conversion Site</a:t>
            </a:r>
            <a:endParaRPr>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595959"/>
              </a:solidFill>
              <a:latin typeface="Helvetica Neue"/>
              <a:ea typeface="Helvetica Neue"/>
              <a:cs typeface="Helvetica Neue"/>
              <a:sym typeface="Helvetica Neue"/>
            </a:endParaRPr>
          </a:p>
        </p:txBody>
      </p:sp>
      <p:sp>
        <p:nvSpPr>
          <p:cNvPr id="283" name="Google Shape;283;p39"/>
          <p:cNvSpPr txBox="1"/>
          <p:nvPr/>
        </p:nvSpPr>
        <p:spPr>
          <a:xfrm>
            <a:off x="1044575" y="4664825"/>
            <a:ext cx="6982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00"/>
                </a:solidFill>
                <a:latin typeface="Helvetica Neue"/>
                <a:ea typeface="Helvetica Neue"/>
                <a:cs typeface="Helvetica Neue"/>
                <a:sym typeface="Helvetica Neue"/>
              </a:rPr>
              <a:t>Source: </a:t>
            </a:r>
            <a:r>
              <a:rPr lang="en" sz="1000" u="sng">
                <a:solidFill>
                  <a:srgbClr val="000000"/>
                </a:solidFill>
                <a:latin typeface="Helvetica Neue"/>
                <a:ea typeface="Helvetica Neue"/>
                <a:cs typeface="Helvetica Neue"/>
                <a:sym typeface="Helvetica Neue"/>
                <a:hlinkClick r:id="rId4">
                  <a:extLst>
                    <a:ext uri="{A12FA001-AC4F-418D-AE19-62706E023703}">
                      <ahyp:hlinkClr val="tx"/>
                    </a:ext>
                  </a:extLst>
                </a:hlinkClick>
              </a:rPr>
              <a:t>UC Davis Document Conversion</a:t>
            </a:r>
            <a:endParaRPr sz="1000">
              <a:solidFill>
                <a:srgbClr val="000000"/>
              </a:solidFill>
              <a:latin typeface="Helvetica Neue"/>
              <a:ea typeface="Helvetica Neue"/>
              <a:cs typeface="Helvetica Neue"/>
              <a:sym typeface="Helvetica Neue"/>
            </a:endParaRPr>
          </a:p>
        </p:txBody>
      </p:sp>
      <p:pic>
        <p:nvPicPr>
          <p:cNvPr id="284" name="Google Shape;284;p39"/>
          <p:cNvPicPr preferRelativeResize="0"/>
          <p:nvPr/>
        </p:nvPicPr>
        <p:blipFill>
          <a:blip r:embed="rId5">
            <a:alphaModFix/>
          </a:blip>
          <a:stretch>
            <a:fillRect/>
          </a:stretch>
        </p:blipFill>
        <p:spPr>
          <a:xfrm>
            <a:off x="456400" y="1557925"/>
            <a:ext cx="3408850" cy="3010726"/>
          </a:xfrm>
          <a:prstGeom prst="rect">
            <a:avLst/>
          </a:prstGeom>
          <a:noFill/>
          <a:ln>
            <a:noFill/>
          </a:ln>
          <a:effectLst>
            <a:outerShdw blurRad="57150" rotWithShape="0" algn="bl" dir="5400000" dist="19050">
              <a:srgbClr val="000000">
                <a:alpha val="50000"/>
              </a:srgbClr>
            </a:outerShdw>
          </a:effectLst>
        </p:spPr>
      </p:pic>
      <p:pic>
        <p:nvPicPr>
          <p:cNvPr id="285" name="Google Shape;285;p39" title="qrcode_sdc.ucdavis.edu.png"/>
          <p:cNvPicPr preferRelativeResize="0"/>
          <p:nvPr/>
        </p:nvPicPr>
        <p:blipFill>
          <a:blip r:embed="rId6">
            <a:alphaModFix/>
          </a:blip>
          <a:stretch>
            <a:fillRect/>
          </a:stretch>
        </p:blipFill>
        <p:spPr>
          <a:xfrm>
            <a:off x="4666188" y="1763188"/>
            <a:ext cx="1854275" cy="1854274"/>
          </a:xfrm>
          <a:prstGeom prst="rect">
            <a:avLst/>
          </a:prstGeom>
          <a:noFill/>
          <a:ln>
            <a:noFill/>
          </a:ln>
        </p:spPr>
      </p:pic>
      <p:sp>
        <p:nvSpPr>
          <p:cNvPr id="286" name="Google Shape;286;p39"/>
          <p:cNvSpPr txBox="1"/>
          <p:nvPr/>
        </p:nvSpPr>
        <p:spPr>
          <a:xfrm>
            <a:off x="4093313" y="3809975"/>
            <a:ext cx="300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00"/>
                </a:solidFill>
              </a:rPr>
              <a:t>https://sdc.ucdavis.edu/document-conversion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nvSpPr>
        <p:spPr>
          <a:xfrm>
            <a:off x="211925" y="196975"/>
            <a:ext cx="5998800" cy="6051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b="1" lang="en" sz="2400">
                <a:latin typeface="Helvetica Neue"/>
                <a:ea typeface="Helvetica Neue"/>
                <a:cs typeface="Helvetica Neue"/>
                <a:sym typeface="Helvetica Neue"/>
              </a:rPr>
              <a:t>Jigsaw Case Studies</a:t>
            </a:r>
            <a:r>
              <a:rPr lang="en" sz="2400">
                <a:solidFill>
                  <a:srgbClr val="191919"/>
                </a:solidFill>
                <a:latin typeface="Helvetica Neue"/>
                <a:ea typeface="Helvetica Neue"/>
                <a:cs typeface="Helvetica Neue"/>
                <a:sym typeface="Helvetica Neue"/>
              </a:rPr>
              <a:t> </a:t>
            </a:r>
            <a:endParaRPr sz="2400">
              <a:solidFill>
                <a:srgbClr val="191919"/>
              </a:solidFill>
              <a:latin typeface="Helvetica Neue"/>
              <a:ea typeface="Helvetica Neue"/>
              <a:cs typeface="Helvetica Neue"/>
              <a:sym typeface="Helvetica Neue"/>
            </a:endParaRPr>
          </a:p>
        </p:txBody>
      </p:sp>
      <p:pic>
        <p:nvPicPr>
          <p:cNvPr id="292" name="Google Shape;292;p40"/>
          <p:cNvPicPr preferRelativeResize="0"/>
          <p:nvPr/>
        </p:nvPicPr>
        <p:blipFill>
          <a:blip r:embed="rId3">
            <a:alphaModFix/>
          </a:blip>
          <a:stretch>
            <a:fillRect/>
          </a:stretch>
        </p:blipFill>
        <p:spPr>
          <a:xfrm>
            <a:off x="751000" y="887950"/>
            <a:ext cx="3600388" cy="3960427"/>
          </a:xfrm>
          <a:prstGeom prst="rect">
            <a:avLst/>
          </a:prstGeom>
          <a:noFill/>
          <a:ln>
            <a:noFill/>
          </a:ln>
          <a:effectLst>
            <a:outerShdw blurRad="57150" rotWithShape="0" algn="bl" dir="5400000" dist="19050">
              <a:srgbClr val="000000">
                <a:alpha val="50000"/>
              </a:srgbClr>
            </a:outerShdw>
          </a:effectLst>
        </p:spPr>
      </p:pic>
      <p:pic>
        <p:nvPicPr>
          <p:cNvPr descr="This timer silently counts down to 0:00, then alerts you that time is up with a gentle beep sound." id="293" name="Google Shape;293;p40" title="30 Minute Timer">
            <a:hlinkClick r:id="rId4"/>
          </p:cNvPr>
          <p:cNvPicPr preferRelativeResize="0"/>
          <p:nvPr/>
        </p:nvPicPr>
        <p:blipFill>
          <a:blip r:embed="rId5">
            <a:alphaModFix/>
          </a:blip>
          <a:stretch>
            <a:fillRect/>
          </a:stretch>
        </p:blipFill>
        <p:spPr>
          <a:xfrm>
            <a:off x="5010438" y="93422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41"/>
          <p:cNvPicPr preferRelativeResize="0"/>
          <p:nvPr/>
        </p:nvPicPr>
        <p:blipFill>
          <a:blip r:embed="rId3">
            <a:alphaModFix/>
          </a:blip>
          <a:stretch>
            <a:fillRect/>
          </a:stretch>
        </p:blipFill>
        <p:spPr>
          <a:xfrm>
            <a:off x="6024325" y="-437425"/>
            <a:ext cx="5058400" cy="3105326"/>
          </a:xfrm>
          <a:prstGeom prst="rect">
            <a:avLst/>
          </a:prstGeom>
          <a:noFill/>
          <a:ln>
            <a:noFill/>
          </a:ln>
        </p:spPr>
      </p:pic>
      <p:sp>
        <p:nvSpPr>
          <p:cNvPr id="299" name="Google Shape;299;p41"/>
          <p:cNvSpPr txBox="1"/>
          <p:nvPr/>
        </p:nvSpPr>
        <p:spPr>
          <a:xfrm>
            <a:off x="263675" y="372950"/>
            <a:ext cx="5998800" cy="6051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Instructor Case Studies (1 of 3)</a:t>
            </a:r>
            <a:endParaRPr b="1" sz="2400">
              <a:solidFill>
                <a:srgbClr val="000000"/>
              </a:solidFill>
              <a:latin typeface="Helvetica Neue"/>
              <a:ea typeface="Helvetica Neue"/>
              <a:cs typeface="Helvetica Neue"/>
              <a:sym typeface="Helvetica Neue"/>
            </a:endParaRPr>
          </a:p>
        </p:txBody>
      </p:sp>
      <p:sp>
        <p:nvSpPr>
          <p:cNvPr id="300" name="Google Shape;300;p41"/>
          <p:cNvSpPr txBox="1"/>
          <p:nvPr/>
        </p:nvSpPr>
        <p:spPr>
          <a:xfrm>
            <a:off x="263675" y="763950"/>
            <a:ext cx="3720900" cy="387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rgbClr val="000000"/>
                </a:solidFill>
                <a:latin typeface="Helvetica Neue"/>
                <a:ea typeface="Helvetica Neue"/>
                <a:cs typeface="Helvetica Neue"/>
                <a:sym typeface="Helvetica Neue"/>
              </a:rPr>
              <a:t>Instructor Case Study A: Teaching in a Neurodiverse Veterinary Student Population</a:t>
            </a:r>
            <a:endParaRPr b="1" sz="1700">
              <a:solidFill>
                <a:srgbClr val="000000"/>
              </a:solidFill>
              <a:latin typeface="Helvetica Neue"/>
              <a:ea typeface="Helvetica Neue"/>
              <a:cs typeface="Helvetica Neue"/>
              <a:sym typeface="Helvetica Neue"/>
            </a:endParaRPr>
          </a:p>
          <a:p>
            <a:pPr indent="-336550" lvl="0" marL="457200" rtl="0" algn="l">
              <a:lnSpc>
                <a:spcPct val="115000"/>
              </a:lnSpc>
              <a:spcBef>
                <a:spcPts val="1800"/>
              </a:spcBef>
              <a:spcAft>
                <a:spcPts val="0"/>
              </a:spcAft>
              <a:buClr>
                <a:srgbClr val="000000"/>
              </a:buClr>
              <a:buSzPts val="1700"/>
              <a:buFont typeface="Helvetica Neue"/>
              <a:buChar char="●"/>
            </a:pPr>
            <a:r>
              <a:rPr lang="en" sz="1700">
                <a:solidFill>
                  <a:srgbClr val="000000"/>
                </a:solidFill>
                <a:latin typeface="Helvetica Neue"/>
                <a:ea typeface="Helvetica Neue"/>
                <a:cs typeface="Helvetica Neue"/>
                <a:sym typeface="Helvetica Neue"/>
              </a:rPr>
              <a:t>Scaffold assignments</a:t>
            </a:r>
            <a:endParaRPr sz="1700">
              <a:solidFill>
                <a:srgbClr val="000000"/>
              </a:solidFill>
              <a:latin typeface="Helvetica Neue"/>
              <a:ea typeface="Helvetica Neue"/>
              <a:cs typeface="Helvetica Neue"/>
              <a:sym typeface="Helvetica Neue"/>
            </a:endParaRPr>
          </a:p>
          <a:p>
            <a:pPr indent="-336550" lvl="0" marL="457200" rtl="0" algn="l">
              <a:lnSpc>
                <a:spcPct val="115000"/>
              </a:lnSpc>
              <a:spcBef>
                <a:spcPts val="0"/>
              </a:spcBef>
              <a:spcAft>
                <a:spcPts val="0"/>
              </a:spcAft>
              <a:buClr>
                <a:srgbClr val="000000"/>
              </a:buClr>
              <a:buSzPts val="1700"/>
              <a:buFont typeface="Helvetica Neue"/>
              <a:buChar char="●"/>
            </a:pPr>
            <a:r>
              <a:rPr lang="en" sz="1700">
                <a:solidFill>
                  <a:srgbClr val="000000"/>
                </a:solidFill>
                <a:latin typeface="Helvetica Neue"/>
                <a:ea typeface="Helvetica Neue"/>
                <a:cs typeface="Helvetica Neue"/>
                <a:sym typeface="Helvetica Neue"/>
              </a:rPr>
              <a:t>Scaffold reading</a:t>
            </a:r>
            <a:endParaRPr sz="1700">
              <a:solidFill>
                <a:srgbClr val="000000"/>
              </a:solidFill>
              <a:latin typeface="Helvetica Neue"/>
              <a:ea typeface="Helvetica Neue"/>
              <a:cs typeface="Helvetica Neue"/>
              <a:sym typeface="Helvetica Neue"/>
            </a:endParaRPr>
          </a:p>
          <a:p>
            <a:pPr indent="-336550" lvl="0" marL="457200" rtl="0" algn="l">
              <a:lnSpc>
                <a:spcPct val="115000"/>
              </a:lnSpc>
              <a:spcBef>
                <a:spcPts val="0"/>
              </a:spcBef>
              <a:spcAft>
                <a:spcPts val="0"/>
              </a:spcAft>
              <a:buClr>
                <a:srgbClr val="000000"/>
              </a:buClr>
              <a:buSzPts val="1700"/>
              <a:buFont typeface="Helvetica Neue"/>
              <a:buChar char="●"/>
            </a:pPr>
            <a:r>
              <a:rPr lang="en" sz="1700">
                <a:solidFill>
                  <a:srgbClr val="000000"/>
                </a:solidFill>
                <a:latin typeface="Helvetica Neue"/>
                <a:ea typeface="Helvetica Neue"/>
                <a:cs typeface="Helvetica Neue"/>
                <a:sym typeface="Helvetica Neue"/>
              </a:rPr>
              <a:t>Redefine “paying attention” </a:t>
            </a:r>
            <a:endParaRPr sz="1700">
              <a:solidFill>
                <a:srgbClr val="000000"/>
              </a:solidFill>
              <a:latin typeface="Helvetica Neue"/>
              <a:ea typeface="Helvetica Neue"/>
              <a:cs typeface="Helvetica Neue"/>
              <a:sym typeface="Helvetica Neue"/>
            </a:endParaRPr>
          </a:p>
          <a:p>
            <a:pPr indent="-336550" lvl="0" marL="457200" rtl="0" algn="l">
              <a:lnSpc>
                <a:spcPct val="115000"/>
              </a:lnSpc>
              <a:spcBef>
                <a:spcPts val="0"/>
              </a:spcBef>
              <a:spcAft>
                <a:spcPts val="0"/>
              </a:spcAft>
              <a:buClr>
                <a:srgbClr val="000000"/>
              </a:buClr>
              <a:buSzPts val="1700"/>
              <a:buFont typeface="Helvetica Neue"/>
              <a:buChar char="●"/>
            </a:pPr>
            <a:r>
              <a:rPr lang="en" sz="1700">
                <a:solidFill>
                  <a:srgbClr val="000000"/>
                </a:solidFill>
                <a:latin typeface="Helvetica Neue"/>
                <a:ea typeface="Helvetica Neue"/>
                <a:cs typeface="Helvetica Neue"/>
                <a:sym typeface="Helvetica Neue"/>
              </a:rPr>
              <a:t>Redesign “discussion</a:t>
            </a:r>
            <a:endParaRPr sz="1700">
              <a:solidFill>
                <a:srgbClr val="000000"/>
              </a:solidFill>
              <a:latin typeface="Helvetica Neue"/>
              <a:ea typeface="Helvetica Neue"/>
              <a:cs typeface="Helvetica Neue"/>
              <a:sym typeface="Helvetica Neue"/>
            </a:endParaRPr>
          </a:p>
          <a:p>
            <a:pPr indent="0" lvl="0" marL="0" rtl="0" algn="l">
              <a:lnSpc>
                <a:spcPct val="115000"/>
              </a:lnSpc>
              <a:spcBef>
                <a:spcPts val="1800"/>
              </a:spcBef>
              <a:spcAft>
                <a:spcPts val="0"/>
              </a:spcAft>
              <a:buNone/>
            </a:pPr>
            <a:r>
              <a:t/>
            </a:r>
            <a:endParaRPr sz="1700">
              <a:solidFill>
                <a:srgbClr val="000000"/>
              </a:solidFill>
            </a:endParaRPr>
          </a:p>
          <a:p>
            <a:pPr indent="0" lvl="0" marL="0" rtl="0" algn="l">
              <a:spcBef>
                <a:spcPts val="400"/>
              </a:spcBef>
              <a:spcAft>
                <a:spcPts val="0"/>
              </a:spcAft>
              <a:buNone/>
            </a:pPr>
            <a:r>
              <a:t/>
            </a:r>
            <a:endParaRPr u="sng">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595959"/>
              </a:solidFill>
              <a:latin typeface="Helvetica Neue"/>
              <a:ea typeface="Helvetica Neue"/>
              <a:cs typeface="Helvetica Neue"/>
              <a:sym typeface="Helvetica Neue"/>
            </a:endParaRPr>
          </a:p>
        </p:txBody>
      </p:sp>
      <p:pic>
        <p:nvPicPr>
          <p:cNvPr id="301" name="Google Shape;301;p41"/>
          <p:cNvPicPr preferRelativeResize="0"/>
          <p:nvPr/>
        </p:nvPicPr>
        <p:blipFill>
          <a:blip r:embed="rId4">
            <a:alphaModFix/>
          </a:blip>
          <a:stretch>
            <a:fillRect/>
          </a:stretch>
        </p:blipFill>
        <p:spPr>
          <a:xfrm>
            <a:off x="5017046" y="1399521"/>
            <a:ext cx="3898725" cy="3239226"/>
          </a:xfrm>
          <a:prstGeom prst="rect">
            <a:avLst/>
          </a:prstGeom>
          <a:noFill/>
          <a:ln>
            <a:noFill/>
          </a:ln>
          <a:effectLst>
            <a:outerShdw blurRad="57150" rotWithShape="0" algn="bl" dir="5400000" dist="19050">
              <a:srgbClr val="000000">
                <a:alpha val="50000"/>
              </a:srgbClr>
            </a:outerShdw>
          </a:effectLst>
        </p:spPr>
      </p:pic>
      <p:sp>
        <p:nvSpPr>
          <p:cNvPr id="302" name="Google Shape;302;p41"/>
          <p:cNvSpPr txBox="1"/>
          <p:nvPr/>
        </p:nvSpPr>
        <p:spPr>
          <a:xfrm>
            <a:off x="300000" y="4638750"/>
            <a:ext cx="8544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595959"/>
                </a:solidFill>
                <a:latin typeface="Helvetica Neue"/>
                <a:ea typeface="Helvetica Neue"/>
                <a:cs typeface="Helvetica Neue"/>
                <a:sym typeface="Helvetica Neue"/>
              </a:rPr>
              <a:t>Source: </a:t>
            </a:r>
            <a:r>
              <a:rPr lang="en" sz="1000">
                <a:solidFill>
                  <a:srgbClr val="595959"/>
                </a:solidFill>
                <a:highlight>
                  <a:srgbClr val="FFFFFF"/>
                </a:highlight>
                <a:latin typeface="Helvetica Neue"/>
                <a:ea typeface="Helvetica Neue"/>
                <a:cs typeface="Helvetica Neue"/>
                <a:sym typeface="Helvetica Neue"/>
              </a:rPr>
              <a:t>Lam, R. (2010). A peer review training workshop: Coaching students to give and evaluate peer feedback. </a:t>
            </a:r>
            <a:r>
              <a:rPr i="1" lang="en" sz="1000">
                <a:solidFill>
                  <a:srgbClr val="595959"/>
                </a:solidFill>
                <a:highlight>
                  <a:srgbClr val="FFFFFF"/>
                </a:highlight>
                <a:latin typeface="Helvetica Neue"/>
                <a:ea typeface="Helvetica Neue"/>
                <a:cs typeface="Helvetica Neue"/>
                <a:sym typeface="Helvetica Neue"/>
              </a:rPr>
              <a:t>TESL Canada Journal</a:t>
            </a:r>
            <a:r>
              <a:rPr lang="en" sz="1000">
                <a:solidFill>
                  <a:srgbClr val="595959"/>
                </a:solidFill>
                <a:highlight>
                  <a:srgbClr val="FFFFFF"/>
                </a:highlight>
                <a:latin typeface="Helvetica Neue"/>
                <a:ea typeface="Helvetica Neue"/>
                <a:cs typeface="Helvetica Neue"/>
                <a:sym typeface="Helvetica Neue"/>
              </a:rPr>
              <a:t>, 114-114.</a:t>
            </a:r>
            <a:endParaRPr sz="1000">
              <a:solidFill>
                <a:srgbClr val="595959"/>
              </a:solidFill>
              <a:latin typeface="Helvetica Neue"/>
              <a:ea typeface="Helvetica Neue"/>
              <a:cs typeface="Helvetica Neue"/>
              <a:sym typeface="Helvetica Neue"/>
            </a:endParaRPr>
          </a:p>
        </p:txBody>
      </p:sp>
      <p:sp>
        <p:nvSpPr>
          <p:cNvPr id="303" name="Google Shape;303;p41"/>
          <p:cNvSpPr/>
          <p:nvPr/>
        </p:nvSpPr>
        <p:spPr>
          <a:xfrm>
            <a:off x="3318425" y="1807325"/>
            <a:ext cx="1153800" cy="576900"/>
          </a:xfrm>
          <a:prstGeom prst="rightArrow">
            <a:avLst>
              <a:gd fmla="val 50000" name="adj1"/>
              <a:gd fmla="val 50000" name="adj2"/>
            </a:avLst>
          </a:prstGeom>
          <a:solidFill>
            <a:srgbClr val="212121"/>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42"/>
          <p:cNvPicPr preferRelativeResize="0"/>
          <p:nvPr/>
        </p:nvPicPr>
        <p:blipFill>
          <a:blip r:embed="rId3">
            <a:alphaModFix/>
          </a:blip>
          <a:stretch>
            <a:fillRect/>
          </a:stretch>
        </p:blipFill>
        <p:spPr>
          <a:xfrm>
            <a:off x="6024325" y="-437425"/>
            <a:ext cx="5058400" cy="3105326"/>
          </a:xfrm>
          <a:prstGeom prst="rect">
            <a:avLst/>
          </a:prstGeom>
          <a:noFill/>
          <a:ln>
            <a:noFill/>
          </a:ln>
        </p:spPr>
      </p:pic>
      <p:sp>
        <p:nvSpPr>
          <p:cNvPr id="309" name="Google Shape;309;p42"/>
          <p:cNvSpPr txBox="1"/>
          <p:nvPr/>
        </p:nvSpPr>
        <p:spPr>
          <a:xfrm>
            <a:off x="263675" y="372950"/>
            <a:ext cx="5998800" cy="6051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Instructor Case Studies (2 of 3)</a:t>
            </a:r>
            <a:endParaRPr b="1" sz="2400">
              <a:solidFill>
                <a:srgbClr val="000000"/>
              </a:solidFill>
              <a:latin typeface="Helvetica Neue"/>
              <a:ea typeface="Helvetica Neue"/>
              <a:cs typeface="Helvetica Neue"/>
              <a:sym typeface="Helvetica Neue"/>
            </a:endParaRPr>
          </a:p>
        </p:txBody>
      </p:sp>
      <p:sp>
        <p:nvSpPr>
          <p:cNvPr id="310" name="Google Shape;310;p42"/>
          <p:cNvSpPr txBox="1"/>
          <p:nvPr/>
        </p:nvSpPr>
        <p:spPr>
          <a:xfrm>
            <a:off x="263675" y="929975"/>
            <a:ext cx="8544000" cy="898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400"/>
              </a:spcAft>
              <a:buNone/>
            </a:pPr>
            <a:r>
              <a:rPr b="1" lang="en" sz="1700">
                <a:solidFill>
                  <a:srgbClr val="000000"/>
                </a:solidFill>
                <a:latin typeface="Helvetica Neue"/>
                <a:ea typeface="Helvetica Neue"/>
                <a:cs typeface="Helvetica Neue"/>
                <a:sym typeface="Helvetica Neue"/>
              </a:rPr>
              <a:t>Instructor Case Study B: Navigating Digital Accessibility in a Veterinary Medicine Course</a:t>
            </a:r>
            <a:endParaRPr sz="1800">
              <a:solidFill>
                <a:srgbClr val="595959"/>
              </a:solidFill>
              <a:latin typeface="Helvetica Neue"/>
              <a:ea typeface="Helvetica Neue"/>
              <a:cs typeface="Helvetica Neue"/>
              <a:sym typeface="Helvetica Neue"/>
            </a:endParaRPr>
          </a:p>
        </p:txBody>
      </p:sp>
      <p:pic>
        <p:nvPicPr>
          <p:cNvPr id="311" name="Google Shape;311;p42"/>
          <p:cNvPicPr preferRelativeResize="0"/>
          <p:nvPr/>
        </p:nvPicPr>
        <p:blipFill>
          <a:blip r:embed="rId4">
            <a:alphaModFix/>
          </a:blip>
          <a:stretch>
            <a:fillRect/>
          </a:stretch>
        </p:blipFill>
        <p:spPr>
          <a:xfrm>
            <a:off x="2169500" y="1721225"/>
            <a:ext cx="6215798" cy="27789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43"/>
          <p:cNvPicPr preferRelativeResize="0"/>
          <p:nvPr/>
        </p:nvPicPr>
        <p:blipFill>
          <a:blip r:embed="rId3">
            <a:alphaModFix/>
          </a:blip>
          <a:stretch>
            <a:fillRect/>
          </a:stretch>
        </p:blipFill>
        <p:spPr>
          <a:xfrm>
            <a:off x="6024325" y="-437425"/>
            <a:ext cx="5058400" cy="3105326"/>
          </a:xfrm>
          <a:prstGeom prst="rect">
            <a:avLst/>
          </a:prstGeom>
          <a:noFill/>
          <a:ln>
            <a:noFill/>
          </a:ln>
        </p:spPr>
      </p:pic>
      <p:sp>
        <p:nvSpPr>
          <p:cNvPr id="317" name="Google Shape;317;p43"/>
          <p:cNvSpPr txBox="1"/>
          <p:nvPr/>
        </p:nvSpPr>
        <p:spPr>
          <a:xfrm>
            <a:off x="263675" y="372950"/>
            <a:ext cx="5998800" cy="6051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Instructor Case Studies (3 of 3)</a:t>
            </a:r>
            <a:endParaRPr b="1" sz="2400">
              <a:solidFill>
                <a:srgbClr val="000000"/>
              </a:solidFill>
              <a:latin typeface="Helvetica Neue"/>
              <a:ea typeface="Helvetica Neue"/>
              <a:cs typeface="Helvetica Neue"/>
              <a:sym typeface="Helvetica Neue"/>
            </a:endParaRPr>
          </a:p>
        </p:txBody>
      </p:sp>
      <p:sp>
        <p:nvSpPr>
          <p:cNvPr id="318" name="Google Shape;318;p43"/>
          <p:cNvSpPr txBox="1"/>
          <p:nvPr/>
        </p:nvSpPr>
        <p:spPr>
          <a:xfrm>
            <a:off x="263675" y="929975"/>
            <a:ext cx="8544000" cy="2236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None/>
            </a:pPr>
            <a:r>
              <a:rPr b="1" lang="en" sz="1700">
                <a:solidFill>
                  <a:srgbClr val="000000"/>
                </a:solidFill>
              </a:rPr>
              <a:t>Instructor Case Study C: Applying Universal Design for Learning in a Core Veterinary Medicine Course</a:t>
            </a:r>
            <a:endParaRPr b="1" sz="1700">
              <a:solidFill>
                <a:srgbClr val="000000"/>
              </a:solidFill>
              <a:latin typeface="Helvetica Neue"/>
              <a:ea typeface="Helvetica Neue"/>
              <a:cs typeface="Helvetica Neue"/>
              <a:sym typeface="Helvetica Neue"/>
            </a:endParaRPr>
          </a:p>
          <a:p>
            <a:pPr indent="0" lvl="0" marL="0" rtl="0" algn="l">
              <a:lnSpc>
                <a:spcPct val="115000"/>
              </a:lnSpc>
              <a:spcBef>
                <a:spcPts val="1800"/>
              </a:spcBef>
              <a:spcAft>
                <a:spcPts val="400"/>
              </a:spcAft>
              <a:buNone/>
            </a:pPr>
            <a:r>
              <a:t/>
            </a:r>
            <a:endParaRPr sz="1800">
              <a:solidFill>
                <a:srgbClr val="595959"/>
              </a:solidFill>
              <a:latin typeface="Helvetica Neue"/>
              <a:ea typeface="Helvetica Neue"/>
              <a:cs typeface="Helvetica Neue"/>
              <a:sym typeface="Helvetica Neue"/>
            </a:endParaRPr>
          </a:p>
        </p:txBody>
      </p:sp>
      <p:sp>
        <p:nvSpPr>
          <p:cNvPr id="319" name="Google Shape;319;p43"/>
          <p:cNvSpPr txBox="1"/>
          <p:nvPr/>
        </p:nvSpPr>
        <p:spPr>
          <a:xfrm>
            <a:off x="300000" y="4557675"/>
            <a:ext cx="8544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u="sng">
                <a:solidFill>
                  <a:srgbClr val="191919"/>
                </a:solidFill>
                <a:latin typeface="Helvetica Neue"/>
                <a:ea typeface="Helvetica Neue"/>
                <a:cs typeface="Helvetica Neue"/>
                <a:sym typeface="Helvetica Neue"/>
                <a:hlinkClick r:id="rId4">
                  <a:extLst>
                    <a:ext uri="{A12FA001-AC4F-418D-AE19-62706E023703}">
                      <ahyp:hlinkClr val="tx"/>
                    </a:ext>
                  </a:extLst>
                </a:hlinkClick>
              </a:rPr>
              <a:t>Source: </a:t>
            </a:r>
            <a:r>
              <a:rPr lang="en" sz="1000" u="sng">
                <a:solidFill>
                  <a:srgbClr val="191919"/>
                </a:solidFill>
                <a:highlight>
                  <a:srgbClr val="FFFFFF"/>
                </a:highlight>
                <a:latin typeface="Helvetica Neue"/>
                <a:ea typeface="Helvetica Neue"/>
                <a:cs typeface="Helvetica Neue"/>
                <a:sym typeface="Helvetica Neue"/>
                <a:hlinkClick r:id="rId5">
                  <a:extLst>
                    <a:ext uri="{A12FA001-AC4F-418D-AE19-62706E023703}">
                      <ahyp:hlinkClr val="tx"/>
                    </a:ext>
                  </a:extLst>
                </a:hlinkClick>
              </a:rPr>
              <a:t>Novak, K (nd) UDL Flowchart</a:t>
            </a:r>
            <a:endParaRPr sz="1000">
              <a:solidFill>
                <a:srgbClr val="000000"/>
              </a:solidFill>
              <a:latin typeface="Helvetica Neue"/>
              <a:ea typeface="Helvetica Neue"/>
              <a:cs typeface="Helvetica Neue"/>
              <a:sym typeface="Helvetica Neue"/>
            </a:endParaRPr>
          </a:p>
        </p:txBody>
      </p:sp>
      <p:pic>
        <p:nvPicPr>
          <p:cNvPr id="320" name="Google Shape;320;p43"/>
          <p:cNvPicPr preferRelativeResize="0"/>
          <p:nvPr/>
        </p:nvPicPr>
        <p:blipFill>
          <a:blip r:embed="rId6">
            <a:alphaModFix/>
          </a:blip>
          <a:stretch>
            <a:fillRect/>
          </a:stretch>
        </p:blipFill>
        <p:spPr>
          <a:xfrm>
            <a:off x="4447801" y="1368202"/>
            <a:ext cx="3184300" cy="3105324"/>
          </a:xfrm>
          <a:prstGeom prst="rect">
            <a:avLst/>
          </a:prstGeom>
          <a:noFill/>
          <a:ln>
            <a:noFill/>
          </a:ln>
          <a:effectLst>
            <a:outerShdw blurRad="57150" rotWithShape="0" algn="bl" dir="5400000" dist="19050">
              <a:srgbClr val="000000">
                <a:alpha val="50000"/>
              </a:srgbClr>
            </a:outerShdw>
          </a:effectLst>
        </p:spPr>
      </p:pic>
      <p:pic>
        <p:nvPicPr>
          <p:cNvPr id="321" name="Google Shape;321;p43"/>
          <p:cNvPicPr preferRelativeResize="0"/>
          <p:nvPr/>
        </p:nvPicPr>
        <p:blipFill>
          <a:blip r:embed="rId7">
            <a:alphaModFix/>
          </a:blip>
          <a:stretch>
            <a:fillRect/>
          </a:stretch>
        </p:blipFill>
        <p:spPr>
          <a:xfrm>
            <a:off x="414550" y="1875301"/>
            <a:ext cx="8242226" cy="2598225"/>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5 Practices for the </a:t>
            </a:r>
            <a:endParaRPr sz="3000"/>
          </a:p>
          <a:p>
            <a:pPr indent="0" lvl="0" marL="0" rtl="0" algn="ctr">
              <a:spcBef>
                <a:spcPts val="0"/>
              </a:spcBef>
              <a:spcAft>
                <a:spcPts val="0"/>
              </a:spcAft>
              <a:buNone/>
            </a:pPr>
            <a:r>
              <a:rPr lang="en" sz="3000"/>
              <a:t>post-pandemic learner that integrate </a:t>
            </a:r>
            <a:endParaRPr sz="3000"/>
          </a:p>
          <a:p>
            <a:pPr indent="0" lvl="0" marL="0" rtl="0" algn="ctr">
              <a:spcBef>
                <a:spcPts val="0"/>
              </a:spcBef>
              <a:spcAft>
                <a:spcPts val="0"/>
              </a:spcAft>
              <a:buNone/>
            </a:pPr>
            <a:r>
              <a:rPr lang="en" sz="3000"/>
              <a:t>Digital Accessibility and </a:t>
            </a:r>
            <a:endParaRPr sz="3000"/>
          </a:p>
          <a:p>
            <a:pPr indent="0" lvl="0" marL="0" rtl="0" algn="ctr">
              <a:spcBef>
                <a:spcPts val="0"/>
              </a:spcBef>
              <a:spcAft>
                <a:spcPts val="0"/>
              </a:spcAft>
              <a:buNone/>
            </a:pPr>
            <a:r>
              <a:rPr lang="en" sz="3000"/>
              <a:t>Universal Design for Learning</a:t>
            </a:r>
            <a:endParaRPr sz="3000"/>
          </a:p>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5"/>
          <p:cNvSpPr txBox="1"/>
          <p:nvPr/>
        </p:nvSpPr>
        <p:spPr>
          <a:xfrm>
            <a:off x="251600" y="160475"/>
            <a:ext cx="8195400" cy="6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1. Strategically address WCAG 2.1 compliance</a:t>
            </a:r>
            <a:endParaRPr b="1" sz="2400">
              <a:solidFill>
                <a:srgbClr val="000000"/>
              </a:solidFill>
              <a:latin typeface="Helvetica Neue"/>
              <a:ea typeface="Helvetica Neue"/>
              <a:cs typeface="Helvetica Neue"/>
              <a:sym typeface="Helvetica Neue"/>
            </a:endParaRPr>
          </a:p>
        </p:txBody>
      </p:sp>
      <p:sp>
        <p:nvSpPr>
          <p:cNvPr id="332" name="Google Shape;332;p45"/>
          <p:cNvSpPr txBox="1"/>
          <p:nvPr/>
        </p:nvSpPr>
        <p:spPr>
          <a:xfrm>
            <a:off x="239850" y="813650"/>
            <a:ext cx="8664300" cy="386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000000"/>
              </a:buClr>
              <a:buSzPts val="1100"/>
              <a:buFont typeface="Arial"/>
              <a:buNone/>
            </a:pPr>
            <a:r>
              <a:rPr b="1" lang="en" sz="1200">
                <a:solidFill>
                  <a:srgbClr val="363636"/>
                </a:solidFill>
                <a:latin typeface="Helvetica Neue"/>
                <a:ea typeface="Helvetica Neue"/>
                <a:cs typeface="Helvetica Neue"/>
                <a:sym typeface="Helvetica Neue"/>
              </a:rPr>
              <a:t>Gradual Updates</a:t>
            </a:r>
            <a:endParaRPr b="1" sz="1200">
              <a:solidFill>
                <a:srgbClr val="363636"/>
              </a:solidFill>
              <a:latin typeface="Helvetica Neue"/>
              <a:ea typeface="Helvetica Neue"/>
              <a:cs typeface="Helvetica Neue"/>
              <a:sym typeface="Helvetica Neue"/>
            </a:endParaRPr>
          </a:p>
          <a:p>
            <a:pPr indent="0" lvl="0" marL="0" rtl="0" algn="l">
              <a:lnSpc>
                <a:spcPct val="115000"/>
              </a:lnSpc>
              <a:spcBef>
                <a:spcPts val="300"/>
              </a:spcBef>
              <a:spcAft>
                <a:spcPts val="0"/>
              </a:spcAft>
              <a:buClr>
                <a:srgbClr val="000000"/>
              </a:buClr>
              <a:buSzPts val="1100"/>
              <a:buFont typeface="Arial"/>
              <a:buNone/>
            </a:pPr>
            <a:r>
              <a:rPr lang="en" sz="1200">
                <a:solidFill>
                  <a:srgbClr val="363636"/>
                </a:solidFill>
                <a:latin typeface="Helvetica Neue"/>
                <a:ea typeface="Helvetica Neue"/>
                <a:cs typeface="Helvetica Neue"/>
                <a:sym typeface="Helvetica Neue"/>
              </a:rPr>
              <a:t>Starting with your </a:t>
            </a:r>
            <a:r>
              <a:rPr b="1" lang="en" sz="1200">
                <a:solidFill>
                  <a:srgbClr val="363636"/>
                </a:solidFill>
                <a:latin typeface="Helvetica Neue"/>
                <a:ea typeface="Helvetica Neue"/>
                <a:cs typeface="Helvetica Neue"/>
                <a:sym typeface="Helvetica Neue"/>
              </a:rPr>
              <a:t>current term’s material</a:t>
            </a:r>
            <a:r>
              <a:rPr lang="en" sz="1200">
                <a:solidFill>
                  <a:srgbClr val="363636"/>
                </a:solidFill>
                <a:latin typeface="Helvetica Neue"/>
                <a:ea typeface="Helvetica Neue"/>
                <a:cs typeface="Helvetica Neue"/>
                <a:sym typeface="Helvetica Neue"/>
              </a:rPr>
              <a:t>, update one course per term You can focus on high-impact elements first, such as syllabi, course texts, and slide decks. This approach allows you to work incrementally through your courses.</a:t>
            </a:r>
            <a:endParaRPr sz="1200">
              <a:solidFill>
                <a:srgbClr val="363636"/>
              </a:solidFill>
              <a:latin typeface="Helvetica Neue"/>
              <a:ea typeface="Helvetica Neue"/>
              <a:cs typeface="Helvetica Neue"/>
              <a:sym typeface="Helvetica Neue"/>
            </a:endParaRPr>
          </a:p>
          <a:p>
            <a:pPr indent="0" lvl="0" marL="0" rtl="0" algn="l">
              <a:lnSpc>
                <a:spcPct val="115000"/>
              </a:lnSpc>
              <a:spcBef>
                <a:spcPts val="1500"/>
              </a:spcBef>
              <a:spcAft>
                <a:spcPts val="0"/>
              </a:spcAft>
              <a:buClr>
                <a:srgbClr val="000000"/>
              </a:buClr>
              <a:buSzPts val="1100"/>
              <a:buFont typeface="Arial"/>
              <a:buNone/>
            </a:pPr>
            <a:r>
              <a:rPr b="1" lang="en" sz="1200">
                <a:solidFill>
                  <a:srgbClr val="363636"/>
                </a:solidFill>
                <a:latin typeface="Helvetica Neue"/>
                <a:ea typeface="Helvetica Neue"/>
                <a:cs typeface="Helvetica Neue"/>
                <a:sym typeface="Helvetica Neue"/>
              </a:rPr>
              <a:t>Leverage Existing Accommodations</a:t>
            </a:r>
            <a:endParaRPr b="1" sz="1200">
              <a:solidFill>
                <a:srgbClr val="363636"/>
              </a:solidFill>
              <a:latin typeface="Helvetica Neue"/>
              <a:ea typeface="Helvetica Neue"/>
              <a:cs typeface="Helvetica Neue"/>
              <a:sym typeface="Helvetica Neue"/>
            </a:endParaRPr>
          </a:p>
          <a:p>
            <a:pPr indent="0" lvl="0" marL="0" rtl="0" algn="l">
              <a:lnSpc>
                <a:spcPct val="115000"/>
              </a:lnSpc>
              <a:spcBef>
                <a:spcPts val="300"/>
              </a:spcBef>
              <a:spcAft>
                <a:spcPts val="0"/>
              </a:spcAft>
              <a:buClr>
                <a:srgbClr val="000000"/>
              </a:buClr>
              <a:buSzPts val="1100"/>
              <a:buFont typeface="Arial"/>
              <a:buNone/>
            </a:pPr>
            <a:r>
              <a:rPr lang="en" sz="1200">
                <a:solidFill>
                  <a:srgbClr val="363636"/>
                </a:solidFill>
                <a:latin typeface="Helvetica Neue"/>
                <a:ea typeface="Helvetica Neue"/>
                <a:cs typeface="Helvetica Neue"/>
                <a:sym typeface="Helvetica Neue"/>
              </a:rPr>
              <a:t>Start with materials that were </a:t>
            </a:r>
            <a:r>
              <a:rPr b="1" lang="en" sz="1200">
                <a:solidFill>
                  <a:srgbClr val="363636"/>
                </a:solidFill>
                <a:latin typeface="Helvetica Neue"/>
                <a:ea typeface="Helvetica Neue"/>
                <a:cs typeface="Helvetica Neue"/>
                <a:sym typeface="Helvetica Neue"/>
              </a:rPr>
              <a:t>previously created or adapted for students seeking accommodations</a:t>
            </a:r>
            <a:r>
              <a:rPr lang="en" sz="1200">
                <a:solidFill>
                  <a:srgbClr val="363636"/>
                </a:solidFill>
                <a:latin typeface="Helvetica Neue"/>
                <a:ea typeface="Helvetica Neue"/>
                <a:cs typeface="Helvetica Neue"/>
                <a:sym typeface="Helvetica Neue"/>
              </a:rPr>
              <a:t>. Upgrade these to meet all accessibility standards, then integrate them into your main course content. This approach turns one-off accommodations into inclusive content that benefits everyone.</a:t>
            </a:r>
            <a:endParaRPr sz="1200">
              <a:solidFill>
                <a:srgbClr val="363636"/>
              </a:solidFill>
              <a:latin typeface="Helvetica Neue"/>
              <a:ea typeface="Helvetica Neue"/>
              <a:cs typeface="Helvetica Neue"/>
              <a:sym typeface="Helvetica Neue"/>
            </a:endParaRPr>
          </a:p>
          <a:p>
            <a:pPr indent="0" lvl="0" marL="0" rtl="0" algn="l">
              <a:lnSpc>
                <a:spcPct val="115000"/>
              </a:lnSpc>
              <a:spcBef>
                <a:spcPts val="1500"/>
              </a:spcBef>
              <a:spcAft>
                <a:spcPts val="0"/>
              </a:spcAft>
              <a:buClr>
                <a:srgbClr val="000000"/>
              </a:buClr>
              <a:buSzPts val="1100"/>
              <a:buFont typeface="Arial"/>
              <a:buNone/>
            </a:pPr>
            <a:r>
              <a:rPr b="1" lang="en" sz="1200">
                <a:solidFill>
                  <a:srgbClr val="363636"/>
                </a:solidFill>
                <a:latin typeface="Helvetica Neue"/>
                <a:ea typeface="Helvetica Neue"/>
                <a:cs typeface="Helvetica Neue"/>
                <a:sym typeface="Helvetica Neue"/>
              </a:rPr>
              <a:t>Content Type Focus</a:t>
            </a:r>
            <a:endParaRPr b="1" sz="1200">
              <a:solidFill>
                <a:srgbClr val="363636"/>
              </a:solidFill>
              <a:latin typeface="Helvetica Neue"/>
              <a:ea typeface="Helvetica Neue"/>
              <a:cs typeface="Helvetica Neue"/>
              <a:sym typeface="Helvetica Neue"/>
            </a:endParaRPr>
          </a:p>
          <a:p>
            <a:pPr indent="0" lvl="0" marL="0" rtl="0" algn="l">
              <a:lnSpc>
                <a:spcPct val="115000"/>
              </a:lnSpc>
              <a:spcBef>
                <a:spcPts val="300"/>
              </a:spcBef>
              <a:spcAft>
                <a:spcPts val="0"/>
              </a:spcAft>
              <a:buClr>
                <a:srgbClr val="000000"/>
              </a:buClr>
              <a:buSzPts val="1100"/>
              <a:buFont typeface="Arial"/>
              <a:buNone/>
            </a:pPr>
            <a:r>
              <a:rPr lang="en" sz="1200">
                <a:solidFill>
                  <a:srgbClr val="363636"/>
                </a:solidFill>
                <a:latin typeface="Helvetica Neue"/>
                <a:ea typeface="Helvetica Neue"/>
                <a:cs typeface="Helvetica Neue"/>
                <a:sym typeface="Helvetica Neue"/>
              </a:rPr>
              <a:t>Tackle </a:t>
            </a:r>
            <a:r>
              <a:rPr b="1" lang="en" sz="1200">
                <a:solidFill>
                  <a:srgbClr val="363636"/>
                </a:solidFill>
                <a:latin typeface="Helvetica Neue"/>
                <a:ea typeface="Helvetica Neue"/>
                <a:cs typeface="Helvetica Neue"/>
                <a:sym typeface="Helvetica Neue"/>
              </a:rPr>
              <a:t>one type of content at a time</a:t>
            </a:r>
            <a:r>
              <a:rPr lang="en" sz="1200">
                <a:solidFill>
                  <a:srgbClr val="363636"/>
                </a:solidFill>
                <a:latin typeface="Helvetica Neue"/>
                <a:ea typeface="Helvetica Neue"/>
                <a:cs typeface="Helvetica Neue"/>
                <a:sym typeface="Helvetica Neue"/>
              </a:rPr>
              <a:t> across all your courses. For example, this term you might focus on Word documents and PPT in all of your courses. Then next term, you might move onto images or spreadsheets. This approach helps you develop expertise in specific accessibility techniques.</a:t>
            </a:r>
            <a:endParaRPr sz="1200">
              <a:solidFill>
                <a:srgbClr val="363636"/>
              </a:solidFill>
              <a:latin typeface="Helvetica Neue"/>
              <a:ea typeface="Helvetica Neue"/>
              <a:cs typeface="Helvetica Neue"/>
              <a:sym typeface="Helvetica Neue"/>
            </a:endParaRPr>
          </a:p>
          <a:p>
            <a:pPr indent="0" lvl="0" marL="0" rtl="0" algn="l">
              <a:lnSpc>
                <a:spcPct val="115000"/>
              </a:lnSpc>
              <a:spcBef>
                <a:spcPts val="1500"/>
              </a:spcBef>
              <a:spcAft>
                <a:spcPts val="0"/>
              </a:spcAft>
              <a:buClr>
                <a:srgbClr val="000000"/>
              </a:buClr>
              <a:buSzPts val="1100"/>
              <a:buFont typeface="Arial"/>
              <a:buNone/>
            </a:pPr>
            <a:r>
              <a:rPr b="1" lang="en" sz="1200">
                <a:solidFill>
                  <a:srgbClr val="363636"/>
                </a:solidFill>
                <a:latin typeface="Helvetica Neue"/>
                <a:ea typeface="Helvetica Neue"/>
                <a:cs typeface="Helvetica Neue"/>
                <a:sym typeface="Helvetica Neue"/>
              </a:rPr>
              <a:t>Collaborative Approach</a:t>
            </a:r>
            <a:endParaRPr b="1" sz="1200">
              <a:solidFill>
                <a:srgbClr val="363636"/>
              </a:solidFill>
              <a:latin typeface="Helvetica Neue"/>
              <a:ea typeface="Helvetica Neue"/>
              <a:cs typeface="Helvetica Neue"/>
              <a:sym typeface="Helvetica Neue"/>
            </a:endParaRPr>
          </a:p>
          <a:p>
            <a:pPr indent="0" lvl="0" marL="0" rtl="0" algn="l">
              <a:lnSpc>
                <a:spcPct val="115000"/>
              </a:lnSpc>
              <a:spcBef>
                <a:spcPts val="300"/>
              </a:spcBef>
              <a:spcAft>
                <a:spcPts val="1500"/>
              </a:spcAft>
              <a:buClr>
                <a:srgbClr val="000000"/>
              </a:buClr>
              <a:buSzPts val="1100"/>
              <a:buFont typeface="Arial"/>
              <a:buNone/>
            </a:pPr>
            <a:r>
              <a:rPr lang="en" sz="1200">
                <a:solidFill>
                  <a:srgbClr val="363636"/>
                </a:solidFill>
                <a:latin typeface="Helvetica Neue"/>
                <a:ea typeface="Helvetica Neue"/>
                <a:cs typeface="Helvetica Neue"/>
                <a:sym typeface="Helvetica Neue"/>
              </a:rPr>
              <a:t>Partner with colleagues to share the workload. </a:t>
            </a:r>
            <a:r>
              <a:rPr b="1" lang="en" sz="1200">
                <a:solidFill>
                  <a:srgbClr val="363636"/>
                </a:solidFill>
                <a:latin typeface="Helvetica Neue"/>
                <a:ea typeface="Helvetica Neue"/>
                <a:cs typeface="Helvetica Neue"/>
                <a:sym typeface="Helvetica Neue"/>
              </a:rPr>
              <a:t>Divide materials by topic or type</a:t>
            </a:r>
            <a:r>
              <a:rPr lang="en" sz="1200">
                <a:solidFill>
                  <a:srgbClr val="363636"/>
                </a:solidFill>
                <a:latin typeface="Helvetica Neue"/>
                <a:ea typeface="Helvetica Neue"/>
                <a:cs typeface="Helvetica Neue"/>
                <a:sym typeface="Helvetica Neue"/>
              </a:rPr>
              <a:t>, then review and update each other’s work to share what you learned. This approach helps you build/further connections to colleagues and distribute the effort. </a:t>
            </a:r>
            <a:endParaRPr sz="1200">
              <a:solidFill>
                <a:srgbClr val="363636"/>
              </a:solidFill>
              <a:latin typeface="Helvetica Neue"/>
              <a:ea typeface="Helvetica Neue"/>
              <a:cs typeface="Helvetica Neue"/>
              <a:sym typeface="Helvetica Neue"/>
            </a:endParaRPr>
          </a:p>
        </p:txBody>
      </p:sp>
      <p:sp>
        <p:nvSpPr>
          <p:cNvPr id="333" name="Google Shape;333;p45"/>
          <p:cNvSpPr txBox="1"/>
          <p:nvPr/>
        </p:nvSpPr>
        <p:spPr>
          <a:xfrm>
            <a:off x="251600" y="4555375"/>
            <a:ext cx="8304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595959"/>
                </a:solidFill>
                <a:latin typeface="Helvetica Neue"/>
                <a:ea typeface="Helvetica Neue"/>
                <a:cs typeface="Helvetica Neue"/>
                <a:sym typeface="Helvetica Neue"/>
              </a:rPr>
              <a:t>Adapted from: https://it.uic.edu/accessibility/digital-accessibility-training-resources/instructor-resources/</a:t>
            </a:r>
            <a:endParaRPr sz="1000">
              <a:solidFill>
                <a:srgbClr val="595959"/>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6"/>
          <p:cNvSpPr txBox="1"/>
          <p:nvPr/>
        </p:nvSpPr>
        <p:spPr>
          <a:xfrm>
            <a:off x="251600" y="236675"/>
            <a:ext cx="8195400" cy="6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1. Strategically address WCAG 2.1 compliance:</a:t>
            </a:r>
            <a:endParaRPr b="1" sz="24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Gradual Updates</a:t>
            </a:r>
            <a:endParaRPr b="1" sz="2400">
              <a:solidFill>
                <a:srgbClr val="000000"/>
              </a:solidFill>
              <a:latin typeface="Helvetica Neue"/>
              <a:ea typeface="Helvetica Neue"/>
              <a:cs typeface="Helvetica Neue"/>
              <a:sym typeface="Helvetica Neue"/>
            </a:endParaRPr>
          </a:p>
        </p:txBody>
      </p:sp>
      <p:sp>
        <p:nvSpPr>
          <p:cNvPr id="339" name="Google Shape;339;p46"/>
          <p:cNvSpPr txBox="1"/>
          <p:nvPr/>
        </p:nvSpPr>
        <p:spPr>
          <a:xfrm>
            <a:off x="251600" y="4631575"/>
            <a:ext cx="8304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595959"/>
                </a:solidFill>
                <a:latin typeface="Helvetica Neue"/>
                <a:ea typeface="Helvetica Neue"/>
                <a:cs typeface="Helvetica Neue"/>
                <a:sym typeface="Helvetica Neue"/>
              </a:rPr>
              <a:t>Source https://wave.webaim.org/extension/</a:t>
            </a:r>
            <a:endParaRPr sz="1000">
              <a:solidFill>
                <a:srgbClr val="595959"/>
              </a:solidFill>
              <a:latin typeface="Helvetica Neue"/>
              <a:ea typeface="Helvetica Neue"/>
              <a:cs typeface="Helvetica Neue"/>
              <a:sym typeface="Helvetica Neue"/>
            </a:endParaRPr>
          </a:p>
        </p:txBody>
      </p:sp>
      <p:pic>
        <p:nvPicPr>
          <p:cNvPr id="340" name="Google Shape;340;p46"/>
          <p:cNvPicPr preferRelativeResize="0"/>
          <p:nvPr/>
        </p:nvPicPr>
        <p:blipFill>
          <a:blip r:embed="rId3">
            <a:alphaModFix/>
          </a:blip>
          <a:stretch>
            <a:fillRect/>
          </a:stretch>
        </p:blipFill>
        <p:spPr>
          <a:xfrm>
            <a:off x="5261875" y="2024063"/>
            <a:ext cx="1933575" cy="942975"/>
          </a:xfrm>
          <a:prstGeom prst="rect">
            <a:avLst/>
          </a:prstGeom>
          <a:noFill/>
          <a:ln>
            <a:noFill/>
          </a:ln>
        </p:spPr>
      </p:pic>
      <p:pic>
        <p:nvPicPr>
          <p:cNvPr id="341" name="Google Shape;341;p46"/>
          <p:cNvPicPr preferRelativeResize="0"/>
          <p:nvPr/>
        </p:nvPicPr>
        <p:blipFill>
          <a:blip r:embed="rId4">
            <a:alphaModFix/>
          </a:blip>
          <a:stretch>
            <a:fillRect/>
          </a:stretch>
        </p:blipFill>
        <p:spPr>
          <a:xfrm>
            <a:off x="251600" y="1627013"/>
            <a:ext cx="4171950" cy="22193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7"/>
          <p:cNvSpPr txBox="1"/>
          <p:nvPr/>
        </p:nvSpPr>
        <p:spPr>
          <a:xfrm>
            <a:off x="251600" y="4631575"/>
            <a:ext cx="8304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595959"/>
                </a:solidFill>
                <a:latin typeface="Helvetica Neue"/>
                <a:ea typeface="Helvetica Neue"/>
                <a:cs typeface="Helvetica Neue"/>
                <a:sym typeface="Helvetica Neue"/>
              </a:rPr>
              <a:t>Adapted from: https://bruinlearn.ucla.edu/courses/218797</a:t>
            </a:r>
            <a:endParaRPr sz="1000">
              <a:solidFill>
                <a:srgbClr val="595959"/>
              </a:solidFill>
              <a:latin typeface="Helvetica Neue"/>
              <a:ea typeface="Helvetica Neue"/>
              <a:cs typeface="Helvetica Neue"/>
              <a:sym typeface="Helvetica Neue"/>
            </a:endParaRPr>
          </a:p>
        </p:txBody>
      </p:sp>
      <p:pic>
        <p:nvPicPr>
          <p:cNvPr id="347" name="Google Shape;347;p47"/>
          <p:cNvPicPr preferRelativeResize="0"/>
          <p:nvPr/>
        </p:nvPicPr>
        <p:blipFill>
          <a:blip r:embed="rId3">
            <a:alphaModFix/>
          </a:blip>
          <a:stretch>
            <a:fillRect/>
          </a:stretch>
        </p:blipFill>
        <p:spPr>
          <a:xfrm>
            <a:off x="1403975" y="1338350"/>
            <a:ext cx="5999545" cy="2936599"/>
          </a:xfrm>
          <a:prstGeom prst="rect">
            <a:avLst/>
          </a:prstGeom>
          <a:noFill/>
          <a:ln>
            <a:noFill/>
          </a:ln>
          <a:effectLst>
            <a:outerShdw blurRad="57150" rotWithShape="0" algn="bl" dir="5400000" dist="19050">
              <a:srgbClr val="000000">
                <a:alpha val="50000"/>
              </a:srgbClr>
            </a:outerShdw>
          </a:effectLst>
        </p:spPr>
      </p:pic>
      <p:sp>
        <p:nvSpPr>
          <p:cNvPr id="348" name="Google Shape;348;p47"/>
          <p:cNvSpPr txBox="1"/>
          <p:nvPr/>
        </p:nvSpPr>
        <p:spPr>
          <a:xfrm>
            <a:off x="251600" y="236675"/>
            <a:ext cx="8195400" cy="6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1. Strategically address WCAG 2.1 compliance:</a:t>
            </a:r>
            <a:endParaRPr b="1" sz="24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Gradual Updates</a:t>
            </a:r>
            <a:endParaRPr b="1" sz="2400">
              <a:solidFill>
                <a:srgbClr val="000000"/>
              </a:solidFill>
              <a:latin typeface="Helvetica Neue"/>
              <a:ea typeface="Helvetica Neue"/>
              <a:cs typeface="Helvetica Neue"/>
              <a:sym typeface="Helvetica Ne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8"/>
          <p:cNvSpPr txBox="1"/>
          <p:nvPr/>
        </p:nvSpPr>
        <p:spPr>
          <a:xfrm>
            <a:off x="251600" y="4707775"/>
            <a:ext cx="8304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595959"/>
                </a:solidFill>
                <a:latin typeface="Helvetica Neue"/>
                <a:ea typeface="Helvetica Neue"/>
                <a:cs typeface="Helvetica Neue"/>
                <a:sym typeface="Helvetica Neue"/>
              </a:rPr>
              <a:t>Adapted from: https://bruinlearn.ucla.edu/courses/218797</a:t>
            </a:r>
            <a:endParaRPr sz="1000">
              <a:solidFill>
                <a:srgbClr val="595959"/>
              </a:solidFill>
              <a:latin typeface="Helvetica Neue"/>
              <a:ea typeface="Helvetica Neue"/>
              <a:cs typeface="Helvetica Neue"/>
              <a:sym typeface="Helvetica Neue"/>
            </a:endParaRPr>
          </a:p>
        </p:txBody>
      </p:sp>
      <p:pic>
        <p:nvPicPr>
          <p:cNvPr id="354" name="Google Shape;354;p48"/>
          <p:cNvPicPr preferRelativeResize="0"/>
          <p:nvPr/>
        </p:nvPicPr>
        <p:blipFill>
          <a:blip r:embed="rId3">
            <a:alphaModFix/>
          </a:blip>
          <a:stretch>
            <a:fillRect/>
          </a:stretch>
        </p:blipFill>
        <p:spPr>
          <a:xfrm>
            <a:off x="886688" y="1130277"/>
            <a:ext cx="7034123" cy="3460875"/>
          </a:xfrm>
          <a:prstGeom prst="rect">
            <a:avLst/>
          </a:prstGeom>
          <a:noFill/>
          <a:ln>
            <a:noFill/>
          </a:ln>
        </p:spPr>
      </p:pic>
      <p:sp>
        <p:nvSpPr>
          <p:cNvPr id="355" name="Google Shape;355;p48"/>
          <p:cNvSpPr txBox="1"/>
          <p:nvPr/>
        </p:nvSpPr>
        <p:spPr>
          <a:xfrm>
            <a:off x="251600" y="312875"/>
            <a:ext cx="8195400" cy="6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1. Strategically address WCAG 2.1 compliance:</a:t>
            </a:r>
            <a:endParaRPr b="1" sz="24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Gradual Updates</a:t>
            </a:r>
            <a:endParaRPr b="1" sz="2400">
              <a:solidFill>
                <a:srgbClr val="000000"/>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nvSpPr>
        <p:spPr>
          <a:xfrm>
            <a:off x="251600" y="4631575"/>
            <a:ext cx="8304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595959"/>
                </a:solidFill>
                <a:latin typeface="Helvetica Neue"/>
                <a:ea typeface="Helvetica Neue"/>
                <a:cs typeface="Helvetica Neue"/>
                <a:sym typeface="Helvetica Neue"/>
              </a:rPr>
              <a:t>Source: </a:t>
            </a:r>
            <a:r>
              <a:rPr lang="en" sz="1000" u="sng">
                <a:solidFill>
                  <a:srgbClr val="191919"/>
                </a:solidFill>
                <a:latin typeface="Helvetica Neue"/>
                <a:ea typeface="Helvetica Neue"/>
                <a:cs typeface="Helvetica Neue"/>
                <a:sym typeface="Helvetica Neue"/>
                <a:hlinkClick r:id="rId3">
                  <a:extLst>
                    <a:ext uri="{A12FA001-AC4F-418D-AE19-62706E023703}">
                      <ahyp:hlinkClr val="tx"/>
                    </a:ext>
                  </a:extLst>
                </a:hlinkClick>
              </a:rPr>
              <a:t>Making Your Course Accessible - Descriptive Links</a:t>
            </a:r>
            <a:endParaRPr sz="1000">
              <a:solidFill>
                <a:srgbClr val="595959"/>
              </a:solidFill>
              <a:latin typeface="Helvetica Neue"/>
              <a:ea typeface="Helvetica Neue"/>
              <a:cs typeface="Helvetica Neue"/>
              <a:sym typeface="Helvetica Neue"/>
            </a:endParaRPr>
          </a:p>
        </p:txBody>
      </p:sp>
      <p:sp>
        <p:nvSpPr>
          <p:cNvPr id="361" name="Google Shape;361;p49"/>
          <p:cNvSpPr txBox="1"/>
          <p:nvPr/>
        </p:nvSpPr>
        <p:spPr>
          <a:xfrm>
            <a:off x="251600" y="236675"/>
            <a:ext cx="8195400" cy="6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1. Strategically address WCAG 2.1 compliance:</a:t>
            </a:r>
            <a:endParaRPr b="1" sz="24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Content Type Focus</a:t>
            </a:r>
            <a:endParaRPr b="1" sz="2400">
              <a:solidFill>
                <a:srgbClr val="000000"/>
              </a:solidFill>
              <a:latin typeface="Helvetica Neue"/>
              <a:ea typeface="Helvetica Neue"/>
              <a:cs typeface="Helvetica Neue"/>
              <a:sym typeface="Helvetica Neue"/>
            </a:endParaRPr>
          </a:p>
        </p:txBody>
      </p:sp>
      <p:sp>
        <p:nvSpPr>
          <p:cNvPr id="362" name="Google Shape;362;p49"/>
          <p:cNvSpPr txBox="1"/>
          <p:nvPr/>
        </p:nvSpPr>
        <p:spPr>
          <a:xfrm>
            <a:off x="251600" y="1320075"/>
            <a:ext cx="8304300" cy="283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000000"/>
              </a:buClr>
              <a:buSzPts val="1100"/>
              <a:buFont typeface="Arial"/>
              <a:buNone/>
            </a:pPr>
            <a:r>
              <a:rPr lang="en" sz="1800">
                <a:solidFill>
                  <a:srgbClr val="333333"/>
                </a:solidFill>
                <a:highlight>
                  <a:srgbClr val="FFFFFF"/>
                </a:highlight>
                <a:latin typeface="Helvetica Neue"/>
                <a:ea typeface="Helvetica Neue"/>
                <a:cs typeface="Helvetica Neue"/>
                <a:sym typeface="Helvetica Neue"/>
              </a:rPr>
              <a:t>Screen readers can scan for links and create a list of links, so informative link text is helpful. Links in digital documents/pages should convey clear and accurate information about the destination.</a:t>
            </a:r>
            <a:endParaRPr sz="1800">
              <a:solidFill>
                <a:srgbClr val="333333"/>
              </a:solidFill>
              <a:highlight>
                <a:srgbClr val="FFFFFF"/>
              </a:highlight>
              <a:latin typeface="Helvetica Neue"/>
              <a:ea typeface="Helvetica Neue"/>
              <a:cs typeface="Helvetica Neue"/>
              <a:sym typeface="Helvetica Neue"/>
            </a:endParaRPr>
          </a:p>
          <a:p>
            <a:pPr indent="-342900" lvl="0" marL="457200" rtl="0" algn="l">
              <a:lnSpc>
                <a:spcPct val="115000"/>
              </a:lnSpc>
              <a:spcBef>
                <a:spcPts val="1100"/>
              </a:spcBef>
              <a:spcAft>
                <a:spcPts val="0"/>
              </a:spcAft>
              <a:buClr>
                <a:srgbClr val="333333"/>
              </a:buClr>
              <a:buSzPts val="1800"/>
              <a:buFont typeface="Helvetica Neue"/>
              <a:buChar char="●"/>
            </a:pPr>
            <a:r>
              <a:rPr lang="en" sz="1800">
                <a:solidFill>
                  <a:srgbClr val="333333"/>
                </a:solidFill>
                <a:highlight>
                  <a:srgbClr val="FFFFFF"/>
                </a:highlight>
                <a:latin typeface="Helvetica Neue"/>
                <a:ea typeface="Helvetica Neue"/>
                <a:cs typeface="Helvetica Neue"/>
                <a:sym typeface="Helvetica Neue"/>
              </a:rPr>
              <a:t>Do NOT link pages with text such as “Click here”.</a:t>
            </a:r>
            <a:endParaRPr sz="1800">
              <a:solidFill>
                <a:srgbClr val="333333"/>
              </a:solidFill>
              <a:highlight>
                <a:srgbClr val="FFFFFF"/>
              </a:highlight>
              <a:latin typeface="Helvetica Neue"/>
              <a:ea typeface="Helvetica Neue"/>
              <a:cs typeface="Helvetica Neue"/>
              <a:sym typeface="Helvetica Neue"/>
            </a:endParaRPr>
          </a:p>
          <a:p>
            <a:pPr indent="-342900" lvl="1" marL="914400" rtl="0" algn="l">
              <a:lnSpc>
                <a:spcPct val="115000"/>
              </a:lnSpc>
              <a:spcBef>
                <a:spcPts val="0"/>
              </a:spcBef>
              <a:spcAft>
                <a:spcPts val="0"/>
              </a:spcAft>
              <a:buClr>
                <a:srgbClr val="333333"/>
              </a:buClr>
              <a:buSzPts val="1800"/>
              <a:buFont typeface="Helvetica Neue"/>
              <a:buChar char="○"/>
            </a:pPr>
            <a:r>
              <a:rPr b="1" lang="en" sz="1800">
                <a:solidFill>
                  <a:srgbClr val="333333"/>
                </a:solidFill>
                <a:highlight>
                  <a:srgbClr val="FFFFFF"/>
                </a:highlight>
                <a:latin typeface="Helvetica Neue"/>
                <a:ea typeface="Helvetica Neue"/>
                <a:cs typeface="Helvetica Neue"/>
                <a:sym typeface="Helvetica Neue"/>
              </a:rPr>
              <a:t>Good practice</a:t>
            </a:r>
            <a:r>
              <a:rPr lang="en" sz="1800">
                <a:solidFill>
                  <a:srgbClr val="333333"/>
                </a:solidFill>
                <a:highlight>
                  <a:srgbClr val="FFFFFF"/>
                </a:highlight>
                <a:latin typeface="Helvetica Neue"/>
                <a:ea typeface="Helvetica Neue"/>
                <a:cs typeface="Helvetica Neue"/>
                <a:sym typeface="Helvetica Neue"/>
              </a:rPr>
              <a:t>: </a:t>
            </a:r>
            <a:r>
              <a:rPr lang="en" sz="1800">
                <a:solidFill>
                  <a:srgbClr val="00598C"/>
                </a:solidFill>
                <a:highlight>
                  <a:srgbClr val="FFFFFF"/>
                </a:highlight>
                <a:uFill>
                  <a:noFill/>
                </a:uFill>
                <a:latin typeface="Helvetica Neue"/>
                <a:ea typeface="Helvetica Neue"/>
                <a:cs typeface="Helvetica Neue"/>
                <a:sym typeface="Helvetica Neue"/>
                <a:hlinkClick r:id="rId4">
                  <a:extLst>
                    <a:ext uri="{A12FA001-AC4F-418D-AE19-62706E023703}">
                      <ahyp:hlinkClr val="tx"/>
                    </a:ext>
                  </a:extLst>
                </a:hlinkClick>
              </a:rPr>
              <a:t>UCLA Disabilities and Computing Program</a:t>
            </a:r>
            <a:endParaRPr sz="1800">
              <a:solidFill>
                <a:srgbClr val="00598C"/>
              </a:solidFill>
              <a:highlight>
                <a:srgbClr val="FFFFFF"/>
              </a:highlight>
              <a:latin typeface="Helvetica Neue"/>
              <a:ea typeface="Helvetica Neue"/>
              <a:cs typeface="Helvetica Neue"/>
              <a:sym typeface="Helvetica Neue"/>
            </a:endParaRPr>
          </a:p>
          <a:p>
            <a:pPr indent="-342900" lvl="1" marL="914400" rtl="0" algn="l">
              <a:lnSpc>
                <a:spcPct val="115000"/>
              </a:lnSpc>
              <a:spcBef>
                <a:spcPts val="0"/>
              </a:spcBef>
              <a:spcAft>
                <a:spcPts val="0"/>
              </a:spcAft>
              <a:buClr>
                <a:srgbClr val="333333"/>
              </a:buClr>
              <a:buSzPts val="1800"/>
              <a:buFont typeface="Helvetica Neue"/>
              <a:buChar char="○"/>
            </a:pPr>
            <a:r>
              <a:rPr lang="en" sz="1800">
                <a:solidFill>
                  <a:srgbClr val="333333"/>
                </a:solidFill>
                <a:highlight>
                  <a:srgbClr val="FFFFFF"/>
                </a:highlight>
                <a:latin typeface="Helvetica Neue"/>
                <a:ea typeface="Helvetica Neue"/>
                <a:cs typeface="Helvetica Neue"/>
                <a:sym typeface="Helvetica Neue"/>
              </a:rPr>
              <a:t>Bad practice: </a:t>
            </a:r>
            <a:r>
              <a:rPr lang="en" sz="1800">
                <a:solidFill>
                  <a:srgbClr val="00598C"/>
                </a:solidFill>
                <a:highlight>
                  <a:srgbClr val="FFFFFF"/>
                </a:highlight>
                <a:uFill>
                  <a:noFill/>
                </a:uFill>
                <a:latin typeface="Helvetica Neue"/>
                <a:ea typeface="Helvetica Neue"/>
                <a:cs typeface="Helvetica Neue"/>
                <a:sym typeface="Helvetica Neue"/>
                <a:hlinkClick r:id="rId5">
                  <a:extLst>
                    <a:ext uri="{A12FA001-AC4F-418D-AE19-62706E023703}">
                      <ahyp:hlinkClr val="tx"/>
                    </a:ext>
                  </a:extLst>
                </a:hlinkClick>
              </a:rPr>
              <a:t>https://dcp.ucla.edu/</a:t>
            </a:r>
            <a:endParaRPr sz="1800">
              <a:solidFill>
                <a:srgbClr val="00598C"/>
              </a:solidFill>
              <a:highlight>
                <a:srgbClr val="FFFFFF"/>
              </a:highlight>
              <a:latin typeface="Helvetica Neue"/>
              <a:ea typeface="Helvetica Neue"/>
              <a:cs typeface="Helvetica Neue"/>
              <a:sym typeface="Helvetica Neue"/>
            </a:endParaRPr>
          </a:p>
          <a:p>
            <a:pPr indent="-342900" lvl="1" marL="914400" rtl="0" algn="l">
              <a:lnSpc>
                <a:spcPct val="115000"/>
              </a:lnSpc>
              <a:spcBef>
                <a:spcPts val="0"/>
              </a:spcBef>
              <a:spcAft>
                <a:spcPts val="0"/>
              </a:spcAft>
              <a:buClr>
                <a:srgbClr val="333333"/>
              </a:buClr>
              <a:buSzPts val="1800"/>
              <a:buFont typeface="Helvetica Neue"/>
              <a:buChar char="○"/>
            </a:pPr>
            <a:r>
              <a:rPr lang="en" sz="1800">
                <a:solidFill>
                  <a:srgbClr val="333333"/>
                </a:solidFill>
                <a:highlight>
                  <a:srgbClr val="FFFFFF"/>
                </a:highlight>
                <a:latin typeface="Helvetica Neue"/>
                <a:ea typeface="Helvetica Neue"/>
                <a:cs typeface="Helvetica Neue"/>
                <a:sym typeface="Helvetica Neue"/>
              </a:rPr>
              <a:t>Bad practice: </a:t>
            </a:r>
            <a:r>
              <a:rPr lang="en" sz="1800">
                <a:solidFill>
                  <a:srgbClr val="00598C"/>
                </a:solidFill>
                <a:highlight>
                  <a:srgbClr val="FFFFFF"/>
                </a:highlight>
                <a:uFill>
                  <a:noFill/>
                </a:uFill>
                <a:latin typeface="Helvetica Neue"/>
                <a:ea typeface="Helvetica Neue"/>
                <a:cs typeface="Helvetica Neue"/>
                <a:sym typeface="Helvetica Neue"/>
                <a:hlinkClick r:id="rId6">
                  <a:extLst>
                    <a:ext uri="{A12FA001-AC4F-418D-AE19-62706E023703}">
                      <ahyp:hlinkClr val="tx"/>
                    </a:ext>
                  </a:extLst>
                </a:hlinkClick>
              </a:rPr>
              <a:t>Click here</a:t>
            </a:r>
            <a:endParaRPr sz="1800">
              <a:solidFill>
                <a:srgbClr val="00598C"/>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595959"/>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0"/>
          <p:cNvSpPr txBox="1"/>
          <p:nvPr/>
        </p:nvSpPr>
        <p:spPr>
          <a:xfrm>
            <a:off x="251600" y="160475"/>
            <a:ext cx="8195400" cy="60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400">
                <a:solidFill>
                  <a:srgbClr val="000000"/>
                </a:solidFill>
                <a:latin typeface="Helvetica Neue"/>
                <a:ea typeface="Helvetica Neue"/>
                <a:cs typeface="Helvetica Neue"/>
                <a:sym typeface="Helvetica Neue"/>
              </a:rPr>
              <a:t>2. Object - Action - Context  </a:t>
            </a:r>
            <a:endParaRPr b="1" sz="2400">
              <a:solidFill>
                <a:srgbClr val="000000"/>
              </a:solidFill>
              <a:latin typeface="Helvetica Neue"/>
              <a:ea typeface="Helvetica Neue"/>
              <a:cs typeface="Helvetica Neue"/>
              <a:sym typeface="Helvetica Neue"/>
            </a:endParaRPr>
          </a:p>
        </p:txBody>
      </p:sp>
      <p:pic>
        <p:nvPicPr>
          <p:cNvPr id="368" name="Google Shape;368;p50"/>
          <p:cNvPicPr preferRelativeResize="0"/>
          <p:nvPr/>
        </p:nvPicPr>
        <p:blipFill>
          <a:blip r:embed="rId3">
            <a:alphaModFix/>
          </a:blip>
          <a:stretch>
            <a:fillRect/>
          </a:stretch>
        </p:blipFill>
        <p:spPr>
          <a:xfrm>
            <a:off x="4217287" y="1019288"/>
            <a:ext cx="4180501" cy="754375"/>
          </a:xfrm>
          <a:prstGeom prst="rect">
            <a:avLst/>
          </a:prstGeom>
          <a:noFill/>
          <a:ln>
            <a:noFill/>
          </a:ln>
          <a:effectLst>
            <a:outerShdw blurRad="57150" rotWithShape="0" algn="bl" dir="5400000" dist="19050">
              <a:srgbClr val="000000">
                <a:alpha val="50000"/>
              </a:srgbClr>
            </a:outerShdw>
          </a:effectLst>
        </p:spPr>
      </p:pic>
      <p:pic>
        <p:nvPicPr>
          <p:cNvPr id="369" name="Google Shape;369;p50"/>
          <p:cNvPicPr preferRelativeResize="0"/>
          <p:nvPr/>
        </p:nvPicPr>
        <p:blipFill>
          <a:blip r:embed="rId4">
            <a:alphaModFix/>
          </a:blip>
          <a:stretch>
            <a:fillRect/>
          </a:stretch>
        </p:blipFill>
        <p:spPr>
          <a:xfrm>
            <a:off x="364325" y="1044725"/>
            <a:ext cx="3130925" cy="2549124"/>
          </a:xfrm>
          <a:prstGeom prst="rect">
            <a:avLst/>
          </a:prstGeom>
          <a:noFill/>
          <a:ln>
            <a:noFill/>
          </a:ln>
          <a:effectLst>
            <a:outerShdw blurRad="57150" rotWithShape="0" algn="bl" dir="5400000" dist="19050">
              <a:srgbClr val="000000">
                <a:alpha val="50000"/>
              </a:srgbClr>
            </a:outerShdw>
          </a:effectLst>
        </p:spPr>
      </p:pic>
      <p:graphicFrame>
        <p:nvGraphicFramePr>
          <p:cNvPr id="370" name="Google Shape;370;p50"/>
          <p:cNvGraphicFramePr/>
          <p:nvPr/>
        </p:nvGraphicFramePr>
        <p:xfrm>
          <a:off x="3745575" y="2027363"/>
          <a:ext cx="3000000" cy="3000000"/>
        </p:xfrm>
        <a:graphic>
          <a:graphicData uri="http://schemas.openxmlformats.org/drawingml/2006/table">
            <a:tbl>
              <a:tblPr>
                <a:noFill/>
                <a:tableStyleId>{4125C61F-4568-41CF-9EC9-C2F647172EEC}</a:tableStyleId>
              </a:tblPr>
              <a:tblGrid>
                <a:gridCol w="1707975"/>
                <a:gridCol w="1707975"/>
                <a:gridCol w="1707975"/>
              </a:tblGrid>
              <a:tr h="381000">
                <a:tc>
                  <a:txBody>
                    <a:bodyPr/>
                    <a:lstStyle/>
                    <a:p>
                      <a:pPr indent="0" lvl="0" marL="0" rtl="0" algn="l">
                        <a:spcBef>
                          <a:spcPts val="0"/>
                        </a:spcBef>
                        <a:spcAft>
                          <a:spcPts val="0"/>
                        </a:spcAft>
                        <a:buNone/>
                      </a:pPr>
                      <a:r>
                        <a:rPr b="1" lang="en"/>
                        <a:t>Object</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E9E9E"/>
                    </a:solidFill>
                  </a:tcPr>
                </a:tc>
                <a:tc>
                  <a:txBody>
                    <a:bodyPr/>
                    <a:lstStyle/>
                    <a:p>
                      <a:pPr indent="0" lvl="0" marL="0" rtl="0" algn="l">
                        <a:spcBef>
                          <a:spcPts val="0"/>
                        </a:spcBef>
                        <a:spcAft>
                          <a:spcPts val="0"/>
                        </a:spcAft>
                        <a:buNone/>
                      </a:pPr>
                      <a:r>
                        <a:rPr b="1" lang="en"/>
                        <a:t>Action</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E9E9E"/>
                    </a:solidFill>
                  </a:tcPr>
                </a:tc>
                <a:tc>
                  <a:txBody>
                    <a:bodyPr/>
                    <a:lstStyle/>
                    <a:p>
                      <a:pPr indent="0" lvl="0" marL="0" rtl="0" algn="l">
                        <a:spcBef>
                          <a:spcPts val="0"/>
                        </a:spcBef>
                        <a:spcAft>
                          <a:spcPts val="0"/>
                        </a:spcAft>
                        <a:buNone/>
                      </a:pPr>
                      <a:r>
                        <a:rPr b="1" lang="en"/>
                        <a:t>Context</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9E9E9E"/>
                    </a:solidFill>
                  </a:tcPr>
                </a:tc>
              </a:tr>
              <a:tr h="381000">
                <a:tc>
                  <a:txBody>
                    <a:bodyPr/>
                    <a:lstStyle/>
                    <a:p>
                      <a:pPr indent="0" lvl="0" marL="0" rtl="0" algn="l">
                        <a:spcBef>
                          <a:spcPts val="0"/>
                        </a:spcBef>
                        <a:spcAft>
                          <a:spcPts val="0"/>
                        </a:spcAft>
                        <a:buNone/>
                      </a:pPr>
                      <a:r>
                        <a:rPr lang="en"/>
                        <a:t>A dog</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sitting</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in fall leaves.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A light brown pitbull dog breed</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sitting at attention</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in a field of golden autumn leaves.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71" name="Google Shape;371;p50"/>
          <p:cNvSpPr txBox="1"/>
          <p:nvPr/>
        </p:nvSpPr>
        <p:spPr>
          <a:xfrm>
            <a:off x="1939500" y="4514225"/>
            <a:ext cx="52650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u="sng">
                <a:solidFill>
                  <a:srgbClr val="000000"/>
                </a:solidFill>
                <a:latin typeface="Helvetica Neue"/>
                <a:ea typeface="Helvetica Neue"/>
                <a:cs typeface="Helvetica Neue"/>
                <a:sym typeface="Helvetica Neue"/>
                <a:hlinkClick r:id="rId5">
                  <a:extLst>
                    <a:ext uri="{A12FA001-AC4F-418D-AE19-62706E023703}">
                      <ahyp:hlinkClr val="tx"/>
                    </a:ext>
                  </a:extLst>
                </a:hlinkClick>
              </a:rPr>
              <a:t>Source:</a:t>
            </a:r>
            <a:r>
              <a:rPr lang="en" sz="1000">
                <a:solidFill>
                  <a:srgbClr val="000000"/>
                </a:solidFill>
                <a:uFill>
                  <a:noFill/>
                </a:uFill>
                <a:latin typeface="Helvetica Neue"/>
                <a:ea typeface="Helvetica Neue"/>
                <a:cs typeface="Helvetica Neue"/>
                <a:sym typeface="Helvetica Neue"/>
                <a:hlinkClick r:id="rId6">
                  <a:extLst>
                    <a:ext uri="{A12FA001-AC4F-418D-AE19-62706E023703}">
                      <ahyp:hlinkClr val="tx"/>
                    </a:ext>
                  </a:extLst>
                </a:hlinkClick>
              </a:rPr>
              <a:t> </a:t>
            </a:r>
            <a:r>
              <a:rPr lang="en" sz="1000">
                <a:solidFill>
                  <a:srgbClr val="000000"/>
                </a:solidFill>
                <a:latin typeface="Helvetica Neue"/>
                <a:ea typeface="Helvetica Neue"/>
                <a:cs typeface="Helvetica Neue"/>
                <a:sym typeface="Helvetica Neue"/>
              </a:rPr>
              <a:t>Chen, A. (2020, July 17). How to write an image description. UX Collective. https://uxdesign.cc/how-to-write-an-image-description-2f30d3bf5546</a:t>
            </a:r>
            <a:endParaRPr sz="1000">
              <a:solidFill>
                <a:srgbClr val="000000"/>
              </a:solidFill>
              <a:latin typeface="Helvetica Neue"/>
              <a:ea typeface="Helvetica Neue"/>
              <a:cs typeface="Helvetica Neue"/>
              <a:sym typeface="Helvetica Neue"/>
            </a:endParaRPr>
          </a:p>
        </p:txBody>
      </p:sp>
      <p:sp>
        <p:nvSpPr>
          <p:cNvPr id="372" name="Google Shape;372;p50"/>
          <p:cNvSpPr/>
          <p:nvPr/>
        </p:nvSpPr>
        <p:spPr>
          <a:xfrm>
            <a:off x="3767575" y="2419350"/>
            <a:ext cx="5080500" cy="4005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373" name="Google Shape;373;p50"/>
          <p:cNvSpPr/>
          <p:nvPr/>
        </p:nvSpPr>
        <p:spPr>
          <a:xfrm>
            <a:off x="3767600" y="2819775"/>
            <a:ext cx="5080500" cy="6051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7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p51"/>
          <p:cNvPicPr preferRelativeResize="0"/>
          <p:nvPr/>
        </p:nvPicPr>
        <p:blipFill>
          <a:blip r:embed="rId3">
            <a:alphaModFix/>
          </a:blip>
          <a:stretch>
            <a:fillRect/>
          </a:stretch>
        </p:blipFill>
        <p:spPr>
          <a:xfrm>
            <a:off x="251600" y="616763"/>
            <a:ext cx="4889119" cy="4750675"/>
          </a:xfrm>
          <a:prstGeom prst="rect">
            <a:avLst/>
          </a:prstGeom>
          <a:noFill/>
          <a:ln>
            <a:noFill/>
          </a:ln>
          <a:effectLst>
            <a:outerShdw blurRad="57150" rotWithShape="0" algn="bl" dir="5400000" dist="19050">
              <a:srgbClr val="000000">
                <a:alpha val="50000"/>
              </a:srgbClr>
            </a:outerShdw>
          </a:effectLst>
        </p:spPr>
      </p:pic>
      <p:pic>
        <p:nvPicPr>
          <p:cNvPr id="379" name="Google Shape;379;p51"/>
          <p:cNvPicPr preferRelativeResize="0"/>
          <p:nvPr/>
        </p:nvPicPr>
        <p:blipFill>
          <a:blip r:embed="rId4">
            <a:alphaModFix/>
          </a:blip>
          <a:stretch>
            <a:fillRect/>
          </a:stretch>
        </p:blipFill>
        <p:spPr>
          <a:xfrm>
            <a:off x="943325" y="1825500"/>
            <a:ext cx="7257375" cy="2709700"/>
          </a:xfrm>
          <a:prstGeom prst="rect">
            <a:avLst/>
          </a:prstGeom>
          <a:noFill/>
          <a:ln>
            <a:noFill/>
          </a:ln>
          <a:effectLst>
            <a:outerShdw blurRad="57150" rotWithShape="0" algn="bl" dir="5400000" dist="19050">
              <a:srgbClr val="000000">
                <a:alpha val="50000"/>
              </a:srgbClr>
            </a:outerShdw>
          </a:effectLst>
        </p:spPr>
      </p:pic>
      <p:pic>
        <p:nvPicPr>
          <p:cNvPr id="380" name="Google Shape;380;p51"/>
          <p:cNvPicPr preferRelativeResize="0"/>
          <p:nvPr/>
        </p:nvPicPr>
        <p:blipFill>
          <a:blip r:embed="rId5">
            <a:alphaModFix/>
          </a:blip>
          <a:stretch>
            <a:fillRect/>
          </a:stretch>
        </p:blipFill>
        <p:spPr>
          <a:xfrm>
            <a:off x="943325" y="956550"/>
            <a:ext cx="7257375" cy="868950"/>
          </a:xfrm>
          <a:prstGeom prst="rect">
            <a:avLst/>
          </a:prstGeom>
          <a:noFill/>
          <a:ln>
            <a:noFill/>
          </a:ln>
          <a:effectLst>
            <a:outerShdw blurRad="57150" rotWithShape="0" algn="bl" dir="5400000" dist="19050">
              <a:srgbClr val="000000">
                <a:alpha val="50000"/>
              </a:srgbClr>
            </a:outerShdw>
          </a:effectLst>
        </p:spPr>
      </p:pic>
      <p:sp>
        <p:nvSpPr>
          <p:cNvPr id="381" name="Google Shape;381;p51"/>
          <p:cNvSpPr txBox="1"/>
          <p:nvPr/>
        </p:nvSpPr>
        <p:spPr>
          <a:xfrm>
            <a:off x="251600" y="84275"/>
            <a:ext cx="8195400" cy="60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400">
                <a:solidFill>
                  <a:srgbClr val="000000"/>
                </a:solidFill>
                <a:latin typeface="Helvetica Neue"/>
                <a:ea typeface="Helvetica Neue"/>
                <a:cs typeface="Helvetica Neue"/>
                <a:sym typeface="Helvetica Neue"/>
              </a:rPr>
              <a:t>3. Progressively enhance materials  </a:t>
            </a:r>
            <a:endParaRPr b="1" sz="2400">
              <a:solidFill>
                <a:srgbClr val="000000"/>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2"/>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Helvetica Neue"/>
                <a:ea typeface="Helvetica Neue"/>
                <a:cs typeface="Helvetica Neue"/>
                <a:sym typeface="Helvetica Neue"/>
              </a:rPr>
              <a:t>4. UDL +1 Approach</a:t>
            </a:r>
            <a:endParaRPr b="1" sz="2800">
              <a:solidFill>
                <a:srgbClr val="000000"/>
              </a:solidFill>
              <a:latin typeface="Helvetica Neue"/>
              <a:ea typeface="Helvetica Neue"/>
              <a:cs typeface="Helvetica Neue"/>
              <a:sym typeface="Helvetica Neue"/>
            </a:endParaRPr>
          </a:p>
        </p:txBody>
      </p:sp>
      <p:pic>
        <p:nvPicPr>
          <p:cNvPr id="387" name="Google Shape;387;p52"/>
          <p:cNvPicPr preferRelativeResize="0"/>
          <p:nvPr/>
        </p:nvPicPr>
        <p:blipFill>
          <a:blip r:embed="rId3">
            <a:alphaModFix/>
          </a:blip>
          <a:stretch>
            <a:fillRect/>
          </a:stretch>
        </p:blipFill>
        <p:spPr>
          <a:xfrm>
            <a:off x="3692925" y="707350"/>
            <a:ext cx="5139375" cy="3567775"/>
          </a:xfrm>
          <a:prstGeom prst="rect">
            <a:avLst/>
          </a:prstGeom>
          <a:noFill/>
          <a:ln>
            <a:noFill/>
          </a:ln>
          <a:effectLst>
            <a:outerShdw blurRad="57150" rotWithShape="0" algn="bl" dir="5400000" dist="19050">
              <a:srgbClr val="000000">
                <a:alpha val="50000"/>
              </a:srgbClr>
            </a:outerShdw>
          </a:effectLst>
        </p:spPr>
      </p:pic>
      <p:sp>
        <p:nvSpPr>
          <p:cNvPr id="388" name="Google Shape;388;p52"/>
          <p:cNvSpPr txBox="1"/>
          <p:nvPr/>
        </p:nvSpPr>
        <p:spPr>
          <a:xfrm>
            <a:off x="311700" y="4406300"/>
            <a:ext cx="8520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000000"/>
                </a:solidFill>
                <a:latin typeface="Helvetica Neue"/>
                <a:ea typeface="Helvetica Neue"/>
                <a:cs typeface="Helvetica Neue"/>
                <a:sym typeface="Helvetica Neue"/>
              </a:rPr>
              <a:t>Source: </a:t>
            </a:r>
            <a:r>
              <a:rPr lang="en" sz="1000">
                <a:solidFill>
                  <a:srgbClr val="000000"/>
                </a:solidFill>
                <a:highlight>
                  <a:srgbClr val="FFFFFF"/>
                </a:highlight>
                <a:latin typeface="Helvetica Neue"/>
                <a:ea typeface="Helvetica Neue"/>
                <a:cs typeface="Helvetica Neue"/>
                <a:sym typeface="Helvetica Neue"/>
              </a:rPr>
              <a:t>Doyle, A. J., O’Toole, M., Cassidy, D., &amp; Condron, C. M. (2025). Universal Design for Learning (UDL) in simulation-based health professions education. </a:t>
            </a:r>
            <a:r>
              <a:rPr i="1" lang="en" sz="1000">
                <a:solidFill>
                  <a:srgbClr val="000000"/>
                </a:solidFill>
                <a:highlight>
                  <a:srgbClr val="FFFFFF"/>
                </a:highlight>
                <a:latin typeface="Helvetica Neue"/>
                <a:ea typeface="Helvetica Neue"/>
                <a:cs typeface="Helvetica Neue"/>
                <a:sym typeface="Helvetica Neue"/>
              </a:rPr>
              <a:t>Advances in Simulation</a:t>
            </a:r>
            <a:r>
              <a:rPr lang="en" sz="1000">
                <a:solidFill>
                  <a:srgbClr val="000000"/>
                </a:solidFill>
                <a:highlight>
                  <a:srgbClr val="FFFFFF"/>
                </a:highlight>
                <a:latin typeface="Helvetica Neue"/>
                <a:ea typeface="Helvetica Neue"/>
                <a:cs typeface="Helvetica Neue"/>
                <a:sym typeface="Helvetica Neue"/>
              </a:rPr>
              <a:t>, </a:t>
            </a:r>
            <a:r>
              <a:rPr i="1" lang="en" sz="1000">
                <a:solidFill>
                  <a:srgbClr val="000000"/>
                </a:solidFill>
                <a:highlight>
                  <a:srgbClr val="FFFFFF"/>
                </a:highlight>
                <a:latin typeface="Helvetica Neue"/>
                <a:ea typeface="Helvetica Neue"/>
                <a:cs typeface="Helvetica Neue"/>
                <a:sym typeface="Helvetica Neue"/>
              </a:rPr>
              <a:t>10</a:t>
            </a:r>
            <a:r>
              <a:rPr lang="en" sz="1000">
                <a:solidFill>
                  <a:srgbClr val="000000"/>
                </a:solidFill>
                <a:highlight>
                  <a:srgbClr val="FFFFFF"/>
                </a:highlight>
                <a:latin typeface="Helvetica Neue"/>
                <a:ea typeface="Helvetica Neue"/>
                <a:cs typeface="Helvetica Neue"/>
                <a:sym typeface="Helvetica Neue"/>
              </a:rPr>
              <a:t>(1), 33.</a:t>
            </a:r>
            <a:endParaRPr sz="1000">
              <a:solidFill>
                <a:srgbClr val="000000"/>
              </a:solidFill>
              <a:latin typeface="Helvetica Neue"/>
              <a:ea typeface="Helvetica Neue"/>
              <a:cs typeface="Helvetica Neue"/>
              <a:sym typeface="Helvetica Neue"/>
            </a:endParaRPr>
          </a:p>
        </p:txBody>
      </p:sp>
      <p:sp>
        <p:nvSpPr>
          <p:cNvPr id="389" name="Google Shape;389;p52"/>
          <p:cNvSpPr txBox="1"/>
          <p:nvPr/>
        </p:nvSpPr>
        <p:spPr>
          <a:xfrm>
            <a:off x="404000" y="1229475"/>
            <a:ext cx="30594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00"/>
                </a:solidFill>
                <a:latin typeface="Helvetica Neue"/>
                <a:ea typeface="Helvetica Neue"/>
                <a:cs typeface="Helvetica Neue"/>
                <a:sym typeface="Helvetica Neue"/>
              </a:rPr>
              <a:t>Selectively making changes that can scale to other teaching practices and materials</a:t>
            </a:r>
            <a:endParaRPr sz="1800">
              <a:solidFill>
                <a:srgbClr val="000000"/>
              </a:solidFill>
              <a:latin typeface="Helvetica Neue"/>
              <a:ea typeface="Helvetica Neue"/>
              <a:cs typeface="Helvetica Neue"/>
              <a:sym typeface="Helvetica Neue"/>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3"/>
          <p:cNvSpPr txBox="1"/>
          <p:nvPr/>
        </p:nvSpPr>
        <p:spPr>
          <a:xfrm>
            <a:off x="251600" y="160475"/>
            <a:ext cx="8195400" cy="60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400">
                <a:solidFill>
                  <a:srgbClr val="000000"/>
                </a:solidFill>
                <a:latin typeface="Helvetica Neue"/>
                <a:ea typeface="Helvetica Neue"/>
                <a:cs typeface="Helvetica Neue"/>
                <a:sym typeface="Helvetica Neue"/>
              </a:rPr>
              <a:t>5. Consider Universal Design for Instruction  </a:t>
            </a:r>
            <a:endParaRPr b="1" sz="2400">
              <a:solidFill>
                <a:srgbClr val="000000"/>
              </a:solidFill>
              <a:latin typeface="Helvetica Neue"/>
              <a:ea typeface="Helvetica Neue"/>
              <a:cs typeface="Helvetica Neue"/>
              <a:sym typeface="Helvetica Neue"/>
            </a:endParaRPr>
          </a:p>
        </p:txBody>
      </p:sp>
      <p:pic>
        <p:nvPicPr>
          <p:cNvPr id="395" name="Google Shape;395;p53"/>
          <p:cNvPicPr preferRelativeResize="0"/>
          <p:nvPr/>
        </p:nvPicPr>
        <p:blipFill>
          <a:blip r:embed="rId3">
            <a:alphaModFix/>
          </a:blip>
          <a:stretch>
            <a:fillRect/>
          </a:stretch>
        </p:blipFill>
        <p:spPr>
          <a:xfrm>
            <a:off x="5062488" y="1393075"/>
            <a:ext cx="3425125" cy="3105325"/>
          </a:xfrm>
          <a:prstGeom prst="rect">
            <a:avLst/>
          </a:prstGeom>
          <a:noFill/>
          <a:ln>
            <a:noFill/>
          </a:ln>
        </p:spPr>
      </p:pic>
      <p:sp>
        <p:nvSpPr>
          <p:cNvPr id="396" name="Google Shape;396;p53"/>
          <p:cNvSpPr txBox="1"/>
          <p:nvPr/>
        </p:nvSpPr>
        <p:spPr>
          <a:xfrm>
            <a:off x="447900" y="1329488"/>
            <a:ext cx="41241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0000"/>
                </a:solidFill>
                <a:latin typeface="Helvetica Neue"/>
                <a:ea typeface="Helvetica Neue"/>
                <a:cs typeface="Helvetica Neue"/>
                <a:sym typeface="Helvetica Neue"/>
              </a:rPr>
              <a:t>Universal Design for Instruction</a:t>
            </a:r>
            <a:r>
              <a:rPr lang="en" sz="1800">
                <a:solidFill>
                  <a:srgbClr val="000000"/>
                </a:solidFill>
                <a:latin typeface="Helvetica Neue"/>
                <a:ea typeface="Helvetica Neue"/>
                <a:cs typeface="Helvetica Neue"/>
                <a:sym typeface="Helvetica Neue"/>
              </a:rPr>
              <a:t> as framework to streamline adaptations for digital accessibility and UDL</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b="1" lang="en" sz="1800">
                <a:solidFill>
                  <a:srgbClr val="000000"/>
                </a:solidFill>
                <a:latin typeface="Helvetica Neue"/>
                <a:ea typeface="Helvetica Neue"/>
                <a:cs typeface="Helvetica Neue"/>
                <a:sym typeface="Helvetica Neue"/>
              </a:rPr>
              <a:t>Example: </a:t>
            </a:r>
            <a:r>
              <a:rPr lang="en" sz="1800">
                <a:solidFill>
                  <a:srgbClr val="000000"/>
                </a:solidFill>
                <a:latin typeface="Helvetica Neue"/>
                <a:ea typeface="Helvetica Neue"/>
                <a:cs typeface="Helvetica Neue"/>
                <a:sym typeface="Helvetica Neue"/>
              </a:rPr>
              <a:t>Deliver instructions clearly and in multiple ways. Make instructions clear in the syllabus and follow up with a question and answer session. Ask students to summarize instructions to ensure understanding. [UD 3, 4; UDL 1; WCAG]</a:t>
            </a:r>
            <a:endParaRPr sz="1800">
              <a:solidFill>
                <a:srgbClr val="000000"/>
              </a:solidFill>
              <a:latin typeface="Helvetica Neue"/>
              <a:ea typeface="Helvetica Neue"/>
              <a:cs typeface="Helvetica Neue"/>
              <a:sym typeface="Helvetica Neue"/>
            </a:endParaRPr>
          </a:p>
        </p:txBody>
      </p:sp>
      <p:sp>
        <p:nvSpPr>
          <p:cNvPr id="397" name="Google Shape;397;p53"/>
          <p:cNvSpPr txBox="1"/>
          <p:nvPr/>
        </p:nvSpPr>
        <p:spPr>
          <a:xfrm>
            <a:off x="0" y="4607950"/>
            <a:ext cx="92457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rgbClr val="000000"/>
                </a:solidFill>
                <a:latin typeface="Helvetica Neue"/>
                <a:ea typeface="Helvetica Neue"/>
                <a:cs typeface="Helvetica Neue"/>
                <a:sym typeface="Helvetica Neue"/>
              </a:rPr>
              <a:t>Source: Burgstahler, S. (2020). Equal access: Universal design of instruction. DO-IT, University of Washington. https://doit.uw.edu/brief/equal-access-universal-design-of-instruction/</a:t>
            </a:r>
            <a:endParaRPr sz="800">
              <a:solidFill>
                <a:srgbClr val="000000"/>
              </a:solidFill>
              <a:latin typeface="Helvetica Neue"/>
              <a:ea typeface="Helvetica Neue"/>
              <a:cs typeface="Helvetica Neue"/>
              <a:sym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4"/>
          <p:cNvSpPr txBox="1"/>
          <p:nvPr/>
        </p:nvSpPr>
        <p:spPr>
          <a:xfrm>
            <a:off x="251600" y="312875"/>
            <a:ext cx="8195400" cy="60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400">
                <a:solidFill>
                  <a:srgbClr val="000000"/>
                </a:solidFill>
                <a:latin typeface="Helvetica Neue"/>
                <a:ea typeface="Helvetica Neue"/>
                <a:cs typeface="Helvetica Neue"/>
                <a:sym typeface="Helvetica Neue"/>
              </a:rPr>
              <a:t>5. Consider Universal Design for Instruction  </a:t>
            </a:r>
            <a:endParaRPr b="1" sz="2400">
              <a:solidFill>
                <a:srgbClr val="000000"/>
              </a:solidFill>
              <a:latin typeface="Helvetica Neue"/>
              <a:ea typeface="Helvetica Neue"/>
              <a:cs typeface="Helvetica Neue"/>
              <a:sym typeface="Helvetica Neue"/>
            </a:endParaRPr>
          </a:p>
        </p:txBody>
      </p:sp>
      <p:sp>
        <p:nvSpPr>
          <p:cNvPr id="403" name="Google Shape;403;p54"/>
          <p:cNvSpPr txBox="1"/>
          <p:nvPr/>
        </p:nvSpPr>
        <p:spPr>
          <a:xfrm>
            <a:off x="1716800" y="4676775"/>
            <a:ext cx="5265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00"/>
                </a:solidFill>
                <a:latin typeface="Helvetica Neue"/>
                <a:ea typeface="Helvetica Neue"/>
                <a:cs typeface="Helvetica Neue"/>
                <a:sym typeface="Helvetica Neue"/>
              </a:rPr>
              <a:t>Source: </a:t>
            </a:r>
            <a:r>
              <a:rPr lang="en" sz="1000" u="sng">
                <a:solidFill>
                  <a:srgbClr val="000000"/>
                </a:solidFill>
                <a:latin typeface="Helvetica Neue"/>
                <a:ea typeface="Helvetica Neue"/>
                <a:cs typeface="Helvetica Neue"/>
                <a:sym typeface="Helvetica Neue"/>
                <a:hlinkClick r:id="rId3">
                  <a:extLst>
                    <a:ext uri="{A12FA001-AC4F-418D-AE19-62706E023703}">
                      <ahyp:hlinkClr val="tx"/>
                    </a:ext>
                  </a:extLst>
                </a:hlinkClick>
              </a:rPr>
              <a:t>UDL: Practical Ideas to Get Started</a:t>
            </a:r>
            <a:endParaRPr sz="1000">
              <a:solidFill>
                <a:srgbClr val="000000"/>
              </a:solidFill>
              <a:latin typeface="Helvetica Neue"/>
              <a:ea typeface="Helvetica Neue"/>
              <a:cs typeface="Helvetica Neue"/>
              <a:sym typeface="Helvetica Neue"/>
            </a:endParaRPr>
          </a:p>
        </p:txBody>
      </p:sp>
      <p:sp>
        <p:nvSpPr>
          <p:cNvPr id="404" name="Google Shape;404;p54"/>
          <p:cNvSpPr txBox="1"/>
          <p:nvPr/>
        </p:nvSpPr>
        <p:spPr>
          <a:xfrm>
            <a:off x="369350" y="917975"/>
            <a:ext cx="8319300" cy="3565500"/>
          </a:xfrm>
          <a:prstGeom prst="rect">
            <a:avLst/>
          </a:prstGeom>
          <a:noFill/>
          <a:ln>
            <a:noFill/>
          </a:ln>
        </p:spPr>
        <p:txBody>
          <a:bodyPr anchorCtr="0" anchor="t" bIns="91425" lIns="91425" spcFirstLastPara="1" rIns="91425" wrap="square" tIns="91425">
            <a:normAutofit/>
          </a:bodyPr>
          <a:lstStyle/>
          <a:p>
            <a:pPr indent="-304800" lvl="0" marL="457200" rtl="0" algn="l">
              <a:lnSpc>
                <a:spcPct val="115000"/>
              </a:lnSpc>
              <a:spcBef>
                <a:spcPts val="0"/>
              </a:spcBef>
              <a:spcAft>
                <a:spcPts val="0"/>
              </a:spcAft>
              <a:buClr>
                <a:srgbClr val="000000"/>
              </a:buClr>
              <a:buSzPts val="1200"/>
              <a:buChar char="●"/>
            </a:pPr>
            <a:r>
              <a:rPr b="1" lang="en" sz="1200">
                <a:solidFill>
                  <a:srgbClr val="000000"/>
                </a:solidFill>
                <a:latin typeface="Helvetica Neue"/>
                <a:ea typeface="Helvetica Neue"/>
                <a:cs typeface="Helvetica Neue"/>
                <a:sym typeface="Helvetica Neue"/>
              </a:rPr>
              <a:t>Align all assessments with learning outcomes</a:t>
            </a:r>
            <a:r>
              <a:rPr lang="en" sz="1200">
                <a:solidFill>
                  <a:srgbClr val="000000"/>
                </a:solidFill>
                <a:latin typeface="Helvetica Neue"/>
                <a:ea typeface="Helvetica Neue"/>
                <a:cs typeface="Helvetica Neue"/>
                <a:sym typeface="Helvetica Neue"/>
              </a:rPr>
              <a:t> so students can understand why they are being asked to do something. </a:t>
            </a:r>
            <a:endParaRPr sz="1200">
              <a:solidFill>
                <a:srgbClr val="000000"/>
              </a:solidFill>
              <a:latin typeface="Helvetica Neue"/>
              <a:ea typeface="Helvetica Neue"/>
              <a:cs typeface="Helvetica Neue"/>
              <a:sym typeface="Helvetica Neue"/>
            </a:endParaRPr>
          </a:p>
          <a:p>
            <a:pPr indent="-304800" lvl="0" marL="457200" rtl="0" algn="l">
              <a:lnSpc>
                <a:spcPct val="115000"/>
              </a:lnSpc>
              <a:spcBef>
                <a:spcPts val="0"/>
              </a:spcBef>
              <a:spcAft>
                <a:spcPts val="0"/>
              </a:spcAft>
              <a:buClr>
                <a:srgbClr val="000000"/>
              </a:buClr>
              <a:buSzPts val="1200"/>
              <a:buChar char="●"/>
            </a:pPr>
            <a:r>
              <a:rPr b="1" lang="en" sz="1200">
                <a:solidFill>
                  <a:srgbClr val="000000"/>
                </a:solidFill>
                <a:latin typeface="Helvetica Neue"/>
                <a:ea typeface="Helvetica Neue"/>
                <a:cs typeface="Helvetica Neue"/>
                <a:sym typeface="Helvetica Neue"/>
              </a:rPr>
              <a:t>Break down big assessments:</a:t>
            </a:r>
            <a:r>
              <a:rPr lang="en" sz="1200">
                <a:solidFill>
                  <a:srgbClr val="000000"/>
                </a:solidFill>
                <a:latin typeface="Helvetica Neue"/>
                <a:ea typeface="Helvetica Neue"/>
                <a:cs typeface="Helvetica Neue"/>
                <a:sym typeface="Helvetica Neue"/>
              </a:rPr>
              <a:t> Break large assessments or projects down into smaller assignments throughout the semester and provide formative feedback for each part to allow students to monitor their progress. Clearly provide interim dates for large assessments and prompt learners about upcoming deadlines. </a:t>
            </a:r>
            <a:endParaRPr sz="1200">
              <a:solidFill>
                <a:srgbClr val="000000"/>
              </a:solidFill>
              <a:latin typeface="Helvetica Neue"/>
              <a:ea typeface="Helvetica Neue"/>
              <a:cs typeface="Helvetica Neue"/>
              <a:sym typeface="Helvetica Neue"/>
            </a:endParaRPr>
          </a:p>
          <a:p>
            <a:pPr indent="-304800" lvl="0" marL="457200" rtl="0" algn="l">
              <a:lnSpc>
                <a:spcPct val="115000"/>
              </a:lnSpc>
              <a:spcBef>
                <a:spcPts val="0"/>
              </a:spcBef>
              <a:spcAft>
                <a:spcPts val="0"/>
              </a:spcAft>
              <a:buClr>
                <a:srgbClr val="000000"/>
              </a:buClr>
              <a:buSzPts val="1200"/>
              <a:buChar char="●"/>
            </a:pPr>
            <a:r>
              <a:rPr b="1" lang="en" sz="1200">
                <a:solidFill>
                  <a:srgbClr val="000000"/>
                </a:solidFill>
                <a:latin typeface="Helvetica Neue"/>
                <a:ea typeface="Helvetica Neue"/>
                <a:cs typeface="Helvetica Neue"/>
                <a:sym typeface="Helvetica Neue"/>
              </a:rPr>
              <a:t>Vary how students can respond:</a:t>
            </a:r>
            <a:r>
              <a:rPr lang="en" sz="1200">
                <a:solidFill>
                  <a:srgbClr val="000000"/>
                </a:solidFill>
                <a:latin typeface="Helvetica Neue"/>
                <a:ea typeface="Helvetica Neue"/>
                <a:cs typeface="Helvetica Neue"/>
                <a:sym typeface="Helvetica Neue"/>
              </a:rPr>
              <a:t> Add more options to assessments that have a single response mode (such as using only multiple choice, asking for only a written response, or asking learners to draw diagrams for every answer). </a:t>
            </a:r>
            <a:endParaRPr sz="1200">
              <a:solidFill>
                <a:srgbClr val="000000"/>
              </a:solidFill>
              <a:latin typeface="Helvetica Neue"/>
              <a:ea typeface="Helvetica Neue"/>
              <a:cs typeface="Helvetica Neue"/>
              <a:sym typeface="Helvetica Neue"/>
            </a:endParaRPr>
          </a:p>
          <a:p>
            <a:pPr indent="-304800" lvl="0" marL="457200" rtl="0" algn="l">
              <a:lnSpc>
                <a:spcPct val="115000"/>
              </a:lnSpc>
              <a:spcBef>
                <a:spcPts val="0"/>
              </a:spcBef>
              <a:spcAft>
                <a:spcPts val="0"/>
              </a:spcAft>
              <a:buClr>
                <a:srgbClr val="000000"/>
              </a:buClr>
              <a:buSzPts val="1200"/>
              <a:buChar char="●"/>
            </a:pPr>
            <a:r>
              <a:rPr b="1" lang="en" sz="1200">
                <a:solidFill>
                  <a:srgbClr val="000000"/>
                </a:solidFill>
                <a:latin typeface="Helvetica Neue"/>
                <a:ea typeface="Helvetica Neue"/>
                <a:cs typeface="Helvetica Neue"/>
                <a:sym typeface="Helvetica Neue"/>
              </a:rPr>
              <a:t>Deadlines Flexibility</a:t>
            </a:r>
            <a:r>
              <a:rPr lang="en" sz="1200">
                <a:solidFill>
                  <a:srgbClr val="000000"/>
                </a:solidFill>
                <a:latin typeface="Helvetica Neue"/>
                <a:ea typeface="Helvetica Neue"/>
                <a:cs typeface="Helvetica Neue"/>
                <a:sym typeface="Helvetica Neue"/>
              </a:rPr>
              <a:t> Provide alternative submission options and be flexible with submission dates. </a:t>
            </a:r>
            <a:endParaRPr sz="1200">
              <a:solidFill>
                <a:srgbClr val="000000"/>
              </a:solidFill>
              <a:latin typeface="Helvetica Neue"/>
              <a:ea typeface="Helvetica Neue"/>
              <a:cs typeface="Helvetica Neue"/>
              <a:sym typeface="Helvetica Neue"/>
            </a:endParaRPr>
          </a:p>
          <a:p>
            <a:pPr indent="-304800" lvl="0" marL="457200" rtl="0" algn="l">
              <a:lnSpc>
                <a:spcPct val="115000"/>
              </a:lnSpc>
              <a:spcBef>
                <a:spcPts val="0"/>
              </a:spcBef>
              <a:spcAft>
                <a:spcPts val="0"/>
              </a:spcAft>
              <a:buClr>
                <a:srgbClr val="000000"/>
              </a:buClr>
              <a:buSzPts val="1200"/>
              <a:buChar char="●"/>
            </a:pPr>
            <a:r>
              <a:rPr lang="en" sz="1200">
                <a:solidFill>
                  <a:srgbClr val="000000"/>
                </a:solidFill>
                <a:latin typeface="Helvetica Neue"/>
                <a:ea typeface="Helvetica Neue"/>
                <a:cs typeface="Helvetica Neue"/>
                <a:sym typeface="Helvetica Neue"/>
              </a:rPr>
              <a:t>Be explicit with assessment instructions. Ask someone else to review them to make them make sense. Consider adding a screencast of a process if students have difficulties with that process. Add an audio or captioned video version of your instructions to help students to understand what they need to do. Create a discussion forum for specific questions on assessments and add these questions to the instructions next time you run the assessment. </a:t>
            </a:r>
            <a:endParaRPr sz="1200">
              <a:solidFill>
                <a:srgbClr val="000000"/>
              </a:solidFill>
              <a:latin typeface="Helvetica Neue"/>
              <a:ea typeface="Helvetica Neue"/>
              <a:cs typeface="Helvetica Neue"/>
              <a:sym typeface="Helvetica Neue"/>
            </a:endParaRPr>
          </a:p>
          <a:p>
            <a:pPr indent="-304800" lvl="0" marL="457200" rtl="0" algn="l">
              <a:lnSpc>
                <a:spcPct val="115000"/>
              </a:lnSpc>
              <a:spcBef>
                <a:spcPts val="0"/>
              </a:spcBef>
              <a:spcAft>
                <a:spcPts val="0"/>
              </a:spcAft>
              <a:buClr>
                <a:srgbClr val="000000"/>
              </a:buClr>
              <a:buSzPts val="1200"/>
              <a:buChar char="●"/>
            </a:pPr>
            <a:r>
              <a:rPr b="1" lang="en" sz="1200">
                <a:solidFill>
                  <a:srgbClr val="000000"/>
                </a:solidFill>
                <a:latin typeface="Helvetica Neue"/>
                <a:ea typeface="Helvetica Neue"/>
                <a:cs typeface="Helvetica Neue"/>
                <a:sym typeface="Helvetica Neue"/>
              </a:rPr>
              <a:t>Share examples.</a:t>
            </a:r>
            <a:r>
              <a:rPr lang="en" sz="1200">
                <a:solidFill>
                  <a:srgbClr val="000000"/>
                </a:solidFill>
                <a:latin typeface="Helvetica Neue"/>
                <a:ea typeface="Helvetica Neue"/>
                <a:cs typeface="Helvetica Neue"/>
                <a:sym typeface="Helvetica Neue"/>
              </a:rPr>
              <a:t> Give examples of past students work and how they met the learning outcomes. </a:t>
            </a:r>
            <a:endParaRPr sz="1800">
              <a:solidFill>
                <a:srgbClr val="595959"/>
              </a:solidFill>
              <a:latin typeface="Helvetica Neue"/>
              <a:ea typeface="Helvetica Neue"/>
              <a:cs typeface="Helvetica Neue"/>
              <a:sym typeface="Helvetica Neue"/>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5"/>
          <p:cNvSpPr txBox="1"/>
          <p:nvPr/>
        </p:nvSpPr>
        <p:spPr>
          <a:xfrm>
            <a:off x="251600" y="236675"/>
            <a:ext cx="8195400" cy="60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2400">
                <a:solidFill>
                  <a:srgbClr val="000000"/>
                </a:solidFill>
                <a:latin typeface="Helvetica Neue"/>
                <a:ea typeface="Helvetica Neue"/>
                <a:cs typeface="Helvetica Neue"/>
                <a:sym typeface="Helvetica Neue"/>
              </a:rPr>
              <a:t>5. Embedded Scaffolding  </a:t>
            </a:r>
            <a:endParaRPr b="1" sz="2400">
              <a:solidFill>
                <a:srgbClr val="000000"/>
              </a:solidFill>
              <a:latin typeface="Helvetica Neue"/>
              <a:ea typeface="Helvetica Neue"/>
              <a:cs typeface="Helvetica Neue"/>
              <a:sym typeface="Helvetica Neue"/>
            </a:endParaRPr>
          </a:p>
        </p:txBody>
      </p:sp>
      <p:pic>
        <p:nvPicPr>
          <p:cNvPr id="410" name="Google Shape;410;p55"/>
          <p:cNvPicPr preferRelativeResize="0"/>
          <p:nvPr/>
        </p:nvPicPr>
        <p:blipFill>
          <a:blip r:embed="rId3">
            <a:alphaModFix/>
          </a:blip>
          <a:stretch>
            <a:fillRect/>
          </a:stretch>
        </p:blipFill>
        <p:spPr>
          <a:xfrm>
            <a:off x="347300" y="793700"/>
            <a:ext cx="5922100" cy="1068650"/>
          </a:xfrm>
          <a:prstGeom prst="rect">
            <a:avLst/>
          </a:prstGeom>
          <a:noFill/>
          <a:ln>
            <a:noFill/>
          </a:ln>
        </p:spPr>
      </p:pic>
      <p:pic>
        <p:nvPicPr>
          <p:cNvPr id="411" name="Google Shape;411;p55"/>
          <p:cNvPicPr preferRelativeResize="0"/>
          <p:nvPr/>
        </p:nvPicPr>
        <p:blipFill>
          <a:blip r:embed="rId4">
            <a:alphaModFix/>
          </a:blip>
          <a:stretch>
            <a:fillRect/>
          </a:stretch>
        </p:blipFill>
        <p:spPr>
          <a:xfrm>
            <a:off x="347300" y="2041300"/>
            <a:ext cx="3130925" cy="2549124"/>
          </a:xfrm>
          <a:prstGeom prst="rect">
            <a:avLst/>
          </a:prstGeom>
          <a:noFill/>
          <a:ln>
            <a:noFill/>
          </a:ln>
        </p:spPr>
      </p:pic>
      <p:graphicFrame>
        <p:nvGraphicFramePr>
          <p:cNvPr id="412" name="Google Shape;412;p55"/>
          <p:cNvGraphicFramePr/>
          <p:nvPr/>
        </p:nvGraphicFramePr>
        <p:xfrm>
          <a:off x="3728525" y="2614888"/>
          <a:ext cx="3000000" cy="3000000"/>
        </p:xfrm>
        <a:graphic>
          <a:graphicData uri="http://schemas.openxmlformats.org/drawingml/2006/table">
            <a:tbl>
              <a:tblPr>
                <a:noFill/>
                <a:tableStyleId>{4125C61F-4568-41CF-9EC9-C2F647172EEC}</a:tableStyleId>
              </a:tblPr>
              <a:tblGrid>
                <a:gridCol w="1707975"/>
                <a:gridCol w="1707975"/>
                <a:gridCol w="1707975"/>
              </a:tblGrid>
              <a:tr h="381000">
                <a:tc>
                  <a:txBody>
                    <a:bodyPr/>
                    <a:lstStyle/>
                    <a:p>
                      <a:pPr indent="0" lvl="0" marL="0" rtl="0" algn="l">
                        <a:spcBef>
                          <a:spcPts val="0"/>
                        </a:spcBef>
                        <a:spcAft>
                          <a:spcPts val="0"/>
                        </a:spcAft>
                        <a:buNone/>
                      </a:pPr>
                      <a:r>
                        <a:rPr lang="en"/>
                        <a:t>Object</a:t>
                      </a:r>
                      <a:endParaRPr/>
                    </a:p>
                  </a:txBody>
                  <a:tcPr marT="91425" marB="91425" marR="91425" marL="91425">
                    <a:solidFill>
                      <a:srgbClr val="EEEEEE"/>
                    </a:solidFill>
                  </a:tcPr>
                </a:tc>
                <a:tc>
                  <a:txBody>
                    <a:bodyPr/>
                    <a:lstStyle/>
                    <a:p>
                      <a:pPr indent="0" lvl="0" marL="0" rtl="0" algn="l">
                        <a:spcBef>
                          <a:spcPts val="0"/>
                        </a:spcBef>
                        <a:spcAft>
                          <a:spcPts val="0"/>
                        </a:spcAft>
                        <a:buNone/>
                      </a:pPr>
                      <a:r>
                        <a:rPr lang="en"/>
                        <a:t>Action</a:t>
                      </a:r>
                      <a:endParaRPr/>
                    </a:p>
                  </a:txBody>
                  <a:tcPr marT="91425" marB="91425" marR="91425" marL="91425">
                    <a:solidFill>
                      <a:srgbClr val="EEEEEE"/>
                    </a:solidFill>
                  </a:tcPr>
                </a:tc>
                <a:tc>
                  <a:txBody>
                    <a:bodyPr/>
                    <a:lstStyle/>
                    <a:p>
                      <a:pPr indent="0" lvl="0" marL="0" rtl="0" algn="l">
                        <a:spcBef>
                          <a:spcPts val="0"/>
                        </a:spcBef>
                        <a:spcAft>
                          <a:spcPts val="0"/>
                        </a:spcAft>
                        <a:buNone/>
                      </a:pPr>
                      <a:r>
                        <a:rPr lang="en"/>
                        <a:t>Context</a:t>
                      </a:r>
                      <a:endParaRPr/>
                    </a:p>
                  </a:txBody>
                  <a:tcPr marT="91425" marB="91425" marR="91425" marL="91425">
                    <a:solidFill>
                      <a:srgbClr val="EEEEEE"/>
                    </a:solidFill>
                  </a:tcPr>
                </a:tc>
              </a:tr>
              <a:tr h="381000">
                <a:tc>
                  <a:txBody>
                    <a:bodyPr/>
                    <a:lstStyle/>
                    <a:p>
                      <a:pPr indent="0" lvl="0" marL="0" rtl="0" algn="l">
                        <a:spcBef>
                          <a:spcPts val="0"/>
                        </a:spcBef>
                        <a:spcAft>
                          <a:spcPts val="0"/>
                        </a:spcAft>
                        <a:buNone/>
                      </a:pPr>
                      <a:r>
                        <a:rPr lang="en"/>
                        <a:t>A dog</a:t>
                      </a:r>
                      <a:endParaRPr/>
                    </a:p>
                  </a:txBody>
                  <a:tcPr marT="91425" marB="91425" marR="91425" marL="91425"/>
                </a:tc>
                <a:tc>
                  <a:txBody>
                    <a:bodyPr/>
                    <a:lstStyle/>
                    <a:p>
                      <a:pPr indent="0" lvl="0" marL="0" rtl="0" algn="l">
                        <a:spcBef>
                          <a:spcPts val="0"/>
                        </a:spcBef>
                        <a:spcAft>
                          <a:spcPts val="0"/>
                        </a:spcAft>
                        <a:buNone/>
                      </a:pPr>
                      <a:r>
                        <a:rPr lang="en"/>
                        <a:t>sitting</a:t>
                      </a:r>
                      <a:endParaRPr/>
                    </a:p>
                  </a:txBody>
                  <a:tcPr marT="91425" marB="91425" marR="91425" marL="91425"/>
                </a:tc>
                <a:tc>
                  <a:txBody>
                    <a:bodyPr/>
                    <a:lstStyle/>
                    <a:p>
                      <a:pPr indent="0" lvl="0" marL="0" rtl="0" algn="l">
                        <a:spcBef>
                          <a:spcPts val="0"/>
                        </a:spcBef>
                        <a:spcAft>
                          <a:spcPts val="0"/>
                        </a:spcAft>
                        <a:buNone/>
                      </a:pPr>
                      <a:r>
                        <a:rPr lang="en"/>
                        <a:t>in fall leaves</a:t>
                      </a:r>
                      <a:endParaRPr/>
                    </a:p>
                  </a:txBody>
                  <a:tcPr marT="91425" marB="91425" marR="91425" marL="91425"/>
                </a:tc>
              </a:tr>
              <a:tr h="381000">
                <a:tc>
                  <a:txBody>
                    <a:bodyPr/>
                    <a:lstStyle/>
                    <a:p>
                      <a:pPr indent="0" lvl="0" marL="0" rtl="0" algn="l">
                        <a:spcBef>
                          <a:spcPts val="0"/>
                        </a:spcBef>
                        <a:spcAft>
                          <a:spcPts val="0"/>
                        </a:spcAft>
                        <a:buNone/>
                      </a:pPr>
                      <a:r>
                        <a:rPr lang="en"/>
                        <a:t>A light brown pitbull dog breed</a:t>
                      </a:r>
                      <a:endParaRPr/>
                    </a:p>
                  </a:txBody>
                  <a:tcPr marT="91425" marB="91425" marR="91425" marL="91425"/>
                </a:tc>
                <a:tc>
                  <a:txBody>
                    <a:bodyPr/>
                    <a:lstStyle/>
                    <a:p>
                      <a:pPr indent="0" lvl="0" marL="0" rtl="0" algn="l">
                        <a:spcBef>
                          <a:spcPts val="0"/>
                        </a:spcBef>
                        <a:spcAft>
                          <a:spcPts val="0"/>
                        </a:spcAft>
                        <a:buNone/>
                      </a:pPr>
                      <a:r>
                        <a:rPr lang="en"/>
                        <a:t>sitting</a:t>
                      </a:r>
                      <a:endParaRPr/>
                    </a:p>
                  </a:txBody>
                  <a:tcPr marT="91425" marB="91425" marR="91425" marL="91425"/>
                </a:tc>
                <a:tc>
                  <a:txBody>
                    <a:bodyPr/>
                    <a:lstStyle/>
                    <a:p>
                      <a:pPr indent="0" lvl="0" marL="0" rtl="0" algn="l">
                        <a:spcBef>
                          <a:spcPts val="0"/>
                        </a:spcBef>
                        <a:spcAft>
                          <a:spcPts val="0"/>
                        </a:spcAft>
                        <a:buNone/>
                      </a:pPr>
                      <a:r>
                        <a:rPr lang="en"/>
                        <a:t>in a field of golden, autumn leaves</a:t>
                      </a:r>
                      <a:endParaRPr/>
                    </a:p>
                  </a:txBody>
                  <a:tcPr marT="91425" marB="91425" marR="91425" marL="91425"/>
                </a:tc>
              </a:tr>
            </a:tbl>
          </a:graphicData>
        </a:graphic>
      </p:graphicFrame>
      <p:sp>
        <p:nvSpPr>
          <p:cNvPr id="413" name="Google Shape;413;p55"/>
          <p:cNvSpPr txBox="1"/>
          <p:nvPr/>
        </p:nvSpPr>
        <p:spPr>
          <a:xfrm>
            <a:off x="1939500" y="4590425"/>
            <a:ext cx="5265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595959"/>
                </a:solidFill>
                <a:latin typeface="Helvetica Neue"/>
                <a:ea typeface="Helvetica Neue"/>
                <a:cs typeface="Helvetica Neue"/>
                <a:sym typeface="Helvetica Neue"/>
              </a:rPr>
              <a:t>Source: https://uxdesign.cc/how-to-write-an-image-description-2f30d3bf5546</a:t>
            </a:r>
            <a:endParaRPr sz="1000">
              <a:solidFill>
                <a:srgbClr val="595959"/>
              </a:solidFill>
              <a:latin typeface="Helvetica Neue"/>
              <a:ea typeface="Helvetica Neue"/>
              <a:cs typeface="Helvetica Neue"/>
              <a:sym typeface="Helvetica Neue"/>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56"/>
          <p:cNvPicPr preferRelativeResize="0"/>
          <p:nvPr/>
        </p:nvPicPr>
        <p:blipFill>
          <a:blip r:embed="rId3">
            <a:alphaModFix/>
          </a:blip>
          <a:stretch>
            <a:fillRect/>
          </a:stretch>
        </p:blipFill>
        <p:spPr>
          <a:xfrm>
            <a:off x="2846225" y="428850"/>
            <a:ext cx="6019800" cy="3200400"/>
          </a:xfrm>
          <a:prstGeom prst="rect">
            <a:avLst/>
          </a:prstGeom>
          <a:noFill/>
          <a:ln>
            <a:noFill/>
          </a:ln>
          <a:effectLst>
            <a:outerShdw blurRad="57150" rotWithShape="0" algn="bl" dir="5400000" dist="19050">
              <a:srgbClr val="000000">
                <a:alpha val="50000"/>
              </a:srgbClr>
            </a:outerShdw>
          </a:effectLst>
        </p:spPr>
      </p:pic>
      <p:pic>
        <p:nvPicPr>
          <p:cNvPr id="419" name="Google Shape;419;p56"/>
          <p:cNvPicPr preferRelativeResize="0"/>
          <p:nvPr/>
        </p:nvPicPr>
        <p:blipFill>
          <a:blip r:embed="rId4">
            <a:alphaModFix/>
          </a:blip>
          <a:stretch>
            <a:fillRect/>
          </a:stretch>
        </p:blipFill>
        <p:spPr>
          <a:xfrm>
            <a:off x="293650" y="428838"/>
            <a:ext cx="2076450" cy="1762125"/>
          </a:xfrm>
          <a:prstGeom prst="rect">
            <a:avLst/>
          </a:prstGeom>
          <a:noFill/>
          <a:ln>
            <a:noFill/>
          </a:ln>
          <a:effectLst>
            <a:outerShdw blurRad="57150" rotWithShape="0" algn="bl" dir="5400000" dist="19050">
              <a:srgbClr val="000000">
                <a:alpha val="50000"/>
              </a:srgbClr>
            </a:outerShdw>
          </a:effectLst>
        </p:spPr>
      </p:pic>
      <p:pic>
        <p:nvPicPr>
          <p:cNvPr id="420" name="Google Shape;420;p56"/>
          <p:cNvPicPr preferRelativeResize="0"/>
          <p:nvPr/>
        </p:nvPicPr>
        <p:blipFill>
          <a:blip r:embed="rId5">
            <a:alphaModFix/>
          </a:blip>
          <a:stretch>
            <a:fillRect/>
          </a:stretch>
        </p:blipFill>
        <p:spPr>
          <a:xfrm>
            <a:off x="2846213" y="186747"/>
            <a:ext cx="5419475" cy="4956751"/>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57"/>
          <p:cNvPicPr preferRelativeResize="0"/>
          <p:nvPr/>
        </p:nvPicPr>
        <p:blipFill>
          <a:blip r:embed="rId3">
            <a:alphaModFix/>
          </a:blip>
          <a:stretch>
            <a:fillRect/>
          </a:stretch>
        </p:blipFill>
        <p:spPr>
          <a:xfrm>
            <a:off x="220050" y="-75225"/>
            <a:ext cx="952500" cy="5143500"/>
          </a:xfrm>
          <a:prstGeom prst="rect">
            <a:avLst/>
          </a:prstGeom>
          <a:noFill/>
          <a:ln>
            <a:noFill/>
          </a:ln>
        </p:spPr>
      </p:pic>
      <p:sp>
        <p:nvSpPr>
          <p:cNvPr id="426" name="Google Shape;426;p57"/>
          <p:cNvSpPr txBox="1"/>
          <p:nvPr/>
        </p:nvSpPr>
        <p:spPr>
          <a:xfrm>
            <a:off x="1371850" y="1218438"/>
            <a:ext cx="50682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00000"/>
                </a:solidFill>
                <a:latin typeface="Helvetica Neue"/>
                <a:ea typeface="Helvetica Neue"/>
                <a:cs typeface="Helvetica Neue"/>
                <a:sym typeface="Helvetica Neue"/>
              </a:rPr>
              <a:t>“Moving forward after the pandemic will not simply be a matter of more hours of rote work and frantically making up for lost time that we can’t really get back. </a:t>
            </a:r>
            <a:endParaRPr b="1"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b="1"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b="1" lang="en" sz="1800">
                <a:solidFill>
                  <a:srgbClr val="000000"/>
                </a:solidFill>
                <a:latin typeface="Helvetica Neue"/>
                <a:ea typeface="Helvetica Neue"/>
                <a:cs typeface="Helvetica Neue"/>
                <a:sym typeface="Helvetica Neue"/>
              </a:rPr>
              <a:t>It will be a group project.”</a:t>
            </a:r>
            <a:endParaRPr b="1"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b="1"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b="1"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rPr b="1" lang="en" sz="1800">
                <a:solidFill>
                  <a:srgbClr val="000000"/>
                </a:solidFill>
                <a:latin typeface="Helvetica Neue"/>
                <a:ea typeface="Helvetica Neue"/>
                <a:cs typeface="Helvetica Neue"/>
                <a:sym typeface="Helvetica Neue"/>
              </a:rPr>
              <a:t>G. Gabrielle Starr</a:t>
            </a:r>
            <a:endParaRPr b="1" sz="1800">
              <a:solidFill>
                <a:srgbClr val="000000"/>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rgbClr val="595959"/>
              </a:solidFill>
              <a:latin typeface="Helvetica Neue"/>
              <a:ea typeface="Helvetica Neue"/>
              <a:cs typeface="Helvetica Neue"/>
              <a:sym typeface="Helvetica Neue"/>
            </a:endParaRPr>
          </a:p>
        </p:txBody>
      </p:sp>
      <p:pic>
        <p:nvPicPr>
          <p:cNvPr descr="Headshot of Pomona College President, G. Gabriella Starr (who wears red-rimmed glassses)" id="427" name="Google Shape;427;p57"/>
          <p:cNvPicPr preferRelativeResize="0"/>
          <p:nvPr/>
        </p:nvPicPr>
        <p:blipFill>
          <a:blip r:embed="rId4">
            <a:alphaModFix/>
          </a:blip>
          <a:stretch>
            <a:fillRect/>
          </a:stretch>
        </p:blipFill>
        <p:spPr>
          <a:xfrm>
            <a:off x="6519375" y="1232700"/>
            <a:ext cx="2219125" cy="1834700"/>
          </a:xfrm>
          <a:prstGeom prst="rect">
            <a:avLst/>
          </a:prstGeom>
          <a:noFill/>
          <a:ln>
            <a:noFill/>
          </a:ln>
        </p:spPr>
      </p:pic>
      <p:sp>
        <p:nvSpPr>
          <p:cNvPr id="428" name="Google Shape;428;p57"/>
          <p:cNvSpPr txBox="1"/>
          <p:nvPr/>
        </p:nvSpPr>
        <p:spPr>
          <a:xfrm>
            <a:off x="220050" y="4474200"/>
            <a:ext cx="88287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rgbClr val="1A1A1A"/>
                </a:solidFill>
                <a:latin typeface="Helvetica Neue"/>
                <a:ea typeface="Helvetica Neue"/>
                <a:cs typeface="Helvetica Neue"/>
                <a:sym typeface="Helvetica Neue"/>
              </a:rPr>
              <a:t>Sources: </a:t>
            </a:r>
            <a:r>
              <a:rPr lang="en" sz="1000" u="sng">
                <a:solidFill>
                  <a:srgbClr val="191919"/>
                </a:solidFill>
                <a:latin typeface="Helvetica Neue"/>
                <a:ea typeface="Helvetica Neue"/>
                <a:cs typeface="Helvetica Neue"/>
                <a:sym typeface="Helvetica Neue"/>
                <a:hlinkClick r:id="rId5">
                  <a:extLst>
                    <a:ext uri="{A12FA001-AC4F-418D-AE19-62706E023703}">
                      <ahyp:hlinkClr val="tx"/>
                    </a:ext>
                  </a:extLst>
                </a:hlinkClick>
              </a:rPr>
              <a:t>how-recover-pandemic-learning-loss-</a:t>
            </a:r>
            <a:r>
              <a:rPr lang="en" sz="1000" u="sng">
                <a:solidFill>
                  <a:srgbClr val="191919"/>
                </a:solidFill>
                <a:latin typeface="Helvetica Neue"/>
                <a:ea typeface="Helvetica Neue"/>
                <a:cs typeface="Helvetica Neue"/>
                <a:sym typeface="Helvetica Neue"/>
                <a:hlinkClick r:id="rId6">
                  <a:extLst>
                    <a:ext uri="{A12FA001-AC4F-418D-AE19-62706E023703}">
                      <ahyp:hlinkClr val="tx"/>
                    </a:ext>
                  </a:extLst>
                </a:hlinkClick>
              </a:rPr>
              <a:t>opinion</a:t>
            </a:r>
            <a:r>
              <a:rPr lang="en" sz="1000" u="sng">
                <a:solidFill>
                  <a:srgbClr val="191919"/>
                </a:solidFill>
                <a:latin typeface="Helvetica Neue"/>
                <a:ea typeface="Helvetica Neue"/>
                <a:cs typeface="Helvetica Neue"/>
                <a:sym typeface="Helvetica Neue"/>
                <a:hlinkClick r:id="rId7">
                  <a:extLst>
                    <a:ext uri="{A12FA001-AC4F-418D-AE19-62706E023703}">
                      <ahyp:hlinkClr val="tx"/>
                    </a:ext>
                  </a:extLst>
                </a:hlinkClick>
              </a:rPr>
              <a:t> </a:t>
            </a:r>
            <a:endParaRPr sz="1000">
              <a:solidFill>
                <a:srgbClr val="595959"/>
              </a:solidFill>
              <a:latin typeface="Helvetica Neue"/>
              <a:ea typeface="Helvetica Neue"/>
              <a:cs typeface="Helvetica Neue"/>
              <a:sym typeface="Helvetica Neue"/>
            </a:endParaRPr>
          </a:p>
        </p:txBody>
      </p:sp>
      <p:sp>
        <p:nvSpPr>
          <p:cNvPr id="429" name="Google Shape;429;p57"/>
          <p:cNvSpPr txBox="1"/>
          <p:nvPr/>
        </p:nvSpPr>
        <p:spPr>
          <a:xfrm>
            <a:off x="1172550" y="312875"/>
            <a:ext cx="7274400" cy="60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Helvetica Neue"/>
                <a:ea typeface="Helvetica Neue"/>
                <a:cs typeface="Helvetica Neue"/>
                <a:sym typeface="Helvetica Neue"/>
              </a:rPr>
              <a:t>Closing Quotation </a:t>
            </a:r>
            <a:endParaRPr b="1" sz="2400">
              <a:solidFill>
                <a:srgbClr val="000000"/>
              </a:solidFill>
              <a:latin typeface="Helvetica Neue"/>
              <a:ea typeface="Helvetica Neue"/>
              <a:cs typeface="Helvetica Neue"/>
              <a:sym typeface="Helvetica Neue"/>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8"/>
          <p:cNvSpPr txBox="1"/>
          <p:nvPr>
            <p:ph type="title"/>
          </p:nvPr>
        </p:nvSpPr>
        <p:spPr>
          <a:xfrm>
            <a:off x="426725" y="450275"/>
            <a:ext cx="4869300" cy="4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rPr>
              <a:t>New learners, new challenges, </a:t>
            </a:r>
            <a:endParaRPr sz="2800">
              <a:solidFill>
                <a:schemeClr val="dk1"/>
              </a:solidFill>
            </a:endParaRPr>
          </a:p>
          <a:p>
            <a:pPr indent="0" lvl="0" marL="0" rtl="0" algn="l">
              <a:spcBef>
                <a:spcPts val="0"/>
              </a:spcBef>
              <a:spcAft>
                <a:spcPts val="0"/>
              </a:spcAft>
              <a:buClr>
                <a:schemeClr val="dk1"/>
              </a:buClr>
              <a:buSzPts val="1100"/>
              <a:buFont typeface="Arial"/>
              <a:buNone/>
            </a:pPr>
            <a:r>
              <a:rPr lang="en" sz="2800">
                <a:solidFill>
                  <a:schemeClr val="dk1"/>
                </a:solidFill>
              </a:rPr>
              <a:t>and new opportunities: </a:t>
            </a:r>
            <a:endParaRPr sz="28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Accessibility and Universal Design in post-pandemic professional education</a:t>
            </a:r>
            <a:endParaRPr sz="1000"/>
          </a:p>
        </p:txBody>
      </p:sp>
      <p:sp>
        <p:nvSpPr>
          <p:cNvPr id="435" name="Google Shape;435;p58"/>
          <p:cNvSpPr txBox="1"/>
          <p:nvPr>
            <p:ph idx="1" type="body"/>
          </p:nvPr>
        </p:nvSpPr>
        <p:spPr>
          <a:xfrm>
            <a:off x="426725" y="3200400"/>
            <a:ext cx="4869300" cy="17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Kem Saichaie, PhD</a:t>
            </a:r>
            <a:endParaRPr sz="1000"/>
          </a:p>
          <a:p>
            <a:pPr indent="0" lvl="0" marL="0" rtl="0" algn="l">
              <a:spcBef>
                <a:spcPts val="0"/>
              </a:spcBef>
              <a:spcAft>
                <a:spcPts val="0"/>
              </a:spcAft>
              <a:buNone/>
            </a:pPr>
            <a:r>
              <a:rPr lang="en" sz="1000"/>
              <a:t>Inaugural Executive Director</a:t>
            </a:r>
            <a:endParaRPr sz="1000"/>
          </a:p>
          <a:p>
            <a:pPr indent="0" lvl="0" marL="0" rtl="0" algn="l">
              <a:spcBef>
                <a:spcPts val="0"/>
              </a:spcBef>
              <a:spcAft>
                <a:spcPts val="0"/>
              </a:spcAft>
              <a:buNone/>
            </a:pPr>
            <a:r>
              <a:rPr lang="en" sz="1000"/>
              <a:t>UCLA Teaching and Learning Center</a:t>
            </a:r>
            <a:endParaRPr sz="1000"/>
          </a:p>
          <a:p>
            <a:pPr indent="0" lvl="0" marL="0" rtl="0" algn="l">
              <a:spcBef>
                <a:spcPts val="0"/>
              </a:spcBef>
              <a:spcAft>
                <a:spcPts val="0"/>
              </a:spcAft>
              <a:buNone/>
            </a:pPr>
            <a:r>
              <a:rPr lang="en" sz="1000"/>
              <a:t>ksaichaie@teaching.ucla.edu</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January 14, 2026</a:t>
            </a:r>
            <a:endParaRPr sz="1000"/>
          </a:p>
        </p:txBody>
      </p:sp>
      <p:sp>
        <p:nvSpPr>
          <p:cNvPr id="436" name="Google Shape;436;p58"/>
          <p:cNvSpPr txBox="1"/>
          <p:nvPr/>
        </p:nvSpPr>
        <p:spPr>
          <a:xfrm>
            <a:off x="379100" y="2437575"/>
            <a:ext cx="3000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solidFill>
                  <a:srgbClr val="0000FF"/>
                </a:solidFill>
                <a:latin typeface="Helvetica Neue"/>
                <a:ea typeface="Helvetica Neue"/>
                <a:cs typeface="Helvetica Neue"/>
                <a:sym typeface="Helvetica Neue"/>
              </a:rPr>
              <a:t>Thank You! </a:t>
            </a:r>
            <a:endParaRPr b="1" sz="3200">
              <a:solidFill>
                <a:srgbClr val="0000FF"/>
              </a:solidFill>
              <a:latin typeface="Helvetica Neue"/>
              <a:ea typeface="Helvetica Neue"/>
              <a:cs typeface="Helvetica Neue"/>
              <a:sym typeface="Helvetica Neue"/>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9"/>
          <p:cNvSpPr txBox="1"/>
          <p:nvPr>
            <p:ph type="title"/>
          </p:nvPr>
        </p:nvSpPr>
        <p:spPr>
          <a:xfrm>
            <a:off x="274325" y="374075"/>
            <a:ext cx="8273400" cy="4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9"/>
          <p:cNvSpPr txBox="1"/>
          <p:nvPr>
            <p:ph idx="1" type="body"/>
          </p:nvPr>
        </p:nvSpPr>
        <p:spPr>
          <a:xfrm>
            <a:off x="274325" y="922825"/>
            <a:ext cx="8273400" cy="374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0"/>
          <p:cNvSpPr txBox="1"/>
          <p:nvPr>
            <p:ph type="title"/>
          </p:nvPr>
        </p:nvSpPr>
        <p:spPr>
          <a:xfrm>
            <a:off x="4145175" y="374075"/>
            <a:ext cx="4801500" cy="4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0"/>
          <p:cNvSpPr txBox="1"/>
          <p:nvPr>
            <p:ph idx="1" type="body"/>
          </p:nvPr>
        </p:nvSpPr>
        <p:spPr>
          <a:xfrm>
            <a:off x="4145175" y="922825"/>
            <a:ext cx="4801500" cy="374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1"/>
          <p:cNvSpPr txBox="1"/>
          <p:nvPr>
            <p:ph type="title"/>
          </p:nvPr>
        </p:nvSpPr>
        <p:spPr>
          <a:xfrm>
            <a:off x="475350" y="374075"/>
            <a:ext cx="8471400" cy="4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1"/>
          <p:cNvSpPr txBox="1"/>
          <p:nvPr>
            <p:ph idx="1" type="body"/>
          </p:nvPr>
        </p:nvSpPr>
        <p:spPr>
          <a:xfrm>
            <a:off x="475350" y="922825"/>
            <a:ext cx="8471400" cy="374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LC General Slide Deck 2026">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