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Helvetica Neue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HelveticaNeueLight-regular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55263e8192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55263e8192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77769d6d0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77769d6d0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a624117b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a624117b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58a30c8c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58a30c8c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from previous presentation - https://docs.google.com/presentation/d/1f9tm8CWe5MMszOZtDeLbyc8Z-ahcMgYTOZ10jhUpPgo/edit?slide=id.g3bf62bc0b44_0_337#slide=id.g3bf62bc0b44_0_337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a624117b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a624117b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a624117b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a624117b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a624117b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a624117b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)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74325" y="374075"/>
            <a:ext cx="486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274325" y="922825"/>
            <a:ext cx="48693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Color)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0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○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■"/>
              <a:defRPr b="1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R1)">
  <p:cSld name="SECTION_TITLE_AND_DESCRIPTION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7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274325" y="922825"/>
            <a:ext cx="8273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Open Space Black)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Full Background)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●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○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Char char="■"/>
              <a:defRPr b="1" i="0" sz="3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)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4145175" y="374075"/>
            <a:ext cx="480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145175" y="922825"/>
            <a:ext cx="48015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ection (Title and Body) (L2)">
  <p:cSld name="SECTION_TITLE_AND_DESCRIPTION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475350" y="374075"/>
            <a:ext cx="8471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b="1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75350" y="922825"/>
            <a:ext cx="847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●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○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■"/>
              <a:defRPr b="0" i="0" sz="18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[No TLC Logo]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2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Helvetica Neue"/>
              <a:buNone/>
              <a:defRPr b="0" i="0" sz="1800" u="none" cap="none" strike="noStrik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290725" y="1942950"/>
            <a:ext cx="7472400" cy="67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and Inclusion Data</a:t>
            </a:r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290725" y="2578325"/>
            <a:ext cx="7472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available, What can be revised?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005587"/>
                </a:solidFill>
              </a:rPr>
              <a:t>What do you need? </a:t>
            </a:r>
            <a:endParaRPr sz="4500">
              <a:solidFill>
                <a:srgbClr val="00558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needs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5587"/>
                </a:solidFill>
              </a:rPr>
              <a:t>Context</a:t>
            </a:r>
            <a:endParaRPr sz="3000">
              <a:solidFill>
                <a:srgbClr val="005587"/>
              </a:solidFill>
            </a:endParaRPr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819950"/>
            <a:ext cx="8520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chemeClr val="dk1"/>
                </a:solidFill>
              </a:rPr>
              <a:t>Current survey includes </a:t>
            </a:r>
            <a:r>
              <a:rPr b="1" lang="en" sz="2500">
                <a:solidFill>
                  <a:schemeClr val="dk1"/>
                </a:solidFill>
              </a:rPr>
              <a:t>specific questions on Diversity Requirement completion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chemeClr val="dk1"/>
                </a:solidFill>
              </a:rPr>
              <a:t>Questions </a:t>
            </a:r>
            <a:r>
              <a:rPr b="1" lang="en" sz="2500">
                <a:solidFill>
                  <a:schemeClr val="dk1"/>
                </a:solidFill>
              </a:rPr>
              <a:t>active through 2025</a:t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b="1" lang="en" sz="2500">
                <a:solidFill>
                  <a:srgbClr val="005587"/>
                </a:solidFill>
              </a:rPr>
              <a:t>Paused in 2026</a:t>
            </a:r>
            <a:r>
              <a:rPr lang="en" sz="2500">
                <a:solidFill>
                  <a:schemeClr val="dk1"/>
                </a:solidFill>
              </a:rPr>
              <a:t> to align with UCLA Strategic Plan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●"/>
            </a:pPr>
            <a:r>
              <a:rPr lang="en" sz="2500">
                <a:solidFill>
                  <a:schemeClr val="dk1"/>
                </a:solidFill>
              </a:rPr>
              <a:t>Planned </a:t>
            </a:r>
            <a:r>
              <a:rPr b="1" lang="en" sz="2500">
                <a:solidFill>
                  <a:schemeClr val="accent1"/>
                </a:solidFill>
              </a:rPr>
              <a:t>relaunch in 2027</a:t>
            </a:r>
            <a:r>
              <a:rPr b="1" lang="en" sz="2500">
                <a:solidFill>
                  <a:schemeClr val="dk1"/>
                </a:solidFill>
              </a:rPr>
              <a:t> (expanded + improved)</a:t>
            </a:r>
            <a:endParaRPr sz="2500"/>
          </a:p>
        </p:txBody>
      </p:sp>
      <p:sp>
        <p:nvSpPr>
          <p:cNvPr id="65" name="Google Shape;65;p15"/>
          <p:cNvSpPr txBox="1"/>
          <p:nvPr/>
        </p:nvSpPr>
        <p:spPr>
          <a:xfrm>
            <a:off x="337213" y="892975"/>
            <a:ext cx="720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Diversity Requirement Assessment at UCLA</a:t>
            </a:r>
            <a:endParaRPr sz="15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74325" y="374075"/>
            <a:ext cx="8273400" cy="4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Diversity Requirement Question(s) (Current)</a:t>
            </a:r>
            <a:endParaRPr/>
          </a:p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274325" y="922825"/>
            <a:ext cx="8273400" cy="39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1"/>
                </a:solidFill>
              </a:rPr>
              <a:t>Did you complete your college/school diversity requirement with a course taken at UCLA?</a:t>
            </a:r>
            <a:endParaRPr b="1" sz="950">
              <a:solidFill>
                <a:schemeClr val="dk1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Yes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 [SKIP TO Q XX]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My college/ school does not have a diversity requirement [SKIP TO Q XX]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 don’t know [SKIP TO Q XX]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1"/>
                </a:solidFill>
              </a:rPr>
              <a:t>To what extent did the course(s) you completed at UCLA to fulfill the diversity requirement...</a:t>
            </a:r>
            <a:endParaRPr b="1" sz="9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005587"/>
                </a:solidFill>
              </a:rPr>
              <a:t>[RESPONSE OPTIONS: 1- Not at all, 2- Somewhat, 3- Very much]</a:t>
            </a:r>
            <a:endParaRPr b="1" sz="950">
              <a:solidFill>
                <a:srgbClr val="005587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Help you understand how policies and practices foster or inhibit diversity, equity, and inclusion across groups, communities, and societies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Support you in developing the skills necessary to work effectively with people from various backgrounds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Develop an ability to consider diverse viewpoints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Enable you to understand how your actions affect local and global communities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Motivate you to consider participating in activities that promote equity and social justice on your campus, within your community, or globally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Assist you in recognizing your own cultural norms and biases that affect your thinking and behavior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Add value to your UCLA undergraduate experience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chemeClr val="dk1"/>
                </a:solidFill>
              </a:rPr>
              <a:t>To what extent do you agree that UCLA provides a supportive environment for diversity with regard to the following social identities?</a:t>
            </a: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b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b="1" lang="en" sz="950">
                <a:solidFill>
                  <a:srgbClr val="005587"/>
                </a:solidFill>
              </a:rPr>
              <a:t>[RESPONSE OPTIONS:  1 = Strongly disagree, 2 = Disagree, 3 = Agree, 4 = Strongly agree]  </a:t>
            </a:r>
            <a:endParaRPr b="1" sz="950">
              <a:solidFill>
                <a:srgbClr val="005587"/>
              </a:solidFill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Race/ethnicity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Gender 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Socioeconomic status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Political affiliation 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Religious beliefs 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Sexual orientation 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Ability/disability</a:t>
            </a:r>
            <a:endParaRPr sz="95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2889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Helvetica Neue Light"/>
              <a:buAutoNum type="alphaLcParenR"/>
            </a:pPr>
            <a:r>
              <a:rPr lang="en" sz="95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Age</a:t>
            </a:r>
            <a:endParaRPr sz="95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5587"/>
                </a:solidFill>
              </a:rPr>
              <a:t>Current Problem</a:t>
            </a:r>
            <a:endParaRPr sz="3000">
              <a:solidFill>
                <a:srgbClr val="005587"/>
              </a:solidFill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337213" y="892975"/>
            <a:ext cx="720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Measurement Isn’t Telling the Full Story</a:t>
            </a:r>
            <a:endParaRPr sz="15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513494"/>
            <a:ext cx="8520600" cy="27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" sz="2400">
                <a:solidFill>
                  <a:schemeClr val="dk1"/>
                </a:solidFill>
              </a:rPr>
              <a:t>Shallow measurement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" sz="2400">
                <a:solidFill>
                  <a:schemeClr val="dk1"/>
                </a:solidFill>
              </a:rPr>
              <a:t>Weak Analytics</a:t>
            </a:r>
            <a:endParaRPr b="1"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400">
                <a:solidFill>
                  <a:schemeClr val="dk1"/>
                </a:solidFill>
              </a:rPr>
            </a:br>
            <a:endParaRPr b="1" sz="1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lang="en" sz="2400">
                <a:solidFill>
                  <a:schemeClr val="dk1"/>
                </a:solidFill>
              </a:rPr>
              <a:t>Limited Strategic Value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859787" y="1912059"/>
            <a:ext cx="823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3-point scale (helpfulness), 4-point agreement items + </a:t>
            </a:r>
            <a:r>
              <a:rPr b="1" lang="en" sz="1200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Items are too broad and general</a:t>
            </a:r>
            <a:endParaRPr b="1" sz="1200">
              <a:solidFill>
                <a:srgbClr val="00558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859775" y="2890539"/>
            <a:ext cx="82353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Items collapse into one construct → </a:t>
            </a:r>
            <a:r>
              <a:rPr b="1" lang="en" sz="1200">
                <a:solidFill>
                  <a:srgbClr val="00558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Different questions are measuring the same thing</a:t>
            </a:r>
            <a:br>
              <a:rPr b="1"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→</a:t>
            </a:r>
            <a:r>
              <a:rPr b="1" lang="en" sz="13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Lack of differentiation across questions</a:t>
            </a:r>
            <a:endParaRPr b="1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62000" y="4166144"/>
            <a:ext cx="7752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a </a:t>
            </a:r>
            <a:r>
              <a:rPr b="1"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campus-wide question - </a:t>
            </a:r>
            <a:r>
              <a:rPr lang="en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compare: Students who completed the requirement vs. those who did not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Limits ability to show </a:t>
            </a:r>
            <a:r>
              <a:rPr b="1" lang="en" sz="12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meaningfulness and impact</a:t>
            </a:r>
            <a:endParaRPr b="1" sz="12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Why This Matters</a:t>
            </a:r>
            <a:endParaRPr sz="3000">
              <a:solidFill>
                <a:schemeClr val="accent1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37213" y="892975"/>
            <a:ext cx="720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We’re Missing the “So What?”</a:t>
            </a:r>
            <a:endParaRPr sz="15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414125" y="1391475"/>
            <a:ext cx="8075700" cy="27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Cannot demonstrate: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Meaningfulness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Diversity Requirement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Char char="○"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Student learning or growth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Comparative impact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across groups</a:t>
            </a:r>
            <a:b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●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Limits our ability to:</a:t>
            </a:r>
            <a:endParaRPr b="1"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Support </a:t>
            </a: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 decisions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 with </a:t>
            </a: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strategic priorities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Tell a </a:t>
            </a: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compelling institutional story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1"/>
                </a:solidFill>
              </a:rPr>
              <a:t>PROPOSED DIRECTION</a:t>
            </a:r>
            <a:endParaRPr sz="3000">
              <a:solidFill>
                <a:schemeClr val="accent1"/>
              </a:solidFill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337213" y="892975"/>
            <a:ext cx="720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Shift to Specific, Impact-Driven Measurement</a:t>
            </a:r>
            <a:endParaRPr sz="150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414125" y="1391475"/>
            <a:ext cx="8075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Introduce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multidimensional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constructs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such as:</a:t>
            </a: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AutoNum type="alphaLcPeriod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Perspective-taking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AutoNum type="alphaLcPeriod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Cultural competence</a:t>
            </a: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"/>
              <a:buAutoNum type="alphaLcPeriod"/>
            </a:pP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Critical thinking on equity</a:t>
            </a:r>
            <a:b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 </a:t>
            </a: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behavioral + outcome-based items</a:t>
            </a:r>
            <a: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(not just perception)</a:t>
            </a:r>
            <a:br>
              <a:rPr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2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Expand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campus-wide survey inclusion and 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enable </a:t>
            </a:r>
            <a:r>
              <a:rPr b="1"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comparisons</a:t>
            </a:r>
            <a:r>
              <a:rPr lang="en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(i.e., took Diversity Requirement vs. did not )</a:t>
            </a:r>
            <a:endParaRPr b="1" sz="15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LC General Slide Deck 2026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